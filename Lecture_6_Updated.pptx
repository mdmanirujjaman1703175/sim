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2"/>
  </p:notesMasterIdLst>
  <p:handoutMasterIdLst>
    <p:handoutMasterId r:id="rId53"/>
  </p:handoutMasterIdLst>
  <p:sldIdLst>
    <p:sldId id="258" r:id="rId5"/>
    <p:sldId id="257" r:id="rId6"/>
    <p:sldId id="277" r:id="rId7"/>
    <p:sldId id="278" r:id="rId8"/>
    <p:sldId id="279" r:id="rId9"/>
    <p:sldId id="307" r:id="rId10"/>
    <p:sldId id="308" r:id="rId11"/>
    <p:sldId id="309" r:id="rId12"/>
    <p:sldId id="310" r:id="rId13"/>
    <p:sldId id="312" r:id="rId14"/>
    <p:sldId id="313" r:id="rId15"/>
    <p:sldId id="314" r:id="rId16"/>
    <p:sldId id="315" r:id="rId17"/>
    <p:sldId id="316" r:id="rId18"/>
    <p:sldId id="317" r:id="rId19"/>
    <p:sldId id="318" r:id="rId20"/>
    <p:sldId id="319" r:id="rId21"/>
    <p:sldId id="320" r:id="rId22"/>
    <p:sldId id="321" r:id="rId23"/>
    <p:sldId id="322"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23" r:id="rId43"/>
    <p:sldId id="300" r:id="rId44"/>
    <p:sldId id="301" r:id="rId45"/>
    <p:sldId id="302" r:id="rId46"/>
    <p:sldId id="303" r:id="rId47"/>
    <p:sldId id="304" r:id="rId48"/>
    <p:sldId id="305" r:id="rId49"/>
    <p:sldId id="306" r:id="rId50"/>
    <p:sldId id="27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D871F7-07EE-49DC-A832-4958981557A1}" v="26" dt="2026-04-11T17:35:02.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8"/>
    <p:restoredTop sz="58954" autoAdjust="0"/>
  </p:normalViewPr>
  <p:slideViewPr>
    <p:cSldViewPr snapToGrid="0">
      <p:cViewPr varScale="1">
        <p:scale>
          <a:sx n="48" d="100"/>
          <a:sy n="48" d="100"/>
        </p:scale>
        <p:origin x="2275" y="-82"/>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Foysal Abak" userId="2788f2a2-0cdc-4efa-b828-39805f068217" providerId="ADAL" clId="{FED0BBAF-948A-4634-93EB-99B934334D02}"/>
    <pc:docChg chg="undo custSel addSld delSld modSld sldOrd">
      <pc:chgData name="Fahim Foysal Abak" userId="2788f2a2-0cdc-4efa-b828-39805f068217" providerId="ADAL" clId="{FED0BBAF-948A-4634-93EB-99B934334D02}" dt="2026-04-11T17:36:09.027" v="489" actId="113"/>
      <pc:docMkLst>
        <pc:docMk/>
      </pc:docMkLst>
      <pc:sldChg chg="modSp mod">
        <pc:chgData name="Fahim Foysal Abak" userId="2788f2a2-0cdc-4efa-b828-39805f068217" providerId="ADAL" clId="{FED0BBAF-948A-4634-93EB-99B934334D02}" dt="2026-04-07T13:27:58.404" v="76" actId="20577"/>
        <pc:sldMkLst>
          <pc:docMk/>
          <pc:sldMk cId="4106496270" sldId="257"/>
        </pc:sldMkLst>
        <pc:spChg chg="mod">
          <ac:chgData name="Fahim Foysal Abak" userId="2788f2a2-0cdc-4efa-b828-39805f068217" providerId="ADAL" clId="{FED0BBAF-948A-4634-93EB-99B934334D02}" dt="2026-04-07T13:27:58.404" v="76" actId="20577"/>
          <ac:spMkLst>
            <pc:docMk/>
            <pc:sldMk cId="4106496270" sldId="257"/>
            <ac:spMk id="2" creationId="{82FB9139-68EB-3B9C-65D8-590A1ADAF1DF}"/>
          </ac:spMkLst>
        </pc:spChg>
        <pc:spChg chg="mod">
          <ac:chgData name="Fahim Foysal Abak" userId="2788f2a2-0cdc-4efa-b828-39805f068217" providerId="ADAL" clId="{FED0BBAF-948A-4634-93EB-99B934334D02}" dt="2026-04-07T13:26:22.617" v="3" actId="20577"/>
          <ac:spMkLst>
            <pc:docMk/>
            <pc:sldMk cId="4106496270" sldId="257"/>
            <ac:spMk id="3" creationId="{5ED5DBED-E96B-FF67-CE6C-2CC29F466C8B}"/>
          </ac:spMkLst>
        </pc:spChg>
      </pc:sldChg>
      <pc:sldChg chg="modSp add mod">
        <pc:chgData name="Fahim Foysal Abak" userId="2788f2a2-0cdc-4efa-b828-39805f068217" providerId="ADAL" clId="{FED0BBAF-948A-4634-93EB-99B934334D02}" dt="2026-04-07T13:28:45.265" v="92" actId="255"/>
        <pc:sldMkLst>
          <pc:docMk/>
          <pc:sldMk cId="3974109974" sldId="277"/>
        </pc:sldMkLst>
        <pc:spChg chg="mod">
          <ac:chgData name="Fahim Foysal Abak" userId="2788f2a2-0cdc-4efa-b828-39805f068217" providerId="ADAL" clId="{FED0BBAF-948A-4634-93EB-99B934334D02}" dt="2026-04-07T13:28:45.265" v="92" actId="255"/>
          <ac:spMkLst>
            <pc:docMk/>
            <pc:sldMk cId="3974109974" sldId="277"/>
            <ac:spMk id="2" creationId="{44F873FE-F0F1-2D65-5BE9-68E6ED7EB1B0}"/>
          </ac:spMkLst>
        </pc:spChg>
        <pc:spChg chg="mod">
          <ac:chgData name="Fahim Foysal Abak" userId="2788f2a2-0cdc-4efa-b828-39805f068217" providerId="ADAL" clId="{FED0BBAF-948A-4634-93EB-99B934334D02}" dt="2026-04-07T13:28:06.946" v="78"/>
          <ac:spMkLst>
            <pc:docMk/>
            <pc:sldMk cId="3974109974" sldId="277"/>
            <ac:spMk id="3" creationId="{B038D24D-18D0-C862-65DD-4BEC2D2DE4B1}"/>
          </ac:spMkLst>
        </pc:spChg>
      </pc:sldChg>
      <pc:sldChg chg="addSp delSp modSp add mod">
        <pc:chgData name="Fahim Foysal Abak" userId="2788f2a2-0cdc-4efa-b828-39805f068217" providerId="ADAL" clId="{FED0BBAF-948A-4634-93EB-99B934334D02}" dt="2026-04-07T13:30:47.774" v="104" actId="1076"/>
        <pc:sldMkLst>
          <pc:docMk/>
          <pc:sldMk cId="3037242951" sldId="278"/>
        </pc:sldMkLst>
        <pc:picChg chg="add mod">
          <ac:chgData name="Fahim Foysal Abak" userId="2788f2a2-0cdc-4efa-b828-39805f068217" providerId="ADAL" clId="{FED0BBAF-948A-4634-93EB-99B934334D02}" dt="2026-04-07T13:30:29.951" v="100" actId="1076"/>
          <ac:picMkLst>
            <pc:docMk/>
            <pc:sldMk cId="3037242951" sldId="278"/>
            <ac:picMk id="7" creationId="{4CDABD1E-295E-E62E-DD98-9F8E8E4E64B2}"/>
          </ac:picMkLst>
        </pc:picChg>
        <pc:picChg chg="add mod">
          <ac:chgData name="Fahim Foysal Abak" userId="2788f2a2-0cdc-4efa-b828-39805f068217" providerId="ADAL" clId="{FED0BBAF-948A-4634-93EB-99B934334D02}" dt="2026-04-07T13:30:47.774" v="104" actId="1076"/>
          <ac:picMkLst>
            <pc:docMk/>
            <pc:sldMk cId="3037242951" sldId="278"/>
            <ac:picMk id="9" creationId="{01CEBFAE-1B8A-CBE6-DA20-B68F9C9D8454}"/>
          </ac:picMkLst>
        </pc:picChg>
      </pc:sldChg>
      <pc:sldChg chg="addSp delSp modSp add mod">
        <pc:chgData name="Fahim Foysal Abak" userId="2788f2a2-0cdc-4efa-b828-39805f068217" providerId="ADAL" clId="{FED0BBAF-948A-4634-93EB-99B934334D02}" dt="2026-04-07T13:55:35.266" v="342" actId="1076"/>
        <pc:sldMkLst>
          <pc:docMk/>
          <pc:sldMk cId="2697728572" sldId="279"/>
        </pc:sldMkLst>
        <pc:spChg chg="mod">
          <ac:chgData name="Fahim Foysal Abak" userId="2788f2a2-0cdc-4efa-b828-39805f068217" providerId="ADAL" clId="{FED0BBAF-948A-4634-93EB-99B934334D02}" dt="2026-04-07T13:31:06.641" v="108"/>
          <ac:spMkLst>
            <pc:docMk/>
            <pc:sldMk cId="2697728572" sldId="279"/>
            <ac:spMk id="3" creationId="{B0C88852-F1BA-6F2B-5B8F-10A539FA7E9A}"/>
          </ac:spMkLst>
        </pc:spChg>
        <pc:spChg chg="add mod">
          <ac:chgData name="Fahim Foysal Abak" userId="2788f2a2-0cdc-4efa-b828-39805f068217" providerId="ADAL" clId="{FED0BBAF-948A-4634-93EB-99B934334D02}" dt="2026-04-07T13:55:35.266" v="342" actId="1076"/>
          <ac:spMkLst>
            <pc:docMk/>
            <pc:sldMk cId="2697728572" sldId="279"/>
            <ac:spMk id="4" creationId="{3AB68E1F-CAEC-8A1A-1483-0658953F15DB}"/>
          </ac:spMkLst>
        </pc:spChg>
      </pc:sldChg>
      <pc:sldChg chg="addSp delSp modSp add mod">
        <pc:chgData name="Fahim Foysal Abak" userId="2788f2a2-0cdc-4efa-b828-39805f068217" providerId="ADAL" clId="{FED0BBAF-948A-4634-93EB-99B934334D02}" dt="2026-04-07T13:33:30.870" v="148" actId="1076"/>
        <pc:sldMkLst>
          <pc:docMk/>
          <pc:sldMk cId="3314442001" sldId="280"/>
        </pc:sldMkLst>
        <pc:spChg chg="mod">
          <ac:chgData name="Fahim Foysal Abak" userId="2788f2a2-0cdc-4efa-b828-39805f068217" providerId="ADAL" clId="{FED0BBAF-948A-4634-93EB-99B934334D02}" dt="2026-04-07T13:33:10.110" v="144"/>
          <ac:spMkLst>
            <pc:docMk/>
            <pc:sldMk cId="3314442001" sldId="280"/>
            <ac:spMk id="3" creationId="{0A67D3A8-13B2-6444-6DC1-59E92C215229}"/>
          </ac:spMkLst>
        </pc:spChg>
        <pc:picChg chg="add mod">
          <ac:chgData name="Fahim Foysal Abak" userId="2788f2a2-0cdc-4efa-b828-39805f068217" providerId="ADAL" clId="{FED0BBAF-948A-4634-93EB-99B934334D02}" dt="2026-04-07T13:33:30.870" v="148" actId="1076"/>
          <ac:picMkLst>
            <pc:docMk/>
            <pc:sldMk cId="3314442001" sldId="280"/>
            <ac:picMk id="5" creationId="{5438CBB8-07A5-F9DE-7478-BAA22AA97CF4}"/>
          </ac:picMkLst>
        </pc:picChg>
      </pc:sldChg>
      <pc:sldChg chg="addSp delSp modSp add mod">
        <pc:chgData name="Fahim Foysal Abak" userId="2788f2a2-0cdc-4efa-b828-39805f068217" providerId="ADAL" clId="{FED0BBAF-948A-4634-93EB-99B934334D02}" dt="2026-04-07T13:35:12.059" v="173" actId="20577"/>
        <pc:sldMkLst>
          <pc:docMk/>
          <pc:sldMk cId="3707048841" sldId="281"/>
        </pc:sldMkLst>
        <pc:spChg chg="mod">
          <ac:chgData name="Fahim Foysal Abak" userId="2788f2a2-0cdc-4efa-b828-39805f068217" providerId="ADAL" clId="{FED0BBAF-948A-4634-93EB-99B934334D02}" dt="2026-04-07T13:33:56.734" v="150"/>
          <ac:spMkLst>
            <pc:docMk/>
            <pc:sldMk cId="3707048841" sldId="281"/>
            <ac:spMk id="3" creationId="{CC8E574A-8D26-02A1-C883-4B01315A0BB1}"/>
          </ac:spMkLst>
        </pc:spChg>
        <pc:spChg chg="add mod">
          <ac:chgData name="Fahim Foysal Abak" userId="2788f2a2-0cdc-4efa-b828-39805f068217" providerId="ADAL" clId="{FED0BBAF-948A-4634-93EB-99B934334D02}" dt="2026-04-07T13:35:12.059" v="173" actId="20577"/>
          <ac:spMkLst>
            <pc:docMk/>
            <pc:sldMk cId="3707048841" sldId="281"/>
            <ac:spMk id="4" creationId="{833D99BF-C61D-3751-272E-1D61F2315D42}"/>
          </ac:spMkLst>
        </pc:spChg>
      </pc:sldChg>
      <pc:sldChg chg="modSp add mod">
        <pc:chgData name="Fahim Foysal Abak" userId="2788f2a2-0cdc-4efa-b828-39805f068217" providerId="ADAL" clId="{FED0BBAF-948A-4634-93EB-99B934334D02}" dt="2026-04-07T13:37:04.453" v="188" actId="20577"/>
        <pc:sldMkLst>
          <pc:docMk/>
          <pc:sldMk cId="3099492805" sldId="282"/>
        </pc:sldMkLst>
        <pc:spChg chg="mod">
          <ac:chgData name="Fahim Foysal Abak" userId="2788f2a2-0cdc-4efa-b828-39805f068217" providerId="ADAL" clId="{FED0BBAF-948A-4634-93EB-99B934334D02}" dt="2026-04-07T13:36:06.798" v="175"/>
          <ac:spMkLst>
            <pc:docMk/>
            <pc:sldMk cId="3099492805" sldId="282"/>
            <ac:spMk id="3" creationId="{FF284FFF-D5A6-7CA8-245F-E2F1A1ABB286}"/>
          </ac:spMkLst>
        </pc:spChg>
        <pc:spChg chg="mod">
          <ac:chgData name="Fahim Foysal Abak" userId="2788f2a2-0cdc-4efa-b828-39805f068217" providerId="ADAL" clId="{FED0BBAF-948A-4634-93EB-99B934334D02}" dt="2026-04-07T13:37:04.453" v="188" actId="20577"/>
          <ac:spMkLst>
            <pc:docMk/>
            <pc:sldMk cId="3099492805" sldId="282"/>
            <ac:spMk id="4" creationId="{3F6C0A27-5323-D488-436A-3390D1C59399}"/>
          </ac:spMkLst>
        </pc:spChg>
      </pc:sldChg>
      <pc:sldChg chg="addSp delSp modSp add mod">
        <pc:chgData name="Fahim Foysal Abak" userId="2788f2a2-0cdc-4efa-b828-39805f068217" providerId="ADAL" clId="{FED0BBAF-948A-4634-93EB-99B934334D02}" dt="2026-04-07T13:39:02.470" v="200" actId="1076"/>
        <pc:sldMkLst>
          <pc:docMk/>
          <pc:sldMk cId="2974138611" sldId="283"/>
        </pc:sldMkLst>
        <pc:spChg chg="mod">
          <ac:chgData name="Fahim Foysal Abak" userId="2788f2a2-0cdc-4efa-b828-39805f068217" providerId="ADAL" clId="{FED0BBAF-948A-4634-93EB-99B934334D02}" dt="2026-04-07T13:37:19.765" v="190"/>
          <ac:spMkLst>
            <pc:docMk/>
            <pc:sldMk cId="2974138611" sldId="283"/>
            <ac:spMk id="3" creationId="{720CAF39-EBC0-F1E1-3F86-8AF9566EAC1E}"/>
          </ac:spMkLst>
        </pc:spChg>
        <pc:spChg chg="add mod">
          <ac:chgData name="Fahim Foysal Abak" userId="2788f2a2-0cdc-4efa-b828-39805f068217" providerId="ADAL" clId="{FED0BBAF-948A-4634-93EB-99B934334D02}" dt="2026-04-07T13:39:02.470" v="200" actId="1076"/>
          <ac:spMkLst>
            <pc:docMk/>
            <pc:sldMk cId="2974138611" sldId="283"/>
            <ac:spMk id="5" creationId="{BCF1FF8F-90B4-9255-FF2B-F54DC8474F84}"/>
          </ac:spMkLst>
        </pc:spChg>
        <pc:picChg chg="add mod">
          <ac:chgData name="Fahim Foysal Abak" userId="2788f2a2-0cdc-4efa-b828-39805f068217" providerId="ADAL" clId="{FED0BBAF-948A-4634-93EB-99B934334D02}" dt="2026-04-07T13:39:02.470" v="200" actId="1076"/>
          <ac:picMkLst>
            <pc:docMk/>
            <pc:sldMk cId="2974138611" sldId="283"/>
            <ac:picMk id="7" creationId="{9CE9A2FA-181F-0326-41AE-20FB56A2FD20}"/>
          </ac:picMkLst>
        </pc:picChg>
      </pc:sldChg>
      <pc:sldChg chg="delSp modSp add mod">
        <pc:chgData name="Fahim Foysal Abak" userId="2788f2a2-0cdc-4efa-b828-39805f068217" providerId="ADAL" clId="{FED0BBAF-948A-4634-93EB-99B934334D02}" dt="2026-04-07T13:40:01.440" v="213" actId="1076"/>
        <pc:sldMkLst>
          <pc:docMk/>
          <pc:sldMk cId="158732068" sldId="284"/>
        </pc:sldMkLst>
        <pc:spChg chg="mod">
          <ac:chgData name="Fahim Foysal Abak" userId="2788f2a2-0cdc-4efa-b828-39805f068217" providerId="ADAL" clId="{FED0BBAF-948A-4634-93EB-99B934334D02}" dt="2026-04-07T13:39:16.218" v="202"/>
          <ac:spMkLst>
            <pc:docMk/>
            <pc:sldMk cId="158732068" sldId="284"/>
            <ac:spMk id="3" creationId="{6E054785-8BB5-6A83-C94E-EDD3E479A911}"/>
          </ac:spMkLst>
        </pc:spChg>
        <pc:spChg chg="mod">
          <ac:chgData name="Fahim Foysal Abak" userId="2788f2a2-0cdc-4efa-b828-39805f068217" providerId="ADAL" clId="{FED0BBAF-948A-4634-93EB-99B934334D02}" dt="2026-04-07T13:40:01.440" v="213" actId="1076"/>
          <ac:spMkLst>
            <pc:docMk/>
            <pc:sldMk cId="158732068" sldId="284"/>
            <ac:spMk id="5" creationId="{C8903D5E-7DD6-E591-C045-83F33B264175}"/>
          </ac:spMkLst>
        </pc:spChg>
      </pc:sldChg>
      <pc:sldChg chg="addSp delSp modSp add mod">
        <pc:chgData name="Fahim Foysal Abak" userId="2788f2a2-0cdc-4efa-b828-39805f068217" providerId="ADAL" clId="{FED0BBAF-948A-4634-93EB-99B934334D02}" dt="2026-04-07T13:44:58.375" v="238" actId="1076"/>
        <pc:sldMkLst>
          <pc:docMk/>
          <pc:sldMk cId="35295127" sldId="285"/>
        </pc:sldMkLst>
        <pc:spChg chg="mod">
          <ac:chgData name="Fahim Foysal Abak" userId="2788f2a2-0cdc-4efa-b828-39805f068217" providerId="ADAL" clId="{FED0BBAF-948A-4634-93EB-99B934334D02}" dt="2026-04-07T13:40:35.048" v="215"/>
          <ac:spMkLst>
            <pc:docMk/>
            <pc:sldMk cId="35295127" sldId="285"/>
            <ac:spMk id="3" creationId="{2FEBE57A-C40A-1D9C-1C4C-E1269781A2B9}"/>
          </ac:spMkLst>
        </pc:spChg>
        <pc:spChg chg="add mod">
          <ac:chgData name="Fahim Foysal Abak" userId="2788f2a2-0cdc-4efa-b828-39805f068217" providerId="ADAL" clId="{FED0BBAF-948A-4634-93EB-99B934334D02}" dt="2026-04-07T13:44:58.375" v="238" actId="1076"/>
          <ac:spMkLst>
            <pc:docMk/>
            <pc:sldMk cId="35295127" sldId="285"/>
            <ac:spMk id="4" creationId="{8357F819-52A3-0FD8-2661-6BC4E291E281}"/>
          </ac:spMkLst>
        </pc:spChg>
      </pc:sldChg>
      <pc:sldChg chg="addSp delSp modSp add mod">
        <pc:chgData name="Fahim Foysal Abak" userId="2788f2a2-0cdc-4efa-b828-39805f068217" providerId="ADAL" clId="{FED0BBAF-948A-4634-93EB-99B934334D02}" dt="2026-04-07T13:45:30.472" v="243" actId="1076"/>
        <pc:sldMkLst>
          <pc:docMk/>
          <pc:sldMk cId="26247013" sldId="286"/>
        </pc:sldMkLst>
        <pc:picChg chg="add mod">
          <ac:chgData name="Fahim Foysal Abak" userId="2788f2a2-0cdc-4efa-b828-39805f068217" providerId="ADAL" clId="{FED0BBAF-948A-4634-93EB-99B934334D02}" dt="2026-04-07T13:45:30.472" v="243" actId="1076"/>
          <ac:picMkLst>
            <pc:docMk/>
            <pc:sldMk cId="26247013" sldId="286"/>
            <ac:picMk id="5" creationId="{59244801-06B3-1130-D4F5-8E8A0E9713CC}"/>
          </ac:picMkLst>
        </pc:picChg>
      </pc:sldChg>
      <pc:sldChg chg="modSp add mod ord">
        <pc:chgData name="Fahim Foysal Abak" userId="2788f2a2-0cdc-4efa-b828-39805f068217" providerId="ADAL" clId="{FED0BBAF-948A-4634-93EB-99B934334D02}" dt="2026-04-07T13:46:57.751" v="257" actId="1076"/>
        <pc:sldMkLst>
          <pc:docMk/>
          <pc:sldMk cId="3112130413" sldId="287"/>
        </pc:sldMkLst>
        <pc:spChg chg="mod">
          <ac:chgData name="Fahim Foysal Abak" userId="2788f2a2-0cdc-4efa-b828-39805f068217" providerId="ADAL" clId="{FED0BBAF-948A-4634-93EB-99B934334D02}" dt="2026-04-07T13:45:55.055" v="248"/>
          <ac:spMkLst>
            <pc:docMk/>
            <pc:sldMk cId="3112130413" sldId="287"/>
            <ac:spMk id="3" creationId="{3A34BEAE-264D-9DC7-C100-8369E17249A3}"/>
          </ac:spMkLst>
        </pc:spChg>
        <pc:spChg chg="mod">
          <ac:chgData name="Fahim Foysal Abak" userId="2788f2a2-0cdc-4efa-b828-39805f068217" providerId="ADAL" clId="{FED0BBAF-948A-4634-93EB-99B934334D02}" dt="2026-04-07T13:46:57.751" v="257" actId="1076"/>
          <ac:spMkLst>
            <pc:docMk/>
            <pc:sldMk cId="3112130413" sldId="287"/>
            <ac:spMk id="4" creationId="{1E0C42E1-011F-A1CF-1D53-FA43753214A5}"/>
          </ac:spMkLst>
        </pc:spChg>
      </pc:sldChg>
      <pc:sldChg chg="addSp delSp modSp add mod">
        <pc:chgData name="Fahim Foysal Abak" userId="2788f2a2-0cdc-4efa-b828-39805f068217" providerId="ADAL" clId="{FED0BBAF-948A-4634-93EB-99B934334D02}" dt="2026-04-07T13:47:21.959" v="262" actId="1076"/>
        <pc:sldMkLst>
          <pc:docMk/>
          <pc:sldMk cId="3601490003" sldId="288"/>
        </pc:sldMkLst>
        <pc:picChg chg="add mod">
          <ac:chgData name="Fahim Foysal Abak" userId="2788f2a2-0cdc-4efa-b828-39805f068217" providerId="ADAL" clId="{FED0BBAF-948A-4634-93EB-99B934334D02}" dt="2026-04-07T13:47:21.959" v="262" actId="1076"/>
          <ac:picMkLst>
            <pc:docMk/>
            <pc:sldMk cId="3601490003" sldId="288"/>
            <ac:picMk id="5" creationId="{49433515-D49C-F82A-683D-D39EC6EF1FC7}"/>
          </ac:picMkLst>
        </pc:picChg>
      </pc:sldChg>
      <pc:sldChg chg="addSp delSp modSp add mod">
        <pc:chgData name="Fahim Foysal Abak" userId="2788f2a2-0cdc-4efa-b828-39805f068217" providerId="ADAL" clId="{FED0BBAF-948A-4634-93EB-99B934334D02}" dt="2026-04-07T13:55:12.221" v="340" actId="1076"/>
        <pc:sldMkLst>
          <pc:docMk/>
          <pc:sldMk cId="1346173398" sldId="289"/>
        </pc:sldMkLst>
        <pc:spChg chg="mod">
          <ac:chgData name="Fahim Foysal Abak" userId="2788f2a2-0cdc-4efa-b828-39805f068217" providerId="ADAL" clId="{FED0BBAF-948A-4634-93EB-99B934334D02}" dt="2026-04-07T13:47:41.381" v="264"/>
          <ac:spMkLst>
            <pc:docMk/>
            <pc:sldMk cId="1346173398" sldId="289"/>
            <ac:spMk id="3" creationId="{102D3BF1-77CB-9A47-85FE-506F785A8DFD}"/>
          </ac:spMkLst>
        </pc:spChg>
        <pc:spChg chg="add mod">
          <ac:chgData name="Fahim Foysal Abak" userId="2788f2a2-0cdc-4efa-b828-39805f068217" providerId="ADAL" clId="{FED0BBAF-948A-4634-93EB-99B934334D02}" dt="2026-04-07T13:55:12.221" v="340" actId="1076"/>
          <ac:spMkLst>
            <pc:docMk/>
            <pc:sldMk cId="1346173398" sldId="289"/>
            <ac:spMk id="6" creationId="{1F194BAF-4039-0DDA-FEA1-A6AEBEE3E417}"/>
          </ac:spMkLst>
        </pc:spChg>
      </pc:sldChg>
      <pc:sldChg chg="addSp delSp modSp add mod">
        <pc:chgData name="Fahim Foysal Abak" userId="2788f2a2-0cdc-4efa-b828-39805f068217" providerId="ADAL" clId="{FED0BBAF-948A-4634-93EB-99B934334D02}" dt="2026-04-07T13:50:22.327" v="288" actId="1076"/>
        <pc:sldMkLst>
          <pc:docMk/>
          <pc:sldMk cId="2283139584" sldId="290"/>
        </pc:sldMkLst>
        <pc:spChg chg="mod">
          <ac:chgData name="Fahim Foysal Abak" userId="2788f2a2-0cdc-4efa-b828-39805f068217" providerId="ADAL" clId="{FED0BBAF-948A-4634-93EB-99B934334D02}" dt="2026-04-07T13:50:00.605" v="282"/>
          <ac:spMkLst>
            <pc:docMk/>
            <pc:sldMk cId="2283139584" sldId="290"/>
            <ac:spMk id="3" creationId="{9FF4C167-E385-072D-9476-31D947E7A5EA}"/>
          </ac:spMkLst>
        </pc:spChg>
        <pc:picChg chg="add mod">
          <ac:chgData name="Fahim Foysal Abak" userId="2788f2a2-0cdc-4efa-b828-39805f068217" providerId="ADAL" clId="{FED0BBAF-948A-4634-93EB-99B934334D02}" dt="2026-04-07T13:50:22.327" v="288" actId="1076"/>
          <ac:picMkLst>
            <pc:docMk/>
            <pc:sldMk cId="2283139584" sldId="290"/>
            <ac:picMk id="4" creationId="{3C015061-9200-3C2D-C0AE-676175C1E640}"/>
          </ac:picMkLst>
        </pc:picChg>
      </pc:sldChg>
      <pc:sldChg chg="addSp delSp modSp add mod">
        <pc:chgData name="Fahim Foysal Abak" userId="2788f2a2-0cdc-4efa-b828-39805f068217" providerId="ADAL" clId="{FED0BBAF-948A-4634-93EB-99B934334D02}" dt="2026-04-07T13:51:39.905" v="300" actId="14100"/>
        <pc:sldMkLst>
          <pc:docMk/>
          <pc:sldMk cId="3951502630" sldId="291"/>
        </pc:sldMkLst>
        <pc:spChg chg="mod">
          <ac:chgData name="Fahim Foysal Abak" userId="2788f2a2-0cdc-4efa-b828-39805f068217" providerId="ADAL" clId="{FED0BBAF-948A-4634-93EB-99B934334D02}" dt="2026-04-07T13:50:33.384" v="290"/>
          <ac:spMkLst>
            <pc:docMk/>
            <pc:sldMk cId="3951502630" sldId="291"/>
            <ac:spMk id="3" creationId="{1137CACC-EC94-C0B2-7131-E155A1A78B00}"/>
          </ac:spMkLst>
        </pc:spChg>
        <pc:spChg chg="add mod">
          <ac:chgData name="Fahim Foysal Abak" userId="2788f2a2-0cdc-4efa-b828-39805f068217" providerId="ADAL" clId="{FED0BBAF-948A-4634-93EB-99B934334D02}" dt="2026-04-07T13:51:39.905" v="300" actId="14100"/>
          <ac:spMkLst>
            <pc:docMk/>
            <pc:sldMk cId="3951502630" sldId="291"/>
            <ac:spMk id="5" creationId="{5C20C0A5-44EB-4927-D544-D87695DBD551}"/>
          </ac:spMkLst>
        </pc:spChg>
      </pc:sldChg>
      <pc:sldChg chg="addSp delSp modSp add mod">
        <pc:chgData name="Fahim Foysal Abak" userId="2788f2a2-0cdc-4efa-b828-39805f068217" providerId="ADAL" clId="{FED0BBAF-948A-4634-93EB-99B934334D02}" dt="2026-04-07T13:53:20.454" v="317"/>
        <pc:sldMkLst>
          <pc:docMk/>
          <pc:sldMk cId="1372761798" sldId="292"/>
        </pc:sldMkLst>
        <pc:spChg chg="mod">
          <ac:chgData name="Fahim Foysal Abak" userId="2788f2a2-0cdc-4efa-b828-39805f068217" providerId="ADAL" clId="{FED0BBAF-948A-4634-93EB-99B934334D02}" dt="2026-04-07T13:52:02.568" v="302"/>
          <ac:spMkLst>
            <pc:docMk/>
            <pc:sldMk cId="1372761798" sldId="292"/>
            <ac:spMk id="3" creationId="{6A412641-8126-E95A-1DAF-07C199DA3C18}"/>
          </ac:spMkLst>
        </pc:spChg>
        <pc:spChg chg="add mod">
          <ac:chgData name="Fahim Foysal Abak" userId="2788f2a2-0cdc-4efa-b828-39805f068217" providerId="ADAL" clId="{FED0BBAF-948A-4634-93EB-99B934334D02}" dt="2026-04-07T13:53:19.886" v="315" actId="1076"/>
          <ac:spMkLst>
            <pc:docMk/>
            <pc:sldMk cId="1372761798" sldId="292"/>
            <ac:spMk id="7" creationId="{84B0DB6B-A3FD-CBA1-9829-1CC993652545}"/>
          </ac:spMkLst>
        </pc:spChg>
      </pc:sldChg>
      <pc:sldChg chg="addSp delSp modSp add mod">
        <pc:chgData name="Fahim Foysal Abak" userId="2788f2a2-0cdc-4efa-b828-39805f068217" providerId="ADAL" clId="{FED0BBAF-948A-4634-93EB-99B934334D02}" dt="2026-04-07T13:53:46.554" v="322" actId="1076"/>
        <pc:sldMkLst>
          <pc:docMk/>
          <pc:sldMk cId="1701277732" sldId="293"/>
        </pc:sldMkLst>
        <pc:picChg chg="add mod">
          <ac:chgData name="Fahim Foysal Abak" userId="2788f2a2-0cdc-4efa-b828-39805f068217" providerId="ADAL" clId="{FED0BBAF-948A-4634-93EB-99B934334D02}" dt="2026-04-07T13:53:46.554" v="322" actId="1076"/>
          <ac:picMkLst>
            <pc:docMk/>
            <pc:sldMk cId="1701277732" sldId="293"/>
            <ac:picMk id="4" creationId="{6A8224D6-01C8-53DC-5CAA-CC4A4DBB2CD5}"/>
          </ac:picMkLst>
        </pc:picChg>
      </pc:sldChg>
      <pc:sldChg chg="addSp delSp modSp add mod">
        <pc:chgData name="Fahim Foysal Abak" userId="2788f2a2-0cdc-4efa-b828-39805f068217" providerId="ADAL" clId="{FED0BBAF-948A-4634-93EB-99B934334D02}" dt="2026-04-07T13:54:54.961" v="339"/>
        <pc:sldMkLst>
          <pc:docMk/>
          <pc:sldMk cId="2270516399" sldId="294"/>
        </pc:sldMkLst>
        <pc:spChg chg="mod">
          <ac:chgData name="Fahim Foysal Abak" userId="2788f2a2-0cdc-4efa-b828-39805f068217" providerId="ADAL" clId="{FED0BBAF-948A-4634-93EB-99B934334D02}" dt="2026-04-07T13:53:57.468" v="324"/>
          <ac:spMkLst>
            <pc:docMk/>
            <pc:sldMk cId="2270516399" sldId="294"/>
            <ac:spMk id="3" creationId="{5B57D3F9-ABCF-6A83-5375-93910D0EC872}"/>
          </ac:spMkLst>
        </pc:spChg>
        <pc:spChg chg="add mod">
          <ac:chgData name="Fahim Foysal Abak" userId="2788f2a2-0cdc-4efa-b828-39805f068217" providerId="ADAL" clId="{FED0BBAF-948A-4634-93EB-99B934334D02}" dt="2026-04-07T13:54:54.281" v="337" actId="1076"/>
          <ac:spMkLst>
            <pc:docMk/>
            <pc:sldMk cId="2270516399" sldId="294"/>
            <ac:spMk id="6" creationId="{482481FC-732C-41FA-3973-E73C90150D70}"/>
          </ac:spMkLst>
        </pc:spChg>
      </pc:sldChg>
      <pc:sldChg chg="modSp add mod">
        <pc:chgData name="Fahim Foysal Abak" userId="2788f2a2-0cdc-4efa-b828-39805f068217" providerId="ADAL" clId="{FED0BBAF-948A-4634-93EB-99B934334D02}" dt="2026-04-11T14:35:09.582" v="354" actId="113"/>
        <pc:sldMkLst>
          <pc:docMk/>
          <pc:sldMk cId="763769959" sldId="295"/>
        </pc:sldMkLst>
        <pc:spChg chg="mod">
          <ac:chgData name="Fahim Foysal Abak" userId="2788f2a2-0cdc-4efa-b828-39805f068217" providerId="ADAL" clId="{FED0BBAF-948A-4634-93EB-99B934334D02}" dt="2026-04-11T14:33:35.636" v="344"/>
          <ac:spMkLst>
            <pc:docMk/>
            <pc:sldMk cId="763769959" sldId="295"/>
            <ac:spMk id="3" creationId="{7151AF80-8C2E-A6A4-B987-866C4F3A425C}"/>
          </ac:spMkLst>
        </pc:spChg>
        <pc:spChg chg="mod">
          <ac:chgData name="Fahim Foysal Abak" userId="2788f2a2-0cdc-4efa-b828-39805f068217" providerId="ADAL" clId="{FED0BBAF-948A-4634-93EB-99B934334D02}" dt="2026-04-11T14:35:09.582" v="354" actId="113"/>
          <ac:spMkLst>
            <pc:docMk/>
            <pc:sldMk cId="763769959" sldId="295"/>
            <ac:spMk id="6" creationId="{A31B5E88-04CC-A2E4-0844-EC2C70AF57E8}"/>
          </ac:spMkLst>
        </pc:spChg>
      </pc:sldChg>
      <pc:sldChg chg="modSp add mod">
        <pc:chgData name="Fahim Foysal Abak" userId="2788f2a2-0cdc-4efa-b828-39805f068217" providerId="ADAL" clId="{FED0BBAF-948A-4634-93EB-99B934334D02}" dt="2026-04-11T17:08:00.157" v="363" actId="20577"/>
        <pc:sldMkLst>
          <pc:docMk/>
          <pc:sldMk cId="1942486265" sldId="296"/>
        </pc:sldMkLst>
        <pc:spChg chg="mod">
          <ac:chgData name="Fahim Foysal Abak" userId="2788f2a2-0cdc-4efa-b828-39805f068217" providerId="ADAL" clId="{FED0BBAF-948A-4634-93EB-99B934334D02}" dt="2026-04-11T17:08:00.157" v="363" actId="20577"/>
          <ac:spMkLst>
            <pc:docMk/>
            <pc:sldMk cId="1942486265" sldId="296"/>
            <ac:spMk id="6" creationId="{F222E105-4582-1492-A1D3-77A1B1DFDCE0}"/>
          </ac:spMkLst>
        </pc:spChg>
      </pc:sldChg>
      <pc:sldChg chg="addSp delSp modSp add mod">
        <pc:chgData name="Fahim Foysal Abak" userId="2788f2a2-0cdc-4efa-b828-39805f068217" providerId="ADAL" clId="{FED0BBAF-948A-4634-93EB-99B934334D02}" dt="2026-04-11T17:13:01.694" v="395" actId="1076"/>
        <pc:sldMkLst>
          <pc:docMk/>
          <pc:sldMk cId="2569777779" sldId="297"/>
        </pc:sldMkLst>
        <pc:spChg chg="add">
          <ac:chgData name="Fahim Foysal Abak" userId="2788f2a2-0cdc-4efa-b828-39805f068217" providerId="ADAL" clId="{FED0BBAF-948A-4634-93EB-99B934334D02}" dt="2026-04-11T17:09:50.088" v="365"/>
          <ac:spMkLst>
            <pc:docMk/>
            <pc:sldMk cId="2569777779" sldId="297"/>
            <ac:spMk id="2" creationId="{5597FC05-1343-B012-D9EE-221F1C0D3251}"/>
          </ac:spMkLst>
        </pc:spChg>
        <pc:spChg chg="add del mod">
          <ac:chgData name="Fahim Foysal Abak" userId="2788f2a2-0cdc-4efa-b828-39805f068217" providerId="ADAL" clId="{FED0BBAF-948A-4634-93EB-99B934334D02}" dt="2026-04-11T17:10:31.898" v="376"/>
          <ac:spMkLst>
            <pc:docMk/>
            <pc:sldMk cId="2569777779" sldId="297"/>
            <ac:spMk id="4" creationId="{52B06486-2E38-BEB5-4E8F-E97AA157E7C8}"/>
          </ac:spMkLst>
        </pc:spChg>
        <pc:spChg chg="del">
          <ac:chgData name="Fahim Foysal Abak" userId="2788f2a2-0cdc-4efa-b828-39805f068217" providerId="ADAL" clId="{FED0BBAF-948A-4634-93EB-99B934334D02}" dt="2026-04-11T17:09:56.151" v="366" actId="478"/>
          <ac:spMkLst>
            <pc:docMk/>
            <pc:sldMk cId="2569777779" sldId="297"/>
            <ac:spMk id="6" creationId="{640281DB-EDB5-4E96-16C1-23578B681BA8}"/>
          </ac:spMkLst>
        </pc:spChg>
        <pc:spChg chg="add mod">
          <ac:chgData name="Fahim Foysal Abak" userId="2788f2a2-0cdc-4efa-b828-39805f068217" providerId="ADAL" clId="{FED0BBAF-948A-4634-93EB-99B934334D02}" dt="2026-04-11T17:13:01.694" v="395" actId="1076"/>
          <ac:spMkLst>
            <pc:docMk/>
            <pc:sldMk cId="2569777779" sldId="297"/>
            <ac:spMk id="7" creationId="{A887689A-0F23-9368-D337-42DFB64D7581}"/>
          </ac:spMkLst>
        </pc:spChg>
      </pc:sldChg>
      <pc:sldChg chg="addSp delSp modSp add mod">
        <pc:chgData name="Fahim Foysal Abak" userId="2788f2a2-0cdc-4efa-b828-39805f068217" providerId="ADAL" clId="{FED0BBAF-948A-4634-93EB-99B934334D02}" dt="2026-04-11T17:12:53.803" v="393" actId="14100"/>
        <pc:sldMkLst>
          <pc:docMk/>
          <pc:sldMk cId="2673286938" sldId="298"/>
        </pc:sldMkLst>
        <pc:spChg chg="mod">
          <ac:chgData name="Fahim Foysal Abak" userId="2788f2a2-0cdc-4efa-b828-39805f068217" providerId="ADAL" clId="{FED0BBAF-948A-4634-93EB-99B934334D02}" dt="2026-04-11T17:11:38.682" v="380"/>
          <ac:spMkLst>
            <pc:docMk/>
            <pc:sldMk cId="2673286938" sldId="298"/>
            <ac:spMk id="3" creationId="{845C6F42-A3FF-68FE-1049-F60F22987E06}"/>
          </ac:spMkLst>
        </pc:spChg>
        <pc:spChg chg="add mod">
          <ac:chgData name="Fahim Foysal Abak" userId="2788f2a2-0cdc-4efa-b828-39805f068217" providerId="ADAL" clId="{FED0BBAF-948A-4634-93EB-99B934334D02}" dt="2026-04-11T17:12:53.803" v="393" actId="14100"/>
          <ac:spMkLst>
            <pc:docMk/>
            <pc:sldMk cId="2673286938" sldId="298"/>
            <ac:spMk id="4" creationId="{0791329C-1260-C46E-4D61-17D76D4E0166}"/>
          </ac:spMkLst>
        </pc:spChg>
        <pc:spChg chg="del">
          <ac:chgData name="Fahim Foysal Abak" userId="2788f2a2-0cdc-4efa-b828-39805f068217" providerId="ADAL" clId="{FED0BBAF-948A-4634-93EB-99B934334D02}" dt="2026-04-11T17:12:06.351" v="381" actId="478"/>
          <ac:spMkLst>
            <pc:docMk/>
            <pc:sldMk cId="2673286938" sldId="298"/>
            <ac:spMk id="7" creationId="{2615CAB4-5B9F-B4E6-00ED-C2B0E997B61D}"/>
          </ac:spMkLst>
        </pc:spChg>
      </pc:sldChg>
      <pc:sldChg chg="modSp add mod">
        <pc:chgData name="Fahim Foysal Abak" userId="2788f2a2-0cdc-4efa-b828-39805f068217" providerId="ADAL" clId="{FED0BBAF-948A-4634-93EB-99B934334D02}" dt="2026-04-11T17:13:20.907" v="400" actId="14100"/>
        <pc:sldMkLst>
          <pc:docMk/>
          <pc:sldMk cId="734023057" sldId="299"/>
        </pc:sldMkLst>
        <pc:spChg chg="mod">
          <ac:chgData name="Fahim Foysal Abak" userId="2788f2a2-0cdc-4efa-b828-39805f068217" providerId="ADAL" clId="{FED0BBAF-948A-4634-93EB-99B934334D02}" dt="2026-04-11T17:13:20.907" v="400" actId="14100"/>
          <ac:spMkLst>
            <pc:docMk/>
            <pc:sldMk cId="734023057" sldId="299"/>
            <ac:spMk id="4" creationId="{9CC11E62-3ED2-85AF-6F16-1CD98A044D17}"/>
          </ac:spMkLst>
        </pc:spChg>
      </pc:sldChg>
      <pc:sldChg chg="modSp add mod">
        <pc:chgData name="Fahim Foysal Abak" userId="2788f2a2-0cdc-4efa-b828-39805f068217" providerId="ADAL" clId="{FED0BBAF-948A-4634-93EB-99B934334D02}" dt="2026-04-11T17:15:05.585" v="411" actId="14100"/>
        <pc:sldMkLst>
          <pc:docMk/>
          <pc:sldMk cId="2772412850" sldId="300"/>
        </pc:sldMkLst>
        <pc:spChg chg="mod">
          <ac:chgData name="Fahim Foysal Abak" userId="2788f2a2-0cdc-4efa-b828-39805f068217" providerId="ADAL" clId="{FED0BBAF-948A-4634-93EB-99B934334D02}" dt="2026-04-11T17:14:15.638" v="402"/>
          <ac:spMkLst>
            <pc:docMk/>
            <pc:sldMk cId="2772412850" sldId="300"/>
            <ac:spMk id="3" creationId="{8100B2E2-1ABE-EDAE-3CCD-79E3040AAA10}"/>
          </ac:spMkLst>
        </pc:spChg>
        <pc:spChg chg="mod">
          <ac:chgData name="Fahim Foysal Abak" userId="2788f2a2-0cdc-4efa-b828-39805f068217" providerId="ADAL" clId="{FED0BBAF-948A-4634-93EB-99B934334D02}" dt="2026-04-11T17:15:05.585" v="411" actId="14100"/>
          <ac:spMkLst>
            <pc:docMk/>
            <pc:sldMk cId="2772412850" sldId="300"/>
            <ac:spMk id="4" creationId="{68E069BB-9B96-832C-3C55-0F21EA159149}"/>
          </ac:spMkLst>
        </pc:spChg>
      </pc:sldChg>
      <pc:sldChg chg="modSp add mod">
        <pc:chgData name="Fahim Foysal Abak" userId="2788f2a2-0cdc-4efa-b828-39805f068217" providerId="ADAL" clId="{FED0BBAF-948A-4634-93EB-99B934334D02}" dt="2026-04-11T17:16:53.137" v="421" actId="20577"/>
        <pc:sldMkLst>
          <pc:docMk/>
          <pc:sldMk cId="1370097729" sldId="301"/>
        </pc:sldMkLst>
        <pc:spChg chg="mod">
          <ac:chgData name="Fahim Foysal Abak" userId="2788f2a2-0cdc-4efa-b828-39805f068217" providerId="ADAL" clId="{FED0BBAF-948A-4634-93EB-99B934334D02}" dt="2026-04-11T17:15:55.917" v="413"/>
          <ac:spMkLst>
            <pc:docMk/>
            <pc:sldMk cId="1370097729" sldId="301"/>
            <ac:spMk id="3" creationId="{03A63478-5739-AB66-7B8E-4A45DF6F97D4}"/>
          </ac:spMkLst>
        </pc:spChg>
        <pc:spChg chg="mod">
          <ac:chgData name="Fahim Foysal Abak" userId="2788f2a2-0cdc-4efa-b828-39805f068217" providerId="ADAL" clId="{FED0BBAF-948A-4634-93EB-99B934334D02}" dt="2026-04-11T17:16:53.137" v="421" actId="20577"/>
          <ac:spMkLst>
            <pc:docMk/>
            <pc:sldMk cId="1370097729" sldId="301"/>
            <ac:spMk id="4" creationId="{C54397F5-CC07-B863-5218-93CE68250FFD}"/>
          </ac:spMkLst>
        </pc:spChg>
      </pc:sldChg>
      <pc:sldChg chg="modSp add mod">
        <pc:chgData name="Fahim Foysal Abak" userId="2788f2a2-0cdc-4efa-b828-39805f068217" providerId="ADAL" clId="{FED0BBAF-948A-4634-93EB-99B934334D02}" dt="2026-04-11T17:17:01.748" v="424" actId="20577"/>
        <pc:sldMkLst>
          <pc:docMk/>
          <pc:sldMk cId="2144042737" sldId="302"/>
        </pc:sldMkLst>
        <pc:spChg chg="mod">
          <ac:chgData name="Fahim Foysal Abak" userId="2788f2a2-0cdc-4efa-b828-39805f068217" providerId="ADAL" clId="{FED0BBAF-948A-4634-93EB-99B934334D02}" dt="2026-04-11T17:17:01.748" v="424" actId="20577"/>
          <ac:spMkLst>
            <pc:docMk/>
            <pc:sldMk cId="2144042737" sldId="302"/>
            <ac:spMk id="4" creationId="{51A061E7-59BF-826E-3A0C-362423A2C4F1}"/>
          </ac:spMkLst>
        </pc:spChg>
      </pc:sldChg>
      <pc:sldChg chg="modSp add mod">
        <pc:chgData name="Fahim Foysal Abak" userId="2788f2a2-0cdc-4efa-b828-39805f068217" providerId="ADAL" clId="{FED0BBAF-948A-4634-93EB-99B934334D02}" dt="2026-04-11T17:30:55.016" v="435" actId="12"/>
        <pc:sldMkLst>
          <pc:docMk/>
          <pc:sldMk cId="671136884" sldId="303"/>
        </pc:sldMkLst>
        <pc:spChg chg="mod">
          <ac:chgData name="Fahim Foysal Abak" userId="2788f2a2-0cdc-4efa-b828-39805f068217" providerId="ADAL" clId="{FED0BBAF-948A-4634-93EB-99B934334D02}" dt="2026-04-11T17:29:44.990" v="426"/>
          <ac:spMkLst>
            <pc:docMk/>
            <pc:sldMk cId="671136884" sldId="303"/>
            <ac:spMk id="3" creationId="{32E8EA3E-887D-A4ED-094E-D65AD5ABB7EE}"/>
          </ac:spMkLst>
        </pc:spChg>
        <pc:spChg chg="mod">
          <ac:chgData name="Fahim Foysal Abak" userId="2788f2a2-0cdc-4efa-b828-39805f068217" providerId="ADAL" clId="{FED0BBAF-948A-4634-93EB-99B934334D02}" dt="2026-04-11T17:30:55.016" v="435" actId="12"/>
          <ac:spMkLst>
            <pc:docMk/>
            <pc:sldMk cId="671136884" sldId="303"/>
            <ac:spMk id="4" creationId="{7EF00BB4-9EB0-F35D-2EFB-ADCC06CD660A}"/>
          </ac:spMkLst>
        </pc:spChg>
      </pc:sldChg>
      <pc:sldChg chg="modSp add mod">
        <pc:chgData name="Fahim Foysal Abak" userId="2788f2a2-0cdc-4efa-b828-39805f068217" providerId="ADAL" clId="{FED0BBAF-948A-4634-93EB-99B934334D02}" dt="2026-04-11T17:31:23.412" v="444" actId="113"/>
        <pc:sldMkLst>
          <pc:docMk/>
          <pc:sldMk cId="2015521272" sldId="304"/>
        </pc:sldMkLst>
        <pc:spChg chg="mod">
          <ac:chgData name="Fahim Foysal Abak" userId="2788f2a2-0cdc-4efa-b828-39805f068217" providerId="ADAL" clId="{FED0BBAF-948A-4634-93EB-99B934334D02}" dt="2026-04-11T17:31:23.412" v="444" actId="113"/>
          <ac:spMkLst>
            <pc:docMk/>
            <pc:sldMk cId="2015521272" sldId="304"/>
            <ac:spMk id="4" creationId="{32A5797E-A882-A896-D805-345035AFB1C1}"/>
          </ac:spMkLst>
        </pc:spChg>
      </pc:sldChg>
      <pc:sldChg chg="modSp add mod">
        <pc:chgData name="Fahim Foysal Abak" userId="2788f2a2-0cdc-4efa-b828-39805f068217" providerId="ADAL" clId="{FED0BBAF-948A-4634-93EB-99B934334D02}" dt="2026-04-11T17:33:43.320" v="458" actId="113"/>
        <pc:sldMkLst>
          <pc:docMk/>
          <pc:sldMk cId="2558498590" sldId="305"/>
        </pc:sldMkLst>
        <pc:spChg chg="mod">
          <ac:chgData name="Fahim Foysal Abak" userId="2788f2a2-0cdc-4efa-b828-39805f068217" providerId="ADAL" clId="{FED0BBAF-948A-4634-93EB-99B934334D02}" dt="2026-04-11T17:32:25.207" v="446"/>
          <ac:spMkLst>
            <pc:docMk/>
            <pc:sldMk cId="2558498590" sldId="305"/>
            <ac:spMk id="3" creationId="{FB8B0FE1-37F7-C0A7-D04A-5E0189379C3A}"/>
          </ac:spMkLst>
        </pc:spChg>
        <pc:spChg chg="mod">
          <ac:chgData name="Fahim Foysal Abak" userId="2788f2a2-0cdc-4efa-b828-39805f068217" providerId="ADAL" clId="{FED0BBAF-948A-4634-93EB-99B934334D02}" dt="2026-04-11T17:33:43.320" v="458" actId="113"/>
          <ac:spMkLst>
            <pc:docMk/>
            <pc:sldMk cId="2558498590" sldId="305"/>
            <ac:spMk id="4" creationId="{0AAD59FD-71CF-831F-1ABD-47FB8807DE1C}"/>
          </ac:spMkLst>
        </pc:spChg>
      </pc:sldChg>
      <pc:sldChg chg="addSp delSp modSp add mod">
        <pc:chgData name="Fahim Foysal Abak" userId="2788f2a2-0cdc-4efa-b828-39805f068217" providerId="ADAL" clId="{FED0BBAF-948A-4634-93EB-99B934334D02}" dt="2026-04-11T17:36:09.027" v="489" actId="113"/>
        <pc:sldMkLst>
          <pc:docMk/>
          <pc:sldMk cId="2478862411" sldId="306"/>
        </pc:sldMkLst>
        <pc:spChg chg="mod">
          <ac:chgData name="Fahim Foysal Abak" userId="2788f2a2-0cdc-4efa-b828-39805f068217" providerId="ADAL" clId="{FED0BBAF-948A-4634-93EB-99B934334D02}" dt="2026-04-11T17:34:53.947" v="460"/>
          <ac:spMkLst>
            <pc:docMk/>
            <pc:sldMk cId="2478862411" sldId="306"/>
            <ac:spMk id="3" creationId="{45461837-ECC5-00CE-58DD-C4556C7C6DC6}"/>
          </ac:spMkLst>
        </pc:spChg>
        <pc:spChg chg="mod">
          <ac:chgData name="Fahim Foysal Abak" userId="2788f2a2-0cdc-4efa-b828-39805f068217" providerId="ADAL" clId="{FED0BBAF-948A-4634-93EB-99B934334D02}" dt="2026-04-11T17:35:23.821" v="476" actId="20577"/>
          <ac:spMkLst>
            <pc:docMk/>
            <pc:sldMk cId="2478862411" sldId="306"/>
            <ac:spMk id="4" creationId="{5DA89C31-D2C8-2BD6-DAE0-38B6C9DC01BD}"/>
          </ac:spMkLst>
        </pc:spChg>
        <pc:spChg chg="add del">
          <ac:chgData name="Fahim Foysal Abak" userId="2788f2a2-0cdc-4efa-b828-39805f068217" providerId="ADAL" clId="{FED0BBAF-948A-4634-93EB-99B934334D02}" dt="2026-04-11T17:35:36.590" v="478" actId="22"/>
          <ac:spMkLst>
            <pc:docMk/>
            <pc:sldMk cId="2478862411" sldId="306"/>
            <ac:spMk id="5" creationId="{05C9F789-FF93-FA37-ED77-0644A590AEE9}"/>
          </ac:spMkLst>
        </pc:spChg>
        <pc:spChg chg="add mod">
          <ac:chgData name="Fahim Foysal Abak" userId="2788f2a2-0cdc-4efa-b828-39805f068217" providerId="ADAL" clId="{FED0BBAF-948A-4634-93EB-99B934334D02}" dt="2026-04-11T17:36:09.027" v="489" actId="113"/>
          <ac:spMkLst>
            <pc:docMk/>
            <pc:sldMk cId="2478862411" sldId="306"/>
            <ac:spMk id="7" creationId="{3A0A5C5E-8FD8-4D70-9757-B4CA2E05752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63B869-A174-5A88-B5F3-8141061D52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B175310-5F23-3017-4729-3443ABDDA2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CBE4F-3ECD-BA42-980A-6C22D46BEBE2}" type="datetimeFigureOut">
              <a:rPr lang="en-US" smtClean="0"/>
              <a:t>10/7/2026</a:t>
            </a:fld>
            <a:endParaRPr lang="en-US"/>
          </a:p>
        </p:txBody>
      </p:sp>
      <p:sp>
        <p:nvSpPr>
          <p:cNvPr id="4" name="Footer Placeholder 3">
            <a:extLst>
              <a:ext uri="{FF2B5EF4-FFF2-40B4-BE49-F238E27FC236}">
                <a16:creationId xmlns:a16="http://schemas.microsoft.com/office/drawing/2014/main" id="{E4BC8871-E13E-E8C2-DF3A-A7A253626C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1A44D0F-7F91-5163-8F8F-0B318D9E81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F95A0A-5E49-254A-9203-A61691F4A379}" type="slidenum">
              <a:rPr lang="en-US" smtClean="0"/>
              <a:t>‹#›</a:t>
            </a:fld>
            <a:endParaRPr lang="en-US"/>
          </a:p>
        </p:txBody>
      </p:sp>
    </p:spTree>
    <p:extLst>
      <p:ext uri="{BB962C8B-B14F-4D97-AF65-F5344CB8AC3E}">
        <p14:creationId xmlns:p14="http://schemas.microsoft.com/office/powerpoint/2010/main" val="898970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87E7F-3BED-1A44-9930-5905629ABFBE}"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B83AAB-AB0E-2440-AE7B-FF06EF35E522}" type="slidenum">
              <a:rPr lang="en-US" smtClean="0"/>
              <a:t>‹#›</a:t>
            </a:fld>
            <a:endParaRPr lang="en-US"/>
          </a:p>
        </p:txBody>
      </p:sp>
    </p:spTree>
    <p:extLst>
      <p:ext uri="{BB962C8B-B14F-4D97-AF65-F5344CB8AC3E}">
        <p14:creationId xmlns:p14="http://schemas.microsoft.com/office/powerpoint/2010/main" val="99482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Arial" panose="020B0604020202020204" pitchFamily="34" charset="0"/>
                <a:cs typeface="Arial" panose="020B0604020202020204" pitchFamily="34" charset="0"/>
              </a:rPr>
              <a:t>“Focuses testing on the function or software module” means, suppose there is a function called </a:t>
            </a:r>
            <a:r>
              <a:rPr lang="en-US" sz="1200" b="0" kern="1200" dirty="0" err="1">
                <a:solidFill>
                  <a:schemeClr val="tx1"/>
                </a:solidFill>
                <a:latin typeface="Arial" panose="020B0604020202020204" pitchFamily="34" charset="0"/>
                <a:ea typeface="+mn-ea"/>
                <a:cs typeface="Arial" panose="020B0604020202020204" pitchFamily="34" charset="0"/>
              </a:rPr>
              <a:t>calculateCGPA</a:t>
            </a:r>
            <a:r>
              <a:rPr lang="en-US" sz="1200" b="0" kern="1200" dirty="0">
                <a:solidFill>
                  <a:schemeClr val="tx1"/>
                </a:solidFill>
                <a:latin typeface="Arial" panose="020B0604020202020204" pitchFamily="34" charset="0"/>
                <a:ea typeface="+mn-ea"/>
                <a:cs typeface="Arial" panose="020B0604020202020204" pitchFamily="34" charset="0"/>
              </a:rPr>
              <a:t>()</a:t>
            </a:r>
            <a:r>
              <a:rPr lang="en-US" b="0" dirty="0">
                <a:latin typeface="Arial" panose="020B0604020202020204" pitchFamily="34" charset="0"/>
                <a:cs typeface="Arial" panose="020B0604020202020204" pitchFamily="34" charset="0"/>
              </a:rPr>
              <a:t>. In unit testing, I will test only whether this function gives the correct result.</a:t>
            </a:r>
          </a:p>
          <a:p>
            <a:endParaRPr lang="en-US" b="0" dirty="0">
              <a:latin typeface="Arial" panose="020B0604020202020204" pitchFamily="34" charset="0"/>
              <a:cs typeface="Arial" panose="020B0604020202020204" pitchFamily="34" charset="0"/>
            </a:endParaRPr>
          </a:p>
          <a:p>
            <a:r>
              <a:rPr lang="en-US" b="0" dirty="0">
                <a:latin typeface="Arial" panose="020B0604020202020204" pitchFamily="34" charset="0"/>
                <a:cs typeface="Arial" panose="020B0604020202020204" pitchFamily="34" charset="0"/>
              </a:rPr>
              <a:t>“Concentrates on the internal processing logic and data structures” means we do not only check the final output; we also check whether the internal logic works correctly. For example, conditions, loops, calculations, and temporary data should all work properly.</a:t>
            </a:r>
          </a:p>
          <a:p>
            <a:endParaRPr lang="en-US" b="0" dirty="0">
              <a:latin typeface="Arial" panose="020B0604020202020204" pitchFamily="34" charset="0"/>
              <a:cs typeface="Arial" panose="020B0604020202020204" pitchFamily="34" charset="0"/>
            </a:endParaRPr>
          </a:p>
          <a:p>
            <a:r>
              <a:rPr lang="en-US" b="0" dirty="0">
                <a:latin typeface="Arial" panose="020B0604020202020204" pitchFamily="34" charset="0"/>
                <a:cs typeface="Arial" panose="020B0604020202020204" pitchFamily="34" charset="0"/>
              </a:rPr>
              <a:t>“High cohesion” means a module should ideally perform one specific task. For example, </a:t>
            </a:r>
            <a:r>
              <a:rPr lang="en-US" sz="1200" b="0" kern="1200" dirty="0" err="1">
                <a:solidFill>
                  <a:schemeClr val="tx1"/>
                </a:solidFill>
                <a:latin typeface="Arial" panose="020B0604020202020204" pitchFamily="34" charset="0"/>
                <a:ea typeface="+mn-ea"/>
                <a:cs typeface="Arial" panose="020B0604020202020204" pitchFamily="34" charset="0"/>
              </a:rPr>
              <a:t>calculateSalary</a:t>
            </a:r>
            <a:r>
              <a:rPr lang="en-US" sz="1200" b="0" kern="1200" dirty="0">
                <a:solidFill>
                  <a:schemeClr val="tx1"/>
                </a:solidFill>
                <a:latin typeface="Arial" panose="020B0604020202020204" pitchFamily="34" charset="0"/>
                <a:ea typeface="+mn-ea"/>
                <a:cs typeface="Arial" panose="020B0604020202020204" pitchFamily="34" charset="0"/>
              </a:rPr>
              <a:t>()</a:t>
            </a:r>
            <a:r>
              <a:rPr lang="en-US" b="0" dirty="0">
                <a:latin typeface="Arial" panose="020B0604020202020204" pitchFamily="34" charset="0"/>
                <a:cs typeface="Arial" panose="020B0604020202020204" pitchFamily="34" charset="0"/>
              </a:rPr>
              <a:t> should only calculate salary. Then the module becomes small and focused, so testing becomes easier.</a:t>
            </a:r>
          </a:p>
          <a:p>
            <a:endParaRPr lang="en-US" b="0" dirty="0">
              <a:latin typeface="Arial" panose="020B0604020202020204" pitchFamily="34" charset="0"/>
              <a:cs typeface="Arial" panose="020B0604020202020204" pitchFamily="34" charset="0"/>
            </a:endParaRPr>
          </a:p>
          <a:p>
            <a:r>
              <a:rPr lang="en-US" b="0" dirty="0">
                <a:latin typeface="Arial" panose="020B0604020202020204" pitchFamily="34" charset="0"/>
                <a:cs typeface="Arial" panose="020B0604020202020204" pitchFamily="34" charset="0"/>
              </a:rPr>
              <a:t>high cyclomatic complexity—means a module has many </a:t>
            </a:r>
            <a:r>
              <a:rPr lang="en-US" sz="1200" b="0" kern="1200" dirty="0">
                <a:solidFill>
                  <a:schemeClr val="tx1"/>
                </a:solidFill>
                <a:latin typeface="Arial" panose="020B0604020202020204" pitchFamily="34" charset="0"/>
                <a:ea typeface="+mn-ea"/>
                <a:cs typeface="Arial" panose="020B0604020202020204" pitchFamily="34" charset="0"/>
              </a:rPr>
              <a:t>if</a:t>
            </a:r>
            <a:r>
              <a:rPr lang="en-US" b="0" dirty="0">
                <a:latin typeface="Arial" panose="020B0604020202020204" pitchFamily="34" charset="0"/>
                <a:cs typeface="Arial" panose="020B0604020202020204" pitchFamily="34" charset="0"/>
              </a:rPr>
              <a:t>, </a:t>
            </a:r>
            <a:r>
              <a:rPr lang="en-US" sz="1200" b="0" kern="1200" dirty="0">
                <a:solidFill>
                  <a:schemeClr val="tx1"/>
                </a:solidFill>
                <a:latin typeface="Arial" panose="020B0604020202020204" pitchFamily="34" charset="0"/>
                <a:ea typeface="+mn-ea"/>
                <a:cs typeface="Arial" panose="020B0604020202020204" pitchFamily="34" charset="0"/>
              </a:rPr>
              <a:t>else</a:t>
            </a:r>
            <a:r>
              <a:rPr lang="en-US" b="0" dirty="0">
                <a:latin typeface="Arial" panose="020B0604020202020204" pitchFamily="34" charset="0"/>
                <a:cs typeface="Arial" panose="020B0604020202020204" pitchFamily="34" charset="0"/>
              </a:rPr>
              <a:t>, loops, and decision paths, so it has more possible execution paths. Therefore, when testing resources are limited, critical and complex modules should be tested first.</a:t>
            </a:r>
          </a:p>
        </p:txBody>
      </p:sp>
      <p:sp>
        <p:nvSpPr>
          <p:cNvPr id="4" name="Slide Number Placeholder 3"/>
          <p:cNvSpPr>
            <a:spLocks noGrp="1"/>
          </p:cNvSpPr>
          <p:nvPr>
            <p:ph type="sldNum" sz="quarter" idx="5"/>
          </p:nvPr>
        </p:nvSpPr>
        <p:spPr/>
        <p:txBody>
          <a:bodyPr/>
          <a:lstStyle/>
          <a:p>
            <a:fld id="{30B83AAB-AB0E-2440-AE7B-FF06EF35E522}" type="slidenum">
              <a:rPr lang="en-US" smtClean="0"/>
              <a:t>3</a:t>
            </a:fld>
            <a:endParaRPr lang="en-US"/>
          </a:p>
        </p:txBody>
      </p:sp>
    </p:spTree>
    <p:extLst>
      <p:ext uri="{BB962C8B-B14F-4D97-AF65-F5344CB8AC3E}">
        <p14:creationId xmlns:p14="http://schemas.microsoft.com/office/powerpoint/2010/main" val="184265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left diagram, the software engineer first creates </a:t>
            </a:r>
            <a:r>
              <a:rPr lang="en-US" b="1" dirty="0"/>
              <a:t>test cases</a:t>
            </a:r>
            <a:r>
              <a:rPr lang="en-US" dirty="0"/>
              <a:t> and then uses those test cases to test a specific </a:t>
            </a:r>
            <a:r>
              <a:rPr lang="en-US" b="1" dirty="0"/>
              <a:t>module</a:t>
            </a:r>
            <a:r>
              <a:rPr lang="en-US" dirty="0"/>
              <a:t>. The output produced by the module is compared with the expected result.</a:t>
            </a:r>
          </a:p>
          <a:p>
            <a:endParaRPr lang="en-US" dirty="0"/>
          </a:p>
          <a:p>
            <a:r>
              <a:rPr lang="en-US" dirty="0"/>
              <a:t>For the interface, we check whether the module correctly accepts the input and produces the expected output.</a:t>
            </a:r>
          </a:p>
          <a:p>
            <a:r>
              <a:rPr lang="en-US" dirty="0"/>
              <a:t>For local data structures, we check whether internal variables and temporary data are stored and updated correctly.</a:t>
            </a:r>
          </a:p>
          <a:p>
            <a:r>
              <a:rPr lang="en-US" dirty="0"/>
              <a:t>For boundary conditions, we test values at or near the limits, such as 0, 1, the full balance, and slightly more than the balance.</a:t>
            </a:r>
          </a:p>
          <a:p>
            <a:endParaRPr lang="en-US" dirty="0"/>
          </a:p>
          <a:p>
            <a:r>
              <a:rPr lang="en-US" dirty="0"/>
              <a:t>if amount &lt;= balance</a:t>
            </a:r>
          </a:p>
          <a:p>
            <a:r>
              <a:rPr lang="en-US" dirty="0"/>
              <a:t>    withdrawal successful</a:t>
            </a:r>
          </a:p>
          <a:p>
            <a:r>
              <a:rPr lang="en-US" dirty="0"/>
              <a:t>else</a:t>
            </a:r>
          </a:p>
          <a:p>
            <a:r>
              <a:rPr lang="en-US" dirty="0"/>
              <a:t>    insufficient balance</a:t>
            </a:r>
          </a:p>
          <a:p>
            <a:r>
              <a:rPr lang="en-US" dirty="0"/>
              <a:t>For independent paths, we test each different logical path separately, such as the successful withdrawal path and the insufficient balance path.</a:t>
            </a:r>
          </a:p>
          <a:p>
            <a:r>
              <a:rPr lang="en-US" dirty="0"/>
              <a:t>For error handling paths, we check whether the module handles invalid input or system errors properly instead of crashing.</a:t>
            </a:r>
          </a:p>
        </p:txBody>
      </p:sp>
      <p:sp>
        <p:nvSpPr>
          <p:cNvPr id="4" name="Slide Number Placeholder 3"/>
          <p:cNvSpPr>
            <a:spLocks noGrp="1"/>
          </p:cNvSpPr>
          <p:nvPr>
            <p:ph type="sldNum" sz="quarter" idx="5"/>
          </p:nvPr>
        </p:nvSpPr>
        <p:spPr/>
        <p:txBody>
          <a:bodyPr/>
          <a:lstStyle/>
          <a:p>
            <a:fld id="{30B83AAB-AB0E-2440-AE7B-FF06EF35E522}" type="slidenum">
              <a:rPr lang="en-US" smtClean="0"/>
              <a:t>4</a:t>
            </a:fld>
            <a:endParaRPr lang="en-US"/>
          </a:p>
        </p:txBody>
      </p:sp>
    </p:spTree>
    <p:extLst>
      <p:ext uri="{BB962C8B-B14F-4D97-AF65-F5344CB8AC3E}">
        <p14:creationId xmlns:p14="http://schemas.microsoft.com/office/powerpoint/2010/main" val="348901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14</a:t>
            </a:fld>
            <a:endParaRPr lang="en-US"/>
          </a:p>
        </p:txBody>
      </p:sp>
    </p:spTree>
    <p:extLst>
      <p:ext uri="{BB962C8B-B14F-4D97-AF65-F5344CB8AC3E}">
        <p14:creationId xmlns:p14="http://schemas.microsoft.com/office/powerpoint/2010/main" val="721423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Example-01:</a:t>
            </a:r>
          </a:p>
          <a:p>
            <a:r>
              <a:rPr lang="en-US" dirty="0"/>
              <a:t>1. int x = 0;</a:t>
            </a:r>
          </a:p>
          <a:p>
            <a:r>
              <a:rPr lang="en-US" dirty="0"/>
              <a:t>2. int parity;</a:t>
            </a:r>
          </a:p>
          <a:p>
            <a:r>
              <a:rPr lang="en-US" dirty="0"/>
              <a:t>3. int count = 0;</a:t>
            </a:r>
          </a:p>
          <a:p>
            <a:endParaRPr lang="en-US" dirty="0"/>
          </a:p>
          <a:p>
            <a:r>
              <a:rPr lang="en-US" dirty="0"/>
              <a:t>4. while (x &lt; 100) {</a:t>
            </a:r>
          </a:p>
          <a:p>
            <a:r>
              <a:rPr lang="en-US" dirty="0"/>
              <a:t>5.     count++;</a:t>
            </a:r>
          </a:p>
          <a:p>
            <a:endParaRPr lang="en-US" dirty="0"/>
          </a:p>
          <a:p>
            <a:r>
              <a:rPr lang="en-US" dirty="0"/>
              <a:t>6.     if (A[x] % 2 == 0)</a:t>
            </a:r>
          </a:p>
          <a:p>
            <a:r>
              <a:rPr lang="en-US" dirty="0"/>
              <a:t>7.         parity = 0;</a:t>
            </a:r>
          </a:p>
          <a:p>
            <a:r>
              <a:rPr lang="en-US" dirty="0"/>
              <a:t>8.     else</a:t>
            </a:r>
          </a:p>
          <a:p>
            <a:r>
              <a:rPr lang="en-US" dirty="0"/>
              <a:t>9.         parity = 1;</a:t>
            </a:r>
          </a:p>
          <a:p>
            <a:endParaRPr lang="en-US" dirty="0"/>
          </a:p>
          <a:p>
            <a:r>
              <a:rPr lang="en-US" dirty="0"/>
              <a:t>10.    switch (parity) {</a:t>
            </a:r>
          </a:p>
          <a:p>
            <a:r>
              <a:rPr lang="en-US" dirty="0"/>
              <a:t>11.        case 0:</a:t>
            </a:r>
          </a:p>
          <a:p>
            <a:r>
              <a:rPr lang="en-US" dirty="0"/>
              <a:t>12.            </a:t>
            </a:r>
            <a:r>
              <a:rPr lang="en-US" dirty="0" err="1"/>
              <a:t>println</a:t>
            </a:r>
            <a:r>
              <a:rPr lang="en-US" dirty="0"/>
              <a:t>("Even");</a:t>
            </a:r>
          </a:p>
          <a:p>
            <a:r>
              <a:rPr lang="en-US" dirty="0"/>
              <a:t>13.            break;</a:t>
            </a:r>
          </a:p>
          <a:p>
            <a:r>
              <a:rPr lang="en-US" dirty="0"/>
              <a:t>14.        case 1:</a:t>
            </a:r>
          </a:p>
          <a:p>
            <a:r>
              <a:rPr lang="en-US" dirty="0"/>
              <a:t>15.            </a:t>
            </a:r>
            <a:r>
              <a:rPr lang="en-US" dirty="0" err="1"/>
              <a:t>println</a:t>
            </a:r>
            <a:r>
              <a:rPr lang="en-US" dirty="0"/>
              <a:t>("Odd");</a:t>
            </a:r>
          </a:p>
          <a:p>
            <a:r>
              <a:rPr lang="en-US" dirty="0"/>
              <a:t>16.            break;</a:t>
            </a:r>
          </a:p>
          <a:p>
            <a:r>
              <a:rPr lang="en-US" dirty="0"/>
              <a:t>17.        default:</a:t>
            </a:r>
          </a:p>
          <a:p>
            <a:r>
              <a:rPr lang="en-US" dirty="0"/>
              <a:t>18.            </a:t>
            </a:r>
            <a:r>
              <a:rPr lang="en-US" dirty="0" err="1"/>
              <a:t>println</a:t>
            </a:r>
            <a:r>
              <a:rPr lang="en-US" dirty="0"/>
              <a:t>("Error");</a:t>
            </a:r>
          </a:p>
          <a:p>
            <a:r>
              <a:rPr lang="en-US" dirty="0"/>
              <a:t>19.    }</a:t>
            </a:r>
          </a:p>
          <a:p>
            <a:endParaRPr lang="en-US" dirty="0"/>
          </a:p>
          <a:p>
            <a:r>
              <a:rPr lang="en-US" dirty="0"/>
              <a:t>20.    x++;</a:t>
            </a:r>
          </a:p>
          <a:p>
            <a:r>
              <a:rPr lang="en-US" dirty="0"/>
              <a:t>21. }</a:t>
            </a:r>
          </a:p>
          <a:p>
            <a:endParaRPr lang="en-US" dirty="0"/>
          </a:p>
          <a:p>
            <a:r>
              <a:rPr lang="en-US" dirty="0"/>
              <a:t>22. </a:t>
            </a:r>
            <a:r>
              <a:rPr lang="en-US" dirty="0" err="1"/>
              <a:t>println</a:t>
            </a:r>
            <a:r>
              <a:rPr lang="en-US" dirty="0"/>
              <a:t>("Finished");</a:t>
            </a:r>
          </a:p>
          <a:p>
            <a:endParaRPr lang="en-US" dirty="0"/>
          </a:p>
          <a:p>
            <a:r>
              <a:rPr lang="en-US" dirty="0"/>
              <a:t>Example-02:</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15</a:t>
            </a:fld>
            <a:endParaRPr lang="en-US"/>
          </a:p>
        </p:txBody>
      </p:sp>
    </p:spTree>
    <p:extLst>
      <p:ext uri="{BB962C8B-B14F-4D97-AF65-F5344CB8AC3E}">
        <p14:creationId xmlns:p14="http://schemas.microsoft.com/office/powerpoint/2010/main" val="1478750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 x = 10;</a:t>
            </a:r>
          </a:p>
          <a:p>
            <a:r>
              <a:rPr lang="en-US" dirty="0"/>
              <a:t>2. int y = 5;</a:t>
            </a:r>
          </a:p>
          <a:p>
            <a:endParaRPr lang="en-US" dirty="0"/>
          </a:p>
          <a:p>
            <a:r>
              <a:rPr lang="en-US" dirty="0"/>
              <a:t>3. if (x &gt; 0) {</a:t>
            </a:r>
          </a:p>
          <a:p>
            <a:r>
              <a:rPr lang="en-US" dirty="0"/>
              <a:t>4.     if (y &gt; 0)</a:t>
            </a:r>
          </a:p>
          <a:p>
            <a:r>
              <a:rPr lang="en-US" dirty="0"/>
              <a:t>5.         </a:t>
            </a:r>
            <a:r>
              <a:rPr lang="en-US" dirty="0" err="1"/>
              <a:t>cout</a:t>
            </a:r>
            <a:r>
              <a:rPr lang="en-US" dirty="0"/>
              <a:t> &lt;&lt; "Both Positive";</a:t>
            </a:r>
          </a:p>
          <a:p>
            <a:r>
              <a:rPr lang="en-US" dirty="0"/>
              <a:t>6.     else</a:t>
            </a:r>
          </a:p>
          <a:p>
            <a:r>
              <a:rPr lang="en-US" dirty="0"/>
              <a:t>7.         </a:t>
            </a:r>
            <a:r>
              <a:rPr lang="en-US" dirty="0" err="1"/>
              <a:t>cout</a:t>
            </a:r>
            <a:r>
              <a:rPr lang="en-US" dirty="0"/>
              <a:t> &lt;&lt; "Only X Positive";</a:t>
            </a:r>
          </a:p>
          <a:p>
            <a:r>
              <a:rPr lang="en-US" dirty="0"/>
              <a:t>8. }</a:t>
            </a:r>
          </a:p>
          <a:p>
            <a:r>
              <a:rPr lang="en-US" dirty="0"/>
              <a:t>9. else {</a:t>
            </a:r>
          </a:p>
          <a:p>
            <a:r>
              <a:rPr lang="en-US" dirty="0"/>
              <a:t>10.    </a:t>
            </a:r>
            <a:r>
              <a:rPr lang="en-US" dirty="0" err="1"/>
              <a:t>cout</a:t>
            </a:r>
            <a:r>
              <a:rPr lang="en-US" dirty="0"/>
              <a:t> &lt;&lt; "X Not Positive";</a:t>
            </a:r>
          </a:p>
          <a:p>
            <a:r>
              <a:rPr lang="en-US" dirty="0"/>
              <a:t>11. }</a:t>
            </a:r>
          </a:p>
          <a:p>
            <a:endParaRPr lang="en-US" dirty="0"/>
          </a:p>
          <a:p>
            <a:r>
              <a:rPr lang="en-US" dirty="0"/>
              <a:t>12. while (y &lt; 10) {</a:t>
            </a:r>
          </a:p>
          <a:p>
            <a:r>
              <a:rPr lang="en-US" dirty="0"/>
              <a:t>13.     if (y % 2 == 0)</a:t>
            </a:r>
          </a:p>
          <a:p>
            <a:r>
              <a:rPr lang="en-US" dirty="0"/>
              <a:t>14.         </a:t>
            </a:r>
            <a:r>
              <a:rPr lang="en-US" dirty="0" err="1"/>
              <a:t>cout</a:t>
            </a:r>
            <a:r>
              <a:rPr lang="en-US" dirty="0"/>
              <a:t> &lt;&lt; "Even";</a:t>
            </a:r>
          </a:p>
          <a:p>
            <a:r>
              <a:rPr lang="en-US" dirty="0"/>
              <a:t>15.     y++;</a:t>
            </a:r>
          </a:p>
          <a:p>
            <a:r>
              <a:rPr lang="en-US" dirty="0"/>
              <a:t>16. }</a:t>
            </a:r>
          </a:p>
          <a:p>
            <a:endParaRPr lang="en-US" dirty="0"/>
          </a:p>
          <a:p>
            <a:r>
              <a:rPr lang="en-US" dirty="0"/>
              <a:t>17. </a:t>
            </a:r>
            <a:r>
              <a:rPr lang="en-US" dirty="0" err="1"/>
              <a:t>cout</a:t>
            </a:r>
            <a:r>
              <a:rPr lang="en-US" dirty="0"/>
              <a:t> &lt;&lt; "End";</a:t>
            </a:r>
          </a:p>
        </p:txBody>
      </p:sp>
      <p:sp>
        <p:nvSpPr>
          <p:cNvPr id="4" name="Slide Number Placeholder 3"/>
          <p:cNvSpPr>
            <a:spLocks noGrp="1"/>
          </p:cNvSpPr>
          <p:nvPr>
            <p:ph type="sldNum" sz="quarter" idx="5"/>
          </p:nvPr>
        </p:nvSpPr>
        <p:spPr/>
        <p:txBody>
          <a:bodyPr/>
          <a:lstStyle/>
          <a:p>
            <a:fld id="{30B83AAB-AB0E-2440-AE7B-FF06EF35E522}" type="slidenum">
              <a:rPr lang="en-US" smtClean="0"/>
              <a:t>19</a:t>
            </a:fld>
            <a:endParaRPr lang="en-US"/>
          </a:p>
        </p:txBody>
      </p:sp>
    </p:spTree>
    <p:extLst>
      <p:ext uri="{BB962C8B-B14F-4D97-AF65-F5344CB8AC3E}">
        <p14:creationId xmlns:p14="http://schemas.microsoft.com/office/powerpoint/2010/main" val="2787495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we have a large software system, but I do not want to test the whole software. I want to test only one </a:t>
            </a:r>
            <a:r>
              <a:rPr lang="en-US" b="1" dirty="0"/>
              <a:t>Module</a:t>
            </a:r>
            <a:r>
              <a:rPr lang="en-US" dirty="0"/>
              <a:t>.</a:t>
            </a:r>
          </a:p>
          <a:p>
            <a:r>
              <a:rPr lang="en-US" dirty="0"/>
              <a:t>The problem is that a module usually does not work completely alone. Something above it calls the module, and the module may call some lower-level functions. During unit testing, those related parts may not yet be ready.</a:t>
            </a:r>
          </a:p>
          <a:p>
            <a:r>
              <a:rPr lang="en-US" dirty="0"/>
              <a:t>So we use two temporary helpers:</a:t>
            </a:r>
          </a:p>
          <a:p>
            <a:pPr lvl="0"/>
            <a:r>
              <a:rPr lang="en-US" b="1" dirty="0"/>
              <a:t>Driver</a:t>
            </a:r>
            <a:r>
              <a:rPr lang="en-US" dirty="0"/>
              <a:t> = imitates the upper-level caller</a:t>
            </a:r>
          </a:p>
          <a:p>
            <a:pPr lvl="0"/>
            <a:r>
              <a:rPr lang="en-US" b="1" dirty="0"/>
              <a:t>Stub</a:t>
            </a:r>
            <a:r>
              <a:rPr lang="en-US" dirty="0"/>
              <a:t> = imitates the lower-level modules being called</a:t>
            </a:r>
          </a:p>
          <a:p>
            <a:r>
              <a:rPr lang="en-US" dirty="0"/>
              <a:t>Now suppose we are testing a </a:t>
            </a:r>
            <a:r>
              <a:rPr lang="en-US" sz="1200" kern="1200" dirty="0" err="1">
                <a:solidFill>
                  <a:schemeClr val="tx1"/>
                </a:solidFill>
                <a:latin typeface="+mn-lt"/>
                <a:ea typeface="+mn-ea"/>
                <a:cs typeface="+mn-cs"/>
              </a:rPr>
              <a:t>placeOrder</a:t>
            </a:r>
            <a:r>
              <a:rPr lang="en-US" sz="1200" kern="1200" dirty="0">
                <a:solidFill>
                  <a:schemeClr val="tx1"/>
                </a:solidFill>
                <a:latin typeface="+mn-lt"/>
                <a:ea typeface="+mn-ea"/>
                <a:cs typeface="+mn-cs"/>
              </a:rPr>
              <a:t>()</a:t>
            </a:r>
            <a:r>
              <a:rPr lang="en-US" dirty="0"/>
              <a:t> function.</a:t>
            </a:r>
          </a:p>
          <a:p>
            <a:r>
              <a:rPr lang="en-US" dirty="0"/>
              <a:t>Normally, the customer interface would call </a:t>
            </a:r>
            <a:r>
              <a:rPr lang="en-US" sz="1200" kern="1200" dirty="0" err="1">
                <a:solidFill>
                  <a:schemeClr val="tx1"/>
                </a:solidFill>
                <a:latin typeface="+mn-lt"/>
                <a:ea typeface="+mn-ea"/>
                <a:cs typeface="+mn-cs"/>
              </a:rPr>
              <a:t>placeOrder</a:t>
            </a:r>
            <a:r>
              <a:rPr lang="en-US" sz="1200" kern="1200" dirty="0">
                <a:solidFill>
                  <a:schemeClr val="tx1"/>
                </a:solidFill>
                <a:latin typeface="+mn-lt"/>
                <a:ea typeface="+mn-ea"/>
                <a:cs typeface="+mn-cs"/>
              </a:rPr>
              <a:t>()</a:t>
            </a:r>
            <a:r>
              <a:rPr lang="en-US" dirty="0"/>
              <a:t>. But if the user interface has not been developed yet, a </a:t>
            </a:r>
            <a:r>
              <a:rPr lang="en-US" b="1" dirty="0"/>
              <a:t>Driver</a:t>
            </a:r>
            <a:r>
              <a:rPr lang="en-US" dirty="0"/>
              <a:t> acts like the fake user interface and sends input to </a:t>
            </a:r>
            <a:r>
              <a:rPr lang="en-US" sz="1200" kern="1200" dirty="0" err="1">
                <a:solidFill>
                  <a:schemeClr val="tx1"/>
                </a:solidFill>
                <a:latin typeface="+mn-lt"/>
                <a:ea typeface="+mn-ea"/>
                <a:cs typeface="+mn-cs"/>
              </a:rPr>
              <a:t>placeOrder</a:t>
            </a:r>
            <a:r>
              <a:rPr lang="en-US" sz="1200" kern="1200" dirty="0">
                <a:solidFill>
                  <a:schemeClr val="tx1"/>
                </a:solidFill>
                <a:latin typeface="+mn-lt"/>
                <a:ea typeface="+mn-ea"/>
                <a:cs typeface="+mn-cs"/>
              </a:rPr>
              <a:t>()</a:t>
            </a:r>
            <a:r>
              <a:rPr lang="en-US" dirty="0"/>
              <a:t>.</a:t>
            </a:r>
          </a:p>
          <a:p>
            <a:r>
              <a:rPr lang="en-US" dirty="0"/>
              <a:t>Inside </a:t>
            </a:r>
            <a:r>
              <a:rPr lang="en-US" sz="1200" kern="1200" dirty="0" err="1">
                <a:solidFill>
                  <a:schemeClr val="tx1"/>
                </a:solidFill>
                <a:latin typeface="+mn-lt"/>
                <a:ea typeface="+mn-ea"/>
                <a:cs typeface="+mn-cs"/>
              </a:rPr>
              <a:t>placeOrder</a:t>
            </a:r>
            <a:r>
              <a:rPr lang="en-US" sz="1200" kern="1200" dirty="0">
                <a:solidFill>
                  <a:schemeClr val="tx1"/>
                </a:solidFill>
                <a:latin typeface="+mn-lt"/>
                <a:ea typeface="+mn-ea"/>
                <a:cs typeface="+mn-cs"/>
              </a:rPr>
              <a:t>()</a:t>
            </a:r>
            <a:r>
              <a:rPr lang="en-US" dirty="0"/>
              <a:t>, it may call </a:t>
            </a:r>
            <a:r>
              <a:rPr lang="en-US" sz="1200" kern="1200" dirty="0" err="1">
                <a:solidFill>
                  <a:schemeClr val="tx1"/>
                </a:solidFill>
                <a:latin typeface="+mn-lt"/>
                <a:ea typeface="+mn-ea"/>
                <a:cs typeface="+mn-cs"/>
              </a:rPr>
              <a:t>paymentCheck</a:t>
            </a:r>
            <a:r>
              <a:rPr lang="en-US" sz="1200" kern="1200" dirty="0">
                <a:solidFill>
                  <a:schemeClr val="tx1"/>
                </a:solidFill>
                <a:latin typeface="+mn-lt"/>
                <a:ea typeface="+mn-ea"/>
                <a:cs typeface="+mn-cs"/>
              </a:rPr>
              <a:t>()</a:t>
            </a:r>
            <a:r>
              <a:rPr lang="en-US" dirty="0"/>
              <a:t> and </a:t>
            </a:r>
            <a:r>
              <a:rPr lang="en-US" sz="1200" kern="1200" dirty="0" err="1">
                <a:solidFill>
                  <a:schemeClr val="tx1"/>
                </a:solidFill>
                <a:latin typeface="+mn-lt"/>
                <a:ea typeface="+mn-ea"/>
                <a:cs typeface="+mn-cs"/>
              </a:rPr>
              <a:t>sendSMS</a:t>
            </a:r>
            <a:r>
              <a:rPr lang="en-US" sz="1200" kern="1200" dirty="0">
                <a:solidFill>
                  <a:schemeClr val="tx1"/>
                </a:solidFill>
                <a:latin typeface="+mn-lt"/>
                <a:ea typeface="+mn-ea"/>
                <a:cs typeface="+mn-cs"/>
              </a:rPr>
              <a:t>()</a:t>
            </a:r>
            <a:r>
              <a:rPr lang="en-US" dirty="0"/>
              <a:t>. If these functions are also not ready yet, we create </a:t>
            </a:r>
            <a:r>
              <a:rPr lang="en-US" b="1" dirty="0"/>
              <a:t>Stubs</a:t>
            </a:r>
            <a:r>
              <a:rPr lang="en-US" dirty="0"/>
              <a:t> that return fake responses.</a:t>
            </a:r>
          </a:p>
          <a:p>
            <a:r>
              <a:rPr lang="en-US" dirty="0"/>
              <a:t>So the flow becomes:</a:t>
            </a:r>
          </a:p>
          <a:p>
            <a:r>
              <a:rPr lang="en-US" b="1" dirty="0"/>
              <a:t>Driver → </a:t>
            </a:r>
            <a:r>
              <a:rPr lang="en-US" b="1" dirty="0" err="1"/>
              <a:t>placeOrder</a:t>
            </a:r>
            <a:r>
              <a:rPr lang="en-US" b="1" dirty="0"/>
              <a:t>() Module → Stubs → Result</a:t>
            </a:r>
            <a:endParaRPr lang="en-US" dirty="0"/>
          </a:p>
          <a:p>
            <a:r>
              <a:rPr lang="en-US" dirty="0"/>
              <a:t>This allows us to test one module independently even before the full system is ready.” Lecture 6</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21</a:t>
            </a:fld>
            <a:endParaRPr lang="en-US"/>
          </a:p>
        </p:txBody>
      </p:sp>
    </p:spTree>
    <p:extLst>
      <p:ext uri="{BB962C8B-B14F-4D97-AF65-F5344CB8AC3E}">
        <p14:creationId xmlns:p14="http://schemas.microsoft.com/office/powerpoint/2010/main" val="3565060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Driver</a:t>
            </a:r>
            <a:r>
              <a:rPr lang="en-US" dirty="0"/>
              <a:t> is a temporary main program that takes test case input, sends it to the module being tested, and displays the result.</a:t>
            </a:r>
          </a:p>
          <a:p>
            <a:r>
              <a:rPr lang="en-US" b="1" dirty="0"/>
              <a:t>Stub</a:t>
            </a:r>
            <a:r>
              <a:rPr lang="en-US" dirty="0"/>
              <a:t> is a temporary replacement module. It is used in place of lower-level modules that are called by the tested module but are not yet ready.</a:t>
            </a:r>
          </a:p>
          <a:p>
            <a:r>
              <a:rPr lang="en-US" b="1" dirty="0"/>
              <a:t>Important:</a:t>
            </a:r>
            <a:r>
              <a:rPr lang="en-US" dirty="0"/>
              <a:t> Both Driver and Stub are used only for testing. They are not part of the final software product. So, creating them requires extra effort—this is called </a:t>
            </a:r>
            <a:r>
              <a:rPr lang="en-US" b="1" dirty="0"/>
              <a:t>overhead</a:t>
            </a:r>
            <a:r>
              <a:rPr lang="en-US" dirty="0"/>
              <a:t>.</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22</a:t>
            </a:fld>
            <a:endParaRPr lang="en-US"/>
          </a:p>
        </p:txBody>
      </p:sp>
    </p:spTree>
    <p:extLst>
      <p:ext uri="{BB962C8B-B14F-4D97-AF65-F5344CB8AC3E}">
        <p14:creationId xmlns:p14="http://schemas.microsoft.com/office/powerpoint/2010/main" val="1366945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Arial" panose="020B0604020202020204" pitchFamily="34" charset="0"/>
                <a:cs typeface="Arial" panose="020B0604020202020204" pitchFamily="34" charset="0"/>
              </a:rPr>
              <a:t>“In Unit Testing, we tested each module separately. Now the question is: each module may work correctly individually, but will they work correctly when connected together? This is where Integration Testing is used.</a:t>
            </a:r>
          </a:p>
          <a:p>
            <a:r>
              <a:rPr lang="en-US" b="0" dirty="0">
                <a:latin typeface="Arial" panose="020B0604020202020204" pitchFamily="34" charset="0"/>
                <a:cs typeface="Arial" panose="020B0604020202020204" pitchFamily="34" charset="0"/>
              </a:rPr>
              <a:t>In Integration Testing, we connect unit-tested modules according to the software design and check whether data and control flow correctly from one module to another. Even if individual modules work correctly, errors may exist in their interfaces or communication.</a:t>
            </a:r>
          </a:p>
          <a:p>
            <a:r>
              <a:rPr lang="en-US" b="0" dirty="0">
                <a:latin typeface="Arial" panose="020B0604020202020204" pitchFamily="34" charset="0"/>
                <a:cs typeface="Arial" panose="020B0604020202020204" pitchFamily="34" charset="0"/>
              </a:rPr>
              <a:t>For example, consider a Food Delivery System:</a:t>
            </a:r>
          </a:p>
          <a:p>
            <a:r>
              <a:rPr lang="en-US" b="0" dirty="0">
                <a:latin typeface="Arial" panose="020B0604020202020204" pitchFamily="34" charset="0"/>
                <a:cs typeface="Arial" panose="020B0604020202020204" pitchFamily="34" charset="0"/>
              </a:rPr>
              <a:t>Order Module → Payment Module → Notification Module</a:t>
            </a:r>
          </a:p>
          <a:p>
            <a:r>
              <a:rPr lang="en-US" b="0" dirty="0">
                <a:latin typeface="Arial" panose="020B0604020202020204" pitchFamily="34" charset="0"/>
                <a:cs typeface="Arial" panose="020B0604020202020204" pitchFamily="34" charset="0"/>
              </a:rPr>
              <a:t>All three modules may pass unit testing. However, when connected, the Order Module may send data in a format that the Payment Module does not expect. This is an interface error, which Integration Testing is designed to detect.</a:t>
            </a:r>
          </a:p>
          <a:p>
            <a:r>
              <a:rPr lang="en-US" b="0" dirty="0">
                <a:latin typeface="Arial" panose="020B0604020202020204" pitchFamily="34" charset="0"/>
                <a:cs typeface="Arial" panose="020B0604020202020204" pitchFamily="34" charset="0"/>
              </a:rPr>
              <a:t>There are two approaches:</a:t>
            </a:r>
          </a:p>
          <a:p>
            <a:pPr lvl="0"/>
            <a:r>
              <a:rPr lang="en-US" b="0" dirty="0">
                <a:latin typeface="Arial" panose="020B0604020202020204" pitchFamily="34" charset="0"/>
                <a:cs typeface="Arial" panose="020B0604020202020204" pitchFamily="34" charset="0"/>
              </a:rPr>
              <a:t>Non-incremental Integration Testing</a:t>
            </a:r>
          </a:p>
          <a:p>
            <a:pPr lvl="0"/>
            <a:r>
              <a:rPr lang="en-US" b="0" dirty="0">
                <a:latin typeface="Arial" panose="020B0604020202020204" pitchFamily="34" charset="0"/>
                <a:cs typeface="Arial" panose="020B0604020202020204" pitchFamily="34" charset="0"/>
              </a:rPr>
              <a:t>Incremental Integration Testing.”</a:t>
            </a:r>
          </a:p>
          <a:p>
            <a:endParaRPr lang="en-US"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30B83AAB-AB0E-2440-AE7B-FF06EF35E522}" type="slidenum">
              <a:rPr lang="en-US" smtClean="0"/>
              <a:t>23</a:t>
            </a:fld>
            <a:endParaRPr lang="en-US"/>
          </a:p>
        </p:txBody>
      </p:sp>
    </p:spTree>
    <p:extLst>
      <p:ext uri="{BB962C8B-B14F-4D97-AF65-F5344CB8AC3E}">
        <p14:creationId xmlns:p14="http://schemas.microsoft.com/office/powerpoint/2010/main" val="1648293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Big Bang Approach</a:t>
            </a:r>
            <a:br>
              <a:rPr lang="en-US" dirty="0"/>
            </a:br>
            <a:r>
              <a:rPr lang="en-US" dirty="0"/>
              <a:t>All modules are completed first and then </a:t>
            </a:r>
            <a:r>
              <a:rPr lang="en-US" b="1" dirty="0"/>
              <a:t>integrated and tested together at once</a:t>
            </a:r>
            <a:r>
              <a:rPr lang="en-US" dirty="0"/>
              <a:t>.</a:t>
            </a:r>
          </a:p>
          <a:p>
            <a:r>
              <a:rPr lang="en-US" dirty="0"/>
              <a:t>Example:</a:t>
            </a:r>
            <a:br>
              <a:rPr lang="en-US" dirty="0"/>
            </a:br>
            <a:r>
              <a:rPr lang="en-US" sz="1200" kern="1200" dirty="0">
                <a:solidFill>
                  <a:schemeClr val="tx1"/>
                </a:solidFill>
                <a:latin typeface="+mn-lt"/>
                <a:ea typeface="+mn-ea"/>
                <a:cs typeface="+mn-cs"/>
              </a:rPr>
              <a:t>Login + Cart + Payment + Order + Notification</a:t>
            </a:r>
            <a:r>
              <a:rPr lang="en-US" dirty="0"/>
              <a:t> are all connected and tested together.</a:t>
            </a:r>
          </a:p>
          <a:p>
            <a:r>
              <a:rPr lang="en-US" dirty="0"/>
              <a:t>The problem is that if an error occurs, </a:t>
            </a:r>
            <a:r>
              <a:rPr lang="en-US" b="1" dirty="0"/>
              <a:t>it becomes difficult to identify which module or interface caused the problem</a:t>
            </a:r>
            <a:r>
              <a:rPr lang="en-US" dirty="0"/>
              <a:t>.</a:t>
            </a:r>
          </a:p>
          <a:p>
            <a:r>
              <a:rPr lang="en-US" b="1" dirty="0"/>
              <a:t>2. Incremental Construction Strategy</a:t>
            </a:r>
            <a:br>
              <a:rPr lang="en-US" dirty="0"/>
            </a:br>
            <a:r>
              <a:rPr lang="en-US" dirty="0"/>
              <a:t>Instead of integrating all modules at once, </a:t>
            </a:r>
            <a:r>
              <a:rPr lang="en-US" b="1" dirty="0"/>
              <a:t>modules are added and tested step by step</a:t>
            </a:r>
            <a:r>
              <a:rPr lang="en-US" dirty="0"/>
              <a:t>.</a:t>
            </a:r>
          </a:p>
          <a:p>
            <a:r>
              <a:rPr lang="en-US" dirty="0"/>
              <a:t>Example:</a:t>
            </a:r>
            <a:br>
              <a:rPr lang="en-US" dirty="0"/>
            </a:br>
            <a:r>
              <a:rPr lang="en-US" dirty="0"/>
              <a:t>First test </a:t>
            </a:r>
            <a:r>
              <a:rPr lang="en-US" sz="1200" kern="1200" dirty="0">
                <a:solidFill>
                  <a:schemeClr val="tx1"/>
                </a:solidFill>
                <a:latin typeface="+mn-lt"/>
                <a:ea typeface="+mn-ea"/>
                <a:cs typeface="+mn-cs"/>
              </a:rPr>
              <a:t>Login + Cart</a:t>
            </a:r>
            <a:r>
              <a:rPr lang="en-US" dirty="0"/>
              <a:t>,</a:t>
            </a:r>
            <a:br>
              <a:rPr lang="en-US" dirty="0"/>
            </a:br>
            <a:r>
              <a:rPr lang="en-US" dirty="0"/>
              <a:t>then add </a:t>
            </a:r>
            <a:r>
              <a:rPr lang="en-US" sz="1200" kern="1200" dirty="0">
                <a:solidFill>
                  <a:schemeClr val="tx1"/>
                </a:solidFill>
                <a:latin typeface="+mn-lt"/>
                <a:ea typeface="+mn-ea"/>
                <a:cs typeface="+mn-cs"/>
              </a:rPr>
              <a:t>Payment</a:t>
            </a:r>
            <a:r>
              <a:rPr lang="en-US" dirty="0"/>
              <a:t>,</a:t>
            </a:r>
            <a:br>
              <a:rPr lang="en-US" dirty="0"/>
            </a:br>
            <a:r>
              <a:rPr lang="en-US" dirty="0"/>
              <a:t>then </a:t>
            </a:r>
            <a:r>
              <a:rPr lang="en-US" sz="1200" kern="1200" dirty="0">
                <a:solidFill>
                  <a:schemeClr val="tx1"/>
                </a:solidFill>
                <a:latin typeface="+mn-lt"/>
                <a:ea typeface="+mn-ea"/>
                <a:cs typeface="+mn-cs"/>
              </a:rPr>
              <a:t>Order</a:t>
            </a:r>
            <a:r>
              <a:rPr lang="en-US" dirty="0"/>
              <a:t>,</a:t>
            </a:r>
            <a:br>
              <a:rPr lang="en-US" dirty="0"/>
            </a:br>
            <a:r>
              <a:rPr lang="en-US" dirty="0"/>
              <a:t>then </a:t>
            </a:r>
            <a:r>
              <a:rPr lang="en-US" sz="1200" kern="1200" dirty="0">
                <a:solidFill>
                  <a:schemeClr val="tx1"/>
                </a:solidFill>
                <a:latin typeface="+mn-lt"/>
                <a:ea typeface="+mn-ea"/>
                <a:cs typeface="+mn-cs"/>
              </a:rPr>
              <a:t>Notification</a:t>
            </a:r>
            <a:r>
              <a:rPr lang="en-US" dirty="0"/>
              <a:t>.</a:t>
            </a:r>
          </a:p>
          <a:p>
            <a:r>
              <a:rPr lang="en-US" dirty="0"/>
              <a:t>This makes it easier to identify </a:t>
            </a:r>
            <a:r>
              <a:rPr lang="en-US" b="1" dirty="0"/>
              <a:t>which newly added module caused the error</a:t>
            </a:r>
            <a:r>
              <a:rPr lang="en-US" dirty="0"/>
              <a:t>.”</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24</a:t>
            </a:fld>
            <a:endParaRPr lang="en-US"/>
          </a:p>
        </p:txBody>
      </p:sp>
    </p:spTree>
    <p:extLst>
      <p:ext uri="{BB962C8B-B14F-4D97-AF65-F5344CB8AC3E}">
        <p14:creationId xmlns:p14="http://schemas.microsoft.com/office/powerpoint/2010/main" val="2997774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Top-down Integration</a:t>
            </a:r>
          </a:p>
          <a:p>
            <a:r>
              <a:rPr lang="en-US" dirty="0"/>
              <a:t>Testing starts from the top and moves downward.</a:t>
            </a:r>
          </a:p>
          <a:p>
            <a:pPr lvl="0"/>
            <a:r>
              <a:rPr lang="en-US" dirty="0"/>
              <a:t>First </a:t>
            </a:r>
            <a:r>
              <a:rPr lang="en-US" sz="1200" kern="1200" dirty="0">
                <a:solidFill>
                  <a:schemeClr val="tx1"/>
                </a:solidFill>
                <a:latin typeface="+mn-lt"/>
                <a:ea typeface="+mn-ea"/>
                <a:cs typeface="+mn-cs"/>
              </a:rPr>
              <a:t>Main Menu</a:t>
            </a:r>
            <a:endParaRPr lang="en-US" dirty="0"/>
          </a:p>
          <a:p>
            <a:pPr lvl="0"/>
            <a:r>
              <a:rPr lang="en-US" dirty="0"/>
              <a:t>then </a:t>
            </a:r>
            <a:r>
              <a:rPr lang="en-US" sz="1200" kern="1200" dirty="0">
                <a:solidFill>
                  <a:schemeClr val="tx1"/>
                </a:solidFill>
                <a:latin typeface="+mn-lt"/>
                <a:ea typeface="+mn-ea"/>
                <a:cs typeface="+mn-cs"/>
              </a:rPr>
              <a:t>Cart</a:t>
            </a:r>
            <a:endParaRPr lang="en-US" dirty="0"/>
          </a:p>
          <a:p>
            <a:pPr lvl="0"/>
            <a:r>
              <a:rPr lang="en-US" dirty="0"/>
              <a:t>then </a:t>
            </a:r>
            <a:r>
              <a:rPr lang="en-US" sz="1200" kern="1200" dirty="0">
                <a:solidFill>
                  <a:schemeClr val="tx1"/>
                </a:solidFill>
                <a:latin typeface="+mn-lt"/>
                <a:ea typeface="+mn-ea"/>
                <a:cs typeface="+mn-cs"/>
              </a:rPr>
              <a:t>Payment</a:t>
            </a:r>
            <a:endParaRPr lang="en-US" dirty="0"/>
          </a:p>
          <a:p>
            <a:pPr lvl="0"/>
            <a:r>
              <a:rPr lang="en-US" dirty="0"/>
              <a:t>finally </a:t>
            </a:r>
            <a:r>
              <a:rPr lang="en-US" sz="1200" kern="1200" dirty="0">
                <a:solidFill>
                  <a:schemeClr val="tx1"/>
                </a:solidFill>
                <a:latin typeface="+mn-lt"/>
                <a:ea typeface="+mn-ea"/>
                <a:cs typeface="+mn-cs"/>
              </a:rPr>
              <a:t>Bank API</a:t>
            </a:r>
            <a:endParaRPr lang="en-US" dirty="0"/>
          </a:p>
          <a:p>
            <a:r>
              <a:rPr lang="en-US" dirty="0"/>
              <a:t>If the Payment module is not ready, a temporary </a:t>
            </a:r>
            <a:r>
              <a:rPr lang="en-US" b="1" dirty="0"/>
              <a:t>stub</a:t>
            </a:r>
            <a:r>
              <a:rPr lang="en-US" dirty="0"/>
              <a:t> can be used.</a:t>
            </a:r>
          </a:p>
          <a:p>
            <a:r>
              <a:rPr lang="en-US" b="1" dirty="0"/>
              <a:t>Real idea:</a:t>
            </a:r>
            <a:br>
              <a:rPr lang="en-US" dirty="0"/>
            </a:br>
            <a:r>
              <a:rPr lang="en-US" dirty="0"/>
              <a:t>Test the main control first, then add lower-level services gradually.</a:t>
            </a:r>
          </a:p>
          <a:p>
            <a:r>
              <a:rPr lang="en-US" b="1" dirty="0"/>
              <a:t>Bottom-up Integration</a:t>
            </a:r>
          </a:p>
          <a:p>
            <a:r>
              <a:rPr lang="en-US" dirty="0"/>
              <a:t>Testing starts from the bottom and moves upward.</a:t>
            </a:r>
          </a:p>
          <a:p>
            <a:pPr lvl="0"/>
            <a:r>
              <a:rPr lang="en-US" dirty="0"/>
              <a:t>First </a:t>
            </a:r>
            <a:r>
              <a:rPr lang="en-US" sz="1200" kern="1200" dirty="0">
                <a:solidFill>
                  <a:schemeClr val="tx1"/>
                </a:solidFill>
                <a:latin typeface="+mn-lt"/>
                <a:ea typeface="+mn-ea"/>
                <a:cs typeface="+mn-cs"/>
              </a:rPr>
              <a:t>Bank API</a:t>
            </a:r>
            <a:endParaRPr lang="en-US" dirty="0"/>
          </a:p>
          <a:p>
            <a:pPr lvl="0"/>
            <a:r>
              <a:rPr lang="en-US" dirty="0"/>
              <a:t>then </a:t>
            </a:r>
            <a:r>
              <a:rPr lang="en-US" sz="1200" kern="1200" dirty="0">
                <a:solidFill>
                  <a:schemeClr val="tx1"/>
                </a:solidFill>
                <a:latin typeface="+mn-lt"/>
                <a:ea typeface="+mn-ea"/>
                <a:cs typeface="+mn-cs"/>
              </a:rPr>
              <a:t>Payment</a:t>
            </a:r>
            <a:endParaRPr lang="en-US" dirty="0"/>
          </a:p>
          <a:p>
            <a:pPr lvl="0"/>
            <a:r>
              <a:rPr lang="en-US" dirty="0"/>
              <a:t>then </a:t>
            </a:r>
            <a:r>
              <a:rPr lang="en-US" sz="1200" kern="1200" dirty="0">
                <a:solidFill>
                  <a:schemeClr val="tx1"/>
                </a:solidFill>
                <a:latin typeface="+mn-lt"/>
                <a:ea typeface="+mn-ea"/>
                <a:cs typeface="+mn-cs"/>
              </a:rPr>
              <a:t>Cart</a:t>
            </a:r>
            <a:endParaRPr lang="en-US" dirty="0"/>
          </a:p>
          <a:p>
            <a:pPr lvl="0"/>
            <a:r>
              <a:rPr lang="en-US" dirty="0"/>
              <a:t>finally </a:t>
            </a:r>
            <a:r>
              <a:rPr lang="en-US" sz="1200" kern="1200" dirty="0">
                <a:solidFill>
                  <a:schemeClr val="tx1"/>
                </a:solidFill>
                <a:latin typeface="+mn-lt"/>
                <a:ea typeface="+mn-ea"/>
                <a:cs typeface="+mn-cs"/>
              </a:rPr>
              <a:t>Main Menu</a:t>
            </a:r>
            <a:endParaRPr lang="en-US" dirty="0"/>
          </a:p>
          <a:p>
            <a:r>
              <a:rPr lang="en-US" dirty="0"/>
              <a:t>If the upper-level module is not ready, a temporary </a:t>
            </a:r>
            <a:r>
              <a:rPr lang="en-US" b="1" dirty="0"/>
              <a:t>driver</a:t>
            </a:r>
            <a:r>
              <a:rPr lang="en-US" dirty="0"/>
              <a:t> can be used.</a:t>
            </a:r>
          </a:p>
          <a:p>
            <a:r>
              <a:rPr lang="en-US" b="1" dirty="0"/>
              <a:t>Real idea:</a:t>
            </a:r>
            <a:br>
              <a:rPr lang="en-US" dirty="0"/>
            </a:br>
            <a:r>
              <a:rPr lang="en-US" dirty="0"/>
              <a:t>Test low-level services first, then gradually connect upper modules.</a:t>
            </a:r>
          </a:p>
          <a:p>
            <a:r>
              <a:rPr lang="en-US" b="1" dirty="0"/>
              <a:t>Sandwich Integration</a:t>
            </a:r>
          </a:p>
          <a:p>
            <a:r>
              <a:rPr lang="en-US" dirty="0"/>
              <a:t>Testing starts from both directions.</a:t>
            </a:r>
          </a:p>
          <a:p>
            <a:pPr lvl="0"/>
            <a:r>
              <a:rPr lang="en-US" dirty="0"/>
              <a:t>From the top: </a:t>
            </a:r>
            <a:r>
              <a:rPr lang="en-US" sz="1200" kern="1200" dirty="0">
                <a:solidFill>
                  <a:schemeClr val="tx1"/>
                </a:solidFill>
                <a:latin typeface="+mn-lt"/>
                <a:ea typeface="+mn-ea"/>
                <a:cs typeface="+mn-cs"/>
              </a:rPr>
              <a:t>Main Menu → Cart</a:t>
            </a:r>
            <a:endParaRPr lang="en-US" dirty="0"/>
          </a:p>
          <a:p>
            <a:pPr lvl="0"/>
            <a:r>
              <a:rPr lang="en-US" dirty="0"/>
              <a:t>From the bottom: </a:t>
            </a:r>
            <a:r>
              <a:rPr lang="en-US" sz="1200" kern="1200" dirty="0">
                <a:solidFill>
                  <a:schemeClr val="tx1"/>
                </a:solidFill>
                <a:latin typeface="+mn-lt"/>
                <a:ea typeface="+mn-ea"/>
                <a:cs typeface="+mn-cs"/>
              </a:rPr>
              <a:t>Bank API → Payment</a:t>
            </a:r>
            <a:endParaRPr lang="en-US" dirty="0"/>
          </a:p>
          <a:p>
            <a:pPr lvl="0"/>
            <a:r>
              <a:rPr lang="en-US" dirty="0"/>
              <a:t>Finally, connect them in the middle</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25</a:t>
            </a:fld>
            <a:endParaRPr lang="en-US"/>
          </a:p>
        </p:txBody>
      </p:sp>
    </p:spTree>
    <p:extLst>
      <p:ext uri="{BB962C8B-B14F-4D97-AF65-F5344CB8AC3E}">
        <p14:creationId xmlns:p14="http://schemas.microsoft.com/office/powerpoint/2010/main" val="1211886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Main System</a:t>
            </a:r>
          </a:p>
          <a:p>
            <a:endParaRPr lang="en-US" dirty="0"/>
          </a:p>
          <a:p>
            <a:r>
              <a:rPr lang="en-US" dirty="0"/>
              <a:t>                  /             |                \</a:t>
            </a:r>
          </a:p>
          <a:p>
            <a:r>
              <a:rPr lang="en-US" dirty="0"/>
              <a:t>             Student   Accounts   Library</a:t>
            </a:r>
          </a:p>
          <a:p>
            <a:r>
              <a:rPr lang="en-US" dirty="0"/>
              <a:t>                 /        \            /  \      /   \</a:t>
            </a:r>
          </a:p>
          <a:p>
            <a:r>
              <a:rPr lang="en-US" dirty="0"/>
              <a:t>        Admission Result Fee Payroll Book Search</a:t>
            </a:r>
          </a:p>
          <a:p>
            <a:r>
              <a:rPr lang="en-US" dirty="0"/>
              <a:t>           /   \                      |               /           \</a:t>
            </a:r>
          </a:p>
          <a:p>
            <a:r>
              <a:rPr lang="en-US" dirty="0"/>
              <a:t>      Form Verify       Payment     Issue Return</a:t>
            </a:r>
          </a:p>
        </p:txBody>
      </p:sp>
      <p:sp>
        <p:nvSpPr>
          <p:cNvPr id="4" name="Slide Number Placeholder 3"/>
          <p:cNvSpPr>
            <a:spLocks noGrp="1"/>
          </p:cNvSpPr>
          <p:nvPr>
            <p:ph type="sldNum" sz="quarter" idx="5"/>
          </p:nvPr>
        </p:nvSpPr>
        <p:spPr/>
        <p:txBody>
          <a:bodyPr/>
          <a:lstStyle/>
          <a:p>
            <a:fld id="{30B83AAB-AB0E-2440-AE7B-FF06EF35E522}" type="slidenum">
              <a:rPr lang="en-US" smtClean="0"/>
              <a:t>26</a:t>
            </a:fld>
            <a:endParaRPr lang="en-US"/>
          </a:p>
        </p:txBody>
      </p:sp>
    </p:spTree>
    <p:extLst>
      <p:ext uri="{BB962C8B-B14F-4D97-AF65-F5344CB8AC3E}">
        <p14:creationId xmlns:p14="http://schemas.microsoft.com/office/powerpoint/2010/main" val="2245909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Bottom-up Integration</a:t>
            </a:r>
            <a:r>
              <a:rPr lang="en-US" dirty="0"/>
              <a:t> starts testing from the lowest-level modules and gradually moves upward.</a:t>
            </a:r>
          </a:p>
          <a:p>
            <a:r>
              <a:rPr lang="en-US" dirty="0"/>
              <a:t>Suppose we have:</a:t>
            </a:r>
          </a:p>
          <a:p>
            <a:pPr rtl="0"/>
            <a:r>
              <a:rPr lang="en-US" sz="1200" kern="1200" dirty="0">
                <a:solidFill>
                  <a:schemeClr val="tx1"/>
                </a:solidFill>
                <a:latin typeface="+mn-lt"/>
                <a:ea typeface="+mn-ea"/>
                <a:cs typeface="+mn-cs"/>
              </a:rPr>
              <a:t>        Main System</a:t>
            </a:r>
          </a:p>
          <a:p>
            <a:pPr rtl="0"/>
            <a:r>
              <a:rPr lang="en-US" sz="1200" kern="1200" dirty="0">
                <a:solidFill>
                  <a:schemeClr val="tx1"/>
                </a:solidFill>
                <a:latin typeface="+mn-lt"/>
                <a:ea typeface="+mn-ea"/>
                <a:cs typeface="+mn-cs"/>
              </a:rPr>
              <a:t>            |</a:t>
            </a:r>
          </a:p>
          <a:p>
            <a:pPr rtl="0"/>
            <a:r>
              <a:rPr lang="en-US" sz="1200" kern="1200" dirty="0">
                <a:solidFill>
                  <a:schemeClr val="tx1"/>
                </a:solidFill>
                <a:latin typeface="+mn-lt"/>
                <a:ea typeface="+mn-ea"/>
                <a:cs typeface="+mn-cs"/>
              </a:rPr>
              <a:t>          Cart</a:t>
            </a:r>
          </a:p>
          <a:p>
            <a:pPr rtl="0"/>
            <a:r>
              <a:rPr lang="en-US" sz="1200" kern="1200" dirty="0">
                <a:solidFill>
                  <a:schemeClr val="tx1"/>
                </a:solidFill>
                <a:latin typeface="+mn-lt"/>
                <a:ea typeface="+mn-ea"/>
                <a:cs typeface="+mn-cs"/>
              </a:rPr>
              <a:t>            |</a:t>
            </a:r>
          </a:p>
          <a:p>
            <a:pPr rtl="0"/>
            <a:r>
              <a:rPr lang="en-US" sz="1200" kern="1200" dirty="0">
                <a:solidFill>
                  <a:schemeClr val="tx1"/>
                </a:solidFill>
                <a:latin typeface="+mn-lt"/>
                <a:ea typeface="+mn-ea"/>
                <a:cs typeface="+mn-cs"/>
              </a:rPr>
              <a:t>        Payment</a:t>
            </a:r>
          </a:p>
          <a:p>
            <a:pPr rtl="0"/>
            <a:r>
              <a:rPr lang="en-US" sz="1200" kern="1200" dirty="0">
                <a:solidFill>
                  <a:schemeClr val="tx1"/>
                </a:solidFill>
                <a:latin typeface="+mn-lt"/>
                <a:ea typeface="+mn-ea"/>
                <a:cs typeface="+mn-cs"/>
              </a:rPr>
              <a:t>            |</a:t>
            </a:r>
          </a:p>
          <a:p>
            <a:pPr rtl="0"/>
            <a:r>
              <a:rPr lang="en-US" sz="1200" kern="1200" dirty="0">
                <a:solidFill>
                  <a:schemeClr val="tx1"/>
                </a:solidFill>
                <a:latin typeface="+mn-lt"/>
                <a:ea typeface="+mn-ea"/>
                <a:cs typeface="+mn-cs"/>
              </a:rPr>
              <a:t>         Bank API</a:t>
            </a:r>
          </a:p>
          <a:p>
            <a:r>
              <a:rPr lang="en-US" dirty="0"/>
              <a:t>In bottom-up integration, we test:</a:t>
            </a:r>
          </a:p>
          <a:p>
            <a:r>
              <a:rPr lang="en-US" sz="1200" kern="1200" dirty="0">
                <a:solidFill>
                  <a:schemeClr val="tx1"/>
                </a:solidFill>
                <a:latin typeface="+mn-lt"/>
                <a:ea typeface="+mn-ea"/>
                <a:cs typeface="+mn-cs"/>
              </a:rPr>
              <a:t>Bank API → Payment → Cart → Main System</a:t>
            </a:r>
            <a:endParaRPr lang="en-US" dirty="0"/>
          </a:p>
          <a:p>
            <a:r>
              <a:rPr lang="en-US" b="1" dirty="0"/>
              <a:t>Advantage</a:t>
            </a:r>
          </a:p>
          <a:p>
            <a:r>
              <a:rPr lang="en-US" b="1" dirty="0"/>
              <a:t>Low-level data processing is tested early.</a:t>
            </a:r>
            <a:endParaRPr lang="en-US" dirty="0"/>
          </a:p>
          <a:p>
            <a:r>
              <a:rPr lang="en-US" dirty="0"/>
              <a:t>For example, we can verify early whether the Bank API returns the correct response.</a:t>
            </a:r>
          </a:p>
          <a:p>
            <a:r>
              <a:rPr lang="en-US" b="1" dirty="0"/>
              <a:t>No stub is needed</a:t>
            </a:r>
            <a:r>
              <a:rPr lang="en-US" dirty="0"/>
              <a:t>, because testing starts from the real lower-level modules.</a:t>
            </a:r>
          </a:p>
          <a:p>
            <a:r>
              <a:rPr lang="en-US" b="1" dirty="0"/>
              <a:t>Disadvantage</a:t>
            </a:r>
          </a:p>
          <a:p>
            <a:r>
              <a:rPr lang="en-US" dirty="0"/>
              <a:t>The upper-level modules, such as </a:t>
            </a:r>
            <a:r>
              <a:rPr lang="en-US" sz="1200" kern="1200" dirty="0">
                <a:solidFill>
                  <a:schemeClr val="tx1"/>
                </a:solidFill>
                <a:latin typeface="+mn-lt"/>
                <a:ea typeface="+mn-ea"/>
                <a:cs typeface="+mn-cs"/>
              </a:rPr>
              <a:t>Payment</a:t>
            </a:r>
            <a:r>
              <a:rPr lang="en-US" dirty="0"/>
              <a:t> or </a:t>
            </a:r>
            <a:r>
              <a:rPr lang="en-US" sz="1200" kern="1200" dirty="0">
                <a:solidFill>
                  <a:schemeClr val="tx1"/>
                </a:solidFill>
                <a:latin typeface="+mn-lt"/>
                <a:ea typeface="+mn-ea"/>
                <a:cs typeface="+mn-cs"/>
              </a:rPr>
              <a:t>Cart</a:t>
            </a:r>
            <a:r>
              <a:rPr lang="en-US" dirty="0"/>
              <a:t>, may not yet be ready.</a:t>
            </a:r>
          </a:p>
          <a:p>
            <a:r>
              <a:rPr lang="en-US" dirty="0"/>
              <a:t>Therefore, a temporary </a:t>
            </a:r>
            <a:r>
              <a:rPr lang="en-US" b="1" dirty="0"/>
              <a:t>Driver</a:t>
            </a:r>
            <a:r>
              <a:rPr lang="en-US" dirty="0"/>
              <a:t> is needed to test the lower-level module.</a:t>
            </a:r>
          </a:p>
          <a:p>
            <a:r>
              <a:rPr lang="en-US" dirty="0"/>
              <a:t>For example, if the Payment module is not ready, a Driver can act like Payment and call the Bank API.</a:t>
            </a:r>
          </a:p>
          <a:p>
            <a:r>
              <a:rPr lang="en-US" dirty="0"/>
              <a:t>However, the Driver does not contain the complete logic of the real upper-level module. So testing may be incomplete, and additional testing may be required later.”</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28</a:t>
            </a:fld>
            <a:endParaRPr lang="en-US"/>
          </a:p>
        </p:txBody>
      </p:sp>
    </p:spTree>
    <p:extLst>
      <p:ext uri="{BB962C8B-B14F-4D97-AF65-F5344CB8AC3E}">
        <p14:creationId xmlns:p14="http://schemas.microsoft.com/office/powerpoint/2010/main" val="828644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software company combines the developers’ new code every day and creates a </a:t>
            </a:r>
            <a:r>
              <a:rPr lang="en-US" b="1" dirty="0"/>
              <a:t>new build</a:t>
            </a:r>
            <a:r>
              <a:rPr lang="en-US" dirty="0"/>
              <a:t>. This build contains the major modules, libraries, data files, and reusable components.</a:t>
            </a:r>
          </a:p>
          <a:p>
            <a:r>
              <a:rPr lang="en-US" dirty="0"/>
              <a:t>Before starting detailed testing, the team first checks:</a:t>
            </a:r>
          </a:p>
          <a:p>
            <a:pPr lvl="0"/>
            <a:r>
              <a:rPr lang="en-US" dirty="0"/>
              <a:t>Does the application open?</a:t>
            </a:r>
          </a:p>
          <a:p>
            <a:pPr lvl="0"/>
            <a:r>
              <a:rPr lang="en-US" dirty="0"/>
              <a:t>Does login work?</a:t>
            </a:r>
          </a:p>
          <a:p>
            <a:pPr lvl="0"/>
            <a:r>
              <a:rPr lang="en-US" dirty="0"/>
              <a:t>Does the main dashboard load?</a:t>
            </a:r>
          </a:p>
          <a:p>
            <a:pPr lvl="0"/>
            <a:r>
              <a:rPr lang="en-US" dirty="0"/>
              <a:t>Do the critical features run?</a:t>
            </a:r>
          </a:p>
          <a:p>
            <a:pPr lvl="0"/>
            <a:r>
              <a:rPr lang="en-US" dirty="0"/>
              <a:t>Does the system crash immediately?</a:t>
            </a:r>
          </a:p>
          <a:p>
            <a:r>
              <a:rPr lang="en-US" dirty="0"/>
              <a:t>This quick basic check is called </a:t>
            </a:r>
            <a:r>
              <a:rPr lang="en-US" b="1" dirty="0"/>
              <a:t>Smoke Testing</a:t>
            </a:r>
            <a:r>
              <a:rPr lang="en-US" dirty="0"/>
              <a:t>.</a:t>
            </a:r>
          </a:p>
          <a:p>
            <a:endParaRPr lang="en-US" dirty="0"/>
          </a:p>
          <a:p>
            <a:r>
              <a:rPr lang="en-US" b="1" dirty="0"/>
              <a:t>1. Integrate translated software components into a build</a:t>
            </a:r>
          </a:p>
          <a:p>
            <a:r>
              <a:rPr lang="en-US" dirty="0"/>
              <a:t>The code or modules developed by different developers are compiled and combined into one build.</a:t>
            </a:r>
          </a:p>
          <a:p>
            <a:r>
              <a:rPr lang="en-US" b="1" dirty="0"/>
              <a:t>Example:</a:t>
            </a:r>
            <a:r>
              <a:rPr lang="en-US" dirty="0"/>
              <a:t> Login, Cart, Payment, and Database modules are combined into a new e-commerce build.</a:t>
            </a:r>
          </a:p>
          <a:p>
            <a:r>
              <a:rPr lang="en-US" b="1" dirty="0"/>
              <a:t>2. Build includes all data files, libraries, reusable modules, and engineered components</a:t>
            </a:r>
          </a:p>
          <a:p>
            <a:r>
              <a:rPr lang="en-US" dirty="0"/>
              <a:t>A build must include not only source code but also the libraries, data files, reusable modules, and supporting components required to run the software.</a:t>
            </a:r>
          </a:p>
          <a:p>
            <a:r>
              <a:rPr lang="en-US" b="1" dirty="0"/>
              <a:t>3. Conduct tests designed to expose errors that prevent the build from functioning correctly</a:t>
            </a:r>
          </a:p>
          <a:p>
            <a:r>
              <a:rPr lang="en-US" dirty="0"/>
              <a:t>Quick tests are performed to check whether the basic functions of the build work correctly.</a:t>
            </a:r>
          </a:p>
          <a:p>
            <a:r>
              <a:rPr lang="en-US" b="1" dirty="0"/>
              <a:t>Example:</a:t>
            </a:r>
            <a:r>
              <a:rPr lang="en-US" dirty="0"/>
              <a:t> Does the app open? Does login work? Does the database connect?</a:t>
            </a:r>
          </a:p>
          <a:p>
            <a:r>
              <a:rPr lang="en-US" b="1" dirty="0"/>
              <a:t>4. Focus on uncovering “show-stopper” errors</a:t>
            </a:r>
          </a:p>
          <a:p>
            <a:r>
              <a:rPr lang="en-US" dirty="0"/>
              <a:t>Smoke testing mainly looks for critical errors, not small UI problems.</a:t>
            </a:r>
          </a:p>
          <a:p>
            <a:r>
              <a:rPr lang="en-US" b="1" dirty="0"/>
              <a:t>Example:</a:t>
            </a:r>
            <a:r>
              <a:rPr lang="en-US" dirty="0"/>
              <a:t> The app does not launch, login is completely broken, or the database is unavailable.</a:t>
            </a:r>
          </a:p>
          <a:p>
            <a:r>
              <a:rPr lang="en-US" b="1" dirty="0"/>
              <a:t>5. Integrated builds are smoke tested daily</a:t>
            </a:r>
          </a:p>
          <a:p>
            <a:r>
              <a:rPr lang="en-US" dirty="0"/>
              <a:t>Each new daily build is smoke tested again to detect whether recent code changes have broken the system.</a:t>
            </a:r>
          </a:p>
          <a:p>
            <a:r>
              <a:rPr lang="en-US" b="1" dirty="0"/>
              <a:t>6. Integration can follow top-down or bottom-up approach</a:t>
            </a:r>
          </a:p>
          <a:p>
            <a:r>
              <a:rPr lang="en-US" dirty="0"/>
              <a:t>The modules may be integrated using either top-down or bottom-up integration, and the resulting build can still be smoke tested.</a:t>
            </a:r>
          </a:p>
          <a:p>
            <a:endParaRPr lang="en-US" dirty="0"/>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33</a:t>
            </a:fld>
            <a:endParaRPr lang="en-US"/>
          </a:p>
        </p:txBody>
      </p:sp>
    </p:spTree>
    <p:extLst>
      <p:ext uri="{BB962C8B-B14F-4D97-AF65-F5344CB8AC3E}">
        <p14:creationId xmlns:p14="http://schemas.microsoft.com/office/powerpoint/2010/main" val="669711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Build 1, Build 2, Build 3 ... Build n</a:t>
            </a:r>
            <a:r>
              <a:rPr lang="en-US" dirty="0"/>
              <a:t> represent successive runnable versions of the same software project over time.</a:t>
            </a:r>
          </a:p>
          <a:p>
            <a:r>
              <a:rPr lang="en-US" dirty="0"/>
              <a:t>Example:</a:t>
            </a:r>
          </a:p>
          <a:p>
            <a:pPr lvl="0"/>
            <a:r>
              <a:rPr lang="en-US" dirty="0"/>
              <a:t>Build 1 → Login + Search</a:t>
            </a:r>
          </a:p>
          <a:p>
            <a:pPr lvl="0"/>
            <a:r>
              <a:rPr lang="en-US" dirty="0"/>
              <a:t>Build 2 → Login + Search + Cart fix</a:t>
            </a:r>
          </a:p>
          <a:p>
            <a:pPr lvl="0"/>
            <a:r>
              <a:rPr lang="en-US" dirty="0"/>
              <a:t>Build 3 → Login + Search + Cart + Payment update</a:t>
            </a:r>
          </a:p>
          <a:p>
            <a:r>
              <a:rPr lang="en-US" dirty="0"/>
              <a:t>Each new build contains the previous working software plus new stable changes or fixes. </a:t>
            </a:r>
            <a:r>
              <a:rPr lang="en-US" sz="1200" kern="1200" dirty="0">
                <a:solidFill>
                  <a:schemeClr val="tx1"/>
                </a:solidFill>
                <a:latin typeface="+mn-lt"/>
                <a:ea typeface="+mn-ea"/>
                <a:cs typeface="+mn-cs"/>
              </a:rPr>
              <a:t>Build n</a:t>
            </a:r>
            <a:r>
              <a:rPr lang="en-US" dirty="0"/>
              <a:t> simply means any later build number.</a:t>
            </a:r>
          </a:p>
          <a:p>
            <a:r>
              <a:rPr lang="en-US" dirty="0"/>
              <a:t>The left side shows the </a:t>
            </a:r>
            <a:r>
              <a:rPr lang="en-US" b="1" dirty="0"/>
              <a:t>initial builds</a:t>
            </a:r>
            <a:r>
              <a:rPr lang="en-US" dirty="0"/>
              <a:t>—Build 1, Build 2, Build 3, and so on. These are different regular or daily software builds.</a:t>
            </a:r>
          </a:p>
          <a:p>
            <a:r>
              <a:rPr lang="en-US" dirty="0"/>
              <a:t>Each build first goes through a </a:t>
            </a:r>
            <a:r>
              <a:rPr lang="en-US" b="1" dirty="0"/>
              <a:t>Smoke Test</a:t>
            </a:r>
            <a:r>
              <a:rPr lang="en-US" dirty="0"/>
              <a:t>.</a:t>
            </a:r>
          </a:p>
          <a:p>
            <a:r>
              <a:rPr lang="en-US" dirty="0"/>
              <a:t>Then there are two possibilities:</a:t>
            </a:r>
          </a:p>
          <a:p>
            <a:pPr lvl="0"/>
            <a:r>
              <a:rPr lang="en-US" dirty="0"/>
              <a:t>If a critical bug is found → </a:t>
            </a:r>
            <a:r>
              <a:rPr lang="en-US" b="1" dirty="0"/>
              <a:t>Smoke Test Failed → Build Rejected</a:t>
            </a:r>
            <a:endParaRPr lang="en-US" dirty="0"/>
          </a:p>
          <a:p>
            <a:pPr lvl="0"/>
            <a:r>
              <a:rPr lang="en-US" dirty="0"/>
              <a:t>If no major problem is found → </a:t>
            </a:r>
            <a:r>
              <a:rPr lang="en-US" b="1" dirty="0"/>
              <a:t>Smoke Test Passed</a:t>
            </a:r>
            <a:endParaRPr lang="en-US" dirty="0"/>
          </a:p>
          <a:p>
            <a:r>
              <a:rPr lang="en-US" dirty="0"/>
              <a:t>If the build passes the smoke test, it moves to detailed testing such as:</a:t>
            </a:r>
          </a:p>
          <a:p>
            <a:pPr lvl="0"/>
            <a:r>
              <a:rPr lang="en-US" dirty="0"/>
              <a:t>Functional Testing</a:t>
            </a:r>
          </a:p>
          <a:p>
            <a:pPr lvl="0"/>
            <a:r>
              <a:rPr lang="en-US" dirty="0"/>
              <a:t>System Testing</a:t>
            </a:r>
          </a:p>
          <a:p>
            <a:pPr lvl="0"/>
            <a:r>
              <a:rPr lang="en-US" dirty="0"/>
              <a:t>Performance Testing</a:t>
            </a:r>
          </a:p>
          <a:p>
            <a:pPr lvl="0"/>
            <a:r>
              <a:rPr lang="en-US" dirty="0"/>
              <a:t>UAT</a:t>
            </a:r>
          </a:p>
          <a:p>
            <a:r>
              <a:rPr lang="en-US" dirty="0"/>
              <a:t>So, Smoke Testing works like a </a:t>
            </a:r>
            <a:r>
              <a:rPr lang="en-US" b="1" dirty="0"/>
              <a:t>gatekeeper</a:t>
            </a:r>
            <a:r>
              <a:rPr lang="en-US" dirty="0"/>
              <a:t>.</a:t>
            </a:r>
          </a:p>
          <a:p>
            <a:r>
              <a:rPr lang="en-US" dirty="0"/>
              <a:t>It first checks whether the build is basically stable before allowing detailed testing.</a:t>
            </a:r>
          </a:p>
          <a:p>
            <a:endParaRPr lang="en-US" dirty="0"/>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34</a:t>
            </a:fld>
            <a:endParaRPr lang="en-US"/>
          </a:p>
        </p:txBody>
      </p:sp>
    </p:spTree>
    <p:extLst>
      <p:ext uri="{BB962C8B-B14F-4D97-AF65-F5344CB8AC3E}">
        <p14:creationId xmlns:p14="http://schemas.microsoft.com/office/powerpoint/2010/main" val="15484909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Minimizes integration risk</a:t>
            </a:r>
          </a:p>
          <a:p>
            <a:r>
              <a:rPr lang="en-US" dirty="0"/>
              <a:t>Serious problems are detected early after new modules are integrated.</a:t>
            </a:r>
          </a:p>
          <a:p>
            <a:r>
              <a:rPr lang="en-US" b="1" dirty="0"/>
              <a:t>2. Reduces schedule impact</a:t>
            </a:r>
          </a:p>
          <a:p>
            <a:r>
              <a:rPr lang="en-US" dirty="0"/>
              <a:t>Finding show-stopper errors early prevents major delays later in the project.</a:t>
            </a:r>
          </a:p>
          <a:p>
            <a:r>
              <a:rPr lang="en-US" b="1" dirty="0"/>
              <a:t>3. Improves product quality</a:t>
            </a:r>
          </a:p>
          <a:p>
            <a:r>
              <a:rPr lang="en-US" dirty="0"/>
              <a:t>Regularly checking each build prevents serious defects from remaining unnoticed.</a:t>
            </a:r>
          </a:p>
          <a:p>
            <a:r>
              <a:rPr lang="en-US" b="1" dirty="0"/>
              <a:t>4. Finds errors at different levels</a:t>
            </a:r>
          </a:p>
          <a:p>
            <a:r>
              <a:rPr lang="en-US" dirty="0"/>
              <a:t>Smoke testing can reveal serious functional, architectural, and component-level problems.</a:t>
            </a:r>
          </a:p>
          <a:p>
            <a:r>
              <a:rPr lang="en-US" b="1" dirty="0"/>
              <a:t>5. Easier error diagnosis</a:t>
            </a:r>
          </a:p>
          <a:p>
            <a:r>
              <a:rPr lang="en-US" dirty="0"/>
              <a:t>If a recent build fails, developers can focus on the latest changes.</a:t>
            </a:r>
          </a:p>
          <a:p>
            <a:r>
              <a:rPr lang="en-US" b="1" dirty="0"/>
              <a:t>6. Finds errors in newest components</a:t>
            </a:r>
          </a:p>
          <a:p>
            <a:r>
              <a:rPr lang="en-US" dirty="0"/>
              <a:t>Newly integrated components are more likely to contain the latest problems.</a:t>
            </a:r>
          </a:p>
          <a:p>
            <a:r>
              <a:rPr lang="en-US" b="1" dirty="0"/>
              <a:t>7. Easier progress assessment</a:t>
            </a:r>
          </a:p>
          <a:p>
            <a:r>
              <a:rPr lang="en-US" dirty="0"/>
              <a:t>Successful builds help the team measure how much of the software has been integrated and verified.</a:t>
            </a:r>
          </a:p>
          <a:p>
            <a:r>
              <a:rPr lang="en-US" b="1" dirty="0"/>
              <a:t>8. Managers get project visibility</a:t>
            </a:r>
          </a:p>
          <a:p>
            <a:r>
              <a:rPr lang="en-US" dirty="0"/>
              <a:t>Managers can see whether the project is progressing normally or repeatedly facing build failures.</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35</a:t>
            </a:fld>
            <a:endParaRPr lang="en-US"/>
          </a:p>
        </p:txBody>
      </p:sp>
    </p:spTree>
    <p:extLst>
      <p:ext uri="{BB962C8B-B14F-4D97-AF65-F5344CB8AC3E}">
        <p14:creationId xmlns:p14="http://schemas.microsoft.com/office/powerpoint/2010/main" val="113415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idea of this slide is that in </a:t>
            </a:r>
            <a:r>
              <a:rPr lang="en-US" b="1" dirty="0"/>
              <a:t>object-oriented software, testing cannot always focus on a single operation in isolation</a:t>
            </a:r>
            <a:r>
              <a:rPr lang="en-US" dirty="0"/>
              <a:t>, because methods and the state of a class are closely related.</a:t>
            </a:r>
          </a:p>
          <a:p>
            <a:r>
              <a:rPr lang="en-US" dirty="0"/>
              <a:t>Suppose we have a </a:t>
            </a:r>
            <a:r>
              <a:rPr lang="en-US" b="1" dirty="0" err="1"/>
              <a:t>BankAccount</a:t>
            </a:r>
            <a:r>
              <a:rPr lang="en-US" b="1" dirty="0"/>
              <a:t> class</a:t>
            </a:r>
            <a:r>
              <a:rPr lang="en-US" dirty="0"/>
              <a:t> with:</a:t>
            </a:r>
          </a:p>
          <a:p>
            <a:pPr lvl="0"/>
            <a:r>
              <a:rPr lang="en-US" sz="1200" kern="1200" dirty="0">
                <a:solidFill>
                  <a:schemeClr val="tx1"/>
                </a:solidFill>
                <a:latin typeface="+mn-lt"/>
                <a:ea typeface="+mn-ea"/>
                <a:cs typeface="+mn-cs"/>
              </a:rPr>
              <a:t>deposit()</a:t>
            </a:r>
            <a:endParaRPr lang="en-US" dirty="0"/>
          </a:p>
          <a:p>
            <a:pPr lvl="0"/>
            <a:r>
              <a:rPr lang="en-US" sz="1200" kern="1200" dirty="0">
                <a:solidFill>
                  <a:schemeClr val="tx1"/>
                </a:solidFill>
                <a:latin typeface="+mn-lt"/>
                <a:ea typeface="+mn-ea"/>
                <a:cs typeface="+mn-cs"/>
              </a:rPr>
              <a:t>withdraw()</a:t>
            </a:r>
            <a:endParaRPr lang="en-US" dirty="0"/>
          </a:p>
          <a:p>
            <a:pPr lvl="0"/>
            <a:r>
              <a:rPr lang="en-US" sz="1200" kern="1200" dirty="0" err="1">
                <a:solidFill>
                  <a:schemeClr val="tx1"/>
                </a:solidFill>
                <a:latin typeface="+mn-lt"/>
                <a:ea typeface="+mn-ea"/>
                <a:cs typeface="+mn-cs"/>
              </a:rPr>
              <a:t>checkBalance</a:t>
            </a:r>
            <a:r>
              <a:rPr lang="en-US" sz="1200" kern="1200" dirty="0">
                <a:solidFill>
                  <a:schemeClr val="tx1"/>
                </a:solidFill>
                <a:latin typeface="+mn-lt"/>
                <a:ea typeface="+mn-ea"/>
                <a:cs typeface="+mn-cs"/>
              </a:rPr>
              <a:t>()</a:t>
            </a:r>
            <a:endParaRPr lang="en-US" dirty="0"/>
          </a:p>
          <a:p>
            <a:r>
              <a:rPr lang="en-US" dirty="0"/>
              <a:t>Testing only the </a:t>
            </a:r>
            <a:r>
              <a:rPr lang="en-US" sz="1200" kern="1200" dirty="0">
                <a:solidFill>
                  <a:schemeClr val="tx1"/>
                </a:solidFill>
                <a:latin typeface="+mn-lt"/>
                <a:ea typeface="+mn-ea"/>
                <a:cs typeface="+mn-cs"/>
              </a:rPr>
              <a:t>withdraw()</a:t>
            </a:r>
            <a:r>
              <a:rPr lang="en-US" dirty="0"/>
              <a:t> method is not always enough because its behavior depends on the current </a:t>
            </a:r>
            <a:r>
              <a:rPr lang="en-US" b="1" dirty="0"/>
              <a:t>state</a:t>
            </a:r>
            <a:r>
              <a:rPr lang="en-US" dirty="0"/>
              <a:t> of the object, such as the account balance.</a:t>
            </a:r>
          </a:p>
          <a:p>
            <a:endParaRPr lang="en-US" dirty="0"/>
          </a:p>
          <a:p>
            <a:r>
              <a:rPr lang="en-US" dirty="0"/>
              <a:t>Example:</a:t>
            </a:r>
          </a:p>
          <a:p>
            <a:pPr lvl="0"/>
            <a:r>
              <a:rPr lang="en-US" dirty="0"/>
              <a:t>Initial balance = 1000</a:t>
            </a:r>
          </a:p>
          <a:p>
            <a:pPr lvl="0"/>
            <a:r>
              <a:rPr lang="en-US" sz="1200" kern="1200" dirty="0">
                <a:solidFill>
                  <a:schemeClr val="tx1"/>
                </a:solidFill>
                <a:latin typeface="+mn-lt"/>
                <a:ea typeface="+mn-ea"/>
                <a:cs typeface="+mn-cs"/>
              </a:rPr>
              <a:t>withdraw(500)</a:t>
            </a:r>
            <a:r>
              <a:rPr lang="en-US" dirty="0"/>
              <a:t> → balance becomes 500</a:t>
            </a:r>
          </a:p>
          <a:p>
            <a:pPr lvl="0"/>
            <a:r>
              <a:rPr lang="en-US" sz="1200" kern="1200" dirty="0">
                <a:solidFill>
                  <a:schemeClr val="tx1"/>
                </a:solidFill>
                <a:latin typeface="+mn-lt"/>
                <a:ea typeface="+mn-ea"/>
                <a:cs typeface="+mn-cs"/>
              </a:rPr>
              <a:t>withdraw(700)</a:t>
            </a:r>
            <a:r>
              <a:rPr lang="en-US" dirty="0"/>
              <a:t> → insufficient balance condition occurs</a:t>
            </a:r>
          </a:p>
          <a:p>
            <a:r>
              <a:rPr lang="en-US" dirty="0"/>
              <a:t>So, we must test both the operations and the changing state of the class.</a:t>
            </a:r>
          </a:p>
          <a:p>
            <a:r>
              <a:rPr lang="en-US" dirty="0"/>
              <a:t>Object-oriented system-এ classes </a:t>
            </a:r>
            <a:r>
              <a:rPr lang="en-US" dirty="0" err="1"/>
              <a:t>অনেক</a:t>
            </a:r>
            <a:r>
              <a:rPr lang="en-US" dirty="0"/>
              <a:t> </a:t>
            </a:r>
            <a:r>
              <a:rPr lang="en-US" dirty="0" err="1"/>
              <a:t>সময়</a:t>
            </a:r>
            <a:r>
              <a:rPr lang="en-US" dirty="0"/>
              <a:t> inheritance, composition, collaboration </a:t>
            </a:r>
            <a:r>
              <a:rPr lang="en-US" dirty="0" err="1"/>
              <a:t>দিয়ে</a:t>
            </a:r>
            <a:r>
              <a:rPr lang="en-US" dirty="0"/>
              <a:t> connected </a:t>
            </a:r>
            <a:r>
              <a:rPr lang="en-US" dirty="0" err="1"/>
              <a:t>থাকে</a:t>
            </a:r>
            <a:r>
              <a:rPr lang="en-US" dirty="0"/>
              <a:t>। </a:t>
            </a:r>
            <a:r>
              <a:rPr lang="en-US" dirty="0" err="1"/>
              <a:t>তাই</a:t>
            </a:r>
            <a:r>
              <a:rPr lang="en-US" dirty="0"/>
              <a:t> </a:t>
            </a:r>
            <a:r>
              <a:rPr lang="en-US" dirty="0" err="1"/>
              <a:t>শুধু</a:t>
            </a:r>
            <a:r>
              <a:rPr lang="en-US" dirty="0"/>
              <a:t> hierarchy </a:t>
            </a:r>
            <a:r>
              <a:rPr lang="en-US" dirty="0" err="1"/>
              <a:t>ধরে</a:t>
            </a:r>
            <a:r>
              <a:rPr lang="en-US" dirty="0"/>
              <a:t> top-down </a:t>
            </a:r>
            <a:r>
              <a:rPr lang="en-US" dirty="0" err="1"/>
              <a:t>বা</a:t>
            </a:r>
            <a:r>
              <a:rPr lang="en-US" dirty="0"/>
              <a:t> bottom-up integration </a:t>
            </a:r>
            <a:r>
              <a:rPr lang="en-US" dirty="0" err="1"/>
              <a:t>সবসময়</a:t>
            </a:r>
            <a:r>
              <a:rPr lang="en-US" dirty="0"/>
              <a:t> natural </a:t>
            </a:r>
            <a:r>
              <a:rPr lang="en-US" dirty="0" err="1"/>
              <a:t>না</a:t>
            </a:r>
            <a:r>
              <a:rPr lang="en-US" dirty="0"/>
              <a:t>।</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36</a:t>
            </a:fld>
            <a:endParaRPr lang="en-US"/>
          </a:p>
        </p:txBody>
      </p:sp>
    </p:spTree>
    <p:extLst>
      <p:ext uri="{BB962C8B-B14F-4D97-AF65-F5344CB8AC3E}">
        <p14:creationId xmlns:p14="http://schemas.microsoft.com/office/powerpoint/2010/main" val="3181828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Thread-based testing</a:t>
            </a:r>
          </a:p>
          <a:p>
            <a:r>
              <a:rPr lang="en-US" dirty="0"/>
              <a:t>In this approach, all classes required to respond to a </a:t>
            </a:r>
            <a:r>
              <a:rPr lang="en-US" b="1" dirty="0"/>
              <a:t>single event or user action</a:t>
            </a:r>
            <a:r>
              <a:rPr lang="en-US" dirty="0"/>
              <a:t> are integrated and tested together.</a:t>
            </a:r>
          </a:p>
          <a:p>
            <a:r>
              <a:rPr lang="en-US" dirty="0"/>
              <a:t>Example: In a food delivery app, when a user clicks </a:t>
            </a:r>
            <a:r>
              <a:rPr lang="en-US" b="1" dirty="0"/>
              <a:t>“Place Order”</a:t>
            </a:r>
            <a:r>
              <a:rPr lang="en-US" dirty="0"/>
              <a:t>, the system may use:</a:t>
            </a:r>
          </a:p>
          <a:p>
            <a:r>
              <a:rPr lang="en-US" sz="1200" kern="1200" dirty="0" err="1">
                <a:solidFill>
                  <a:schemeClr val="tx1"/>
                </a:solidFill>
                <a:latin typeface="+mn-lt"/>
                <a:ea typeface="+mn-ea"/>
                <a:cs typeface="+mn-cs"/>
              </a:rPr>
              <a:t>OrderClass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PaymentClass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RestaurantClass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NotificationClass</a:t>
            </a:r>
            <a:endParaRPr lang="en-US" dirty="0"/>
          </a:p>
          <a:p>
            <a:r>
              <a:rPr lang="en-US" dirty="0"/>
              <a:t>This complete chain is tested as one </a:t>
            </a:r>
            <a:r>
              <a:rPr lang="en-US" b="1" dirty="0"/>
              <a:t>thread</a:t>
            </a:r>
            <a:r>
              <a:rPr lang="en-US" dirty="0"/>
              <a:t>.</a:t>
            </a:r>
          </a:p>
          <a:p>
            <a:r>
              <a:rPr lang="en-US" dirty="0"/>
              <a:t>Another event, such as </a:t>
            </a:r>
            <a:r>
              <a:rPr lang="en-US" b="1" dirty="0"/>
              <a:t>Cancel Order (</a:t>
            </a:r>
            <a:r>
              <a:rPr lang="en-US" sz="1200" kern="1200" dirty="0">
                <a:solidFill>
                  <a:schemeClr val="tx1"/>
                </a:solidFill>
                <a:latin typeface="+mn-lt"/>
                <a:ea typeface="+mn-ea"/>
                <a:cs typeface="+mn-cs"/>
              </a:rPr>
              <a:t>Cancel Order → </a:t>
            </a:r>
            <a:r>
              <a:rPr lang="en-US" sz="1200" kern="1200" dirty="0" err="1">
                <a:solidFill>
                  <a:schemeClr val="tx1"/>
                </a:solidFill>
                <a:latin typeface="+mn-lt"/>
                <a:ea typeface="+mn-ea"/>
                <a:cs typeface="+mn-cs"/>
              </a:rPr>
              <a:t>OrderClass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RefundClass</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NotificationClass</a:t>
            </a:r>
            <a:r>
              <a:rPr lang="en-US" sz="1200" kern="1200" dirty="0">
                <a:solidFill>
                  <a:schemeClr val="tx1"/>
                </a:solidFill>
                <a:latin typeface="+mn-lt"/>
                <a:ea typeface="+mn-ea"/>
                <a:cs typeface="+mn-cs"/>
              </a:rPr>
              <a:t>) </a:t>
            </a:r>
            <a:r>
              <a:rPr lang="en-US" dirty="0"/>
              <a:t>, forms another thread and is tested separately.</a:t>
            </a:r>
          </a:p>
          <a:p>
            <a:r>
              <a:rPr lang="en-US" dirty="0"/>
              <a:t>After testing individual threads, </a:t>
            </a:r>
            <a:r>
              <a:rPr lang="en-US" b="1" dirty="0"/>
              <a:t>regression testing</a:t>
            </a:r>
            <a:r>
              <a:rPr lang="en-US" dirty="0"/>
              <a:t> is used to ensure that adding or changing one thread does not break previously working threads.</a:t>
            </a:r>
          </a:p>
          <a:p>
            <a:endParaRPr lang="en-US" dirty="0"/>
          </a:p>
          <a:p>
            <a:r>
              <a:rPr lang="en-US" b="1" dirty="0"/>
              <a:t>Use-Based testing</a:t>
            </a:r>
          </a:p>
          <a:p>
            <a:r>
              <a:rPr lang="en-US" dirty="0"/>
              <a:t>In this approach, the system first tests </a:t>
            </a:r>
            <a:r>
              <a:rPr lang="en-US" b="1" dirty="0"/>
              <a:t>independent classes</a:t>
            </a:r>
            <a:r>
              <a:rPr lang="en-US" dirty="0"/>
              <a:t> that depend on very few other classes.</a:t>
            </a:r>
          </a:p>
          <a:p>
            <a:r>
              <a:rPr lang="en-US" dirty="0"/>
              <a:t>Example:</a:t>
            </a:r>
          </a:p>
          <a:p>
            <a:r>
              <a:rPr lang="en-US" dirty="0"/>
              <a:t>In an e-commerce system:</a:t>
            </a:r>
          </a:p>
          <a:p>
            <a:pPr lvl="0"/>
            <a:r>
              <a:rPr lang="en-US" sz="1200" kern="1200" dirty="0">
                <a:solidFill>
                  <a:schemeClr val="tx1"/>
                </a:solidFill>
                <a:latin typeface="+mn-lt"/>
                <a:ea typeface="+mn-ea"/>
                <a:cs typeface="+mn-cs"/>
              </a:rPr>
              <a:t>Product</a:t>
            </a:r>
            <a:endParaRPr lang="en-US" dirty="0"/>
          </a:p>
          <a:p>
            <a:pPr lvl="0"/>
            <a:r>
              <a:rPr lang="en-US" sz="1200" kern="1200" dirty="0" err="1">
                <a:solidFill>
                  <a:schemeClr val="tx1"/>
                </a:solidFill>
                <a:latin typeface="+mn-lt"/>
                <a:ea typeface="+mn-ea"/>
                <a:cs typeface="+mn-cs"/>
              </a:rPr>
              <a:t>PriceCalculator</a:t>
            </a:r>
            <a:endParaRPr lang="en-US" dirty="0"/>
          </a:p>
          <a:p>
            <a:pPr lvl="0"/>
            <a:r>
              <a:rPr lang="en-US" sz="1200" kern="1200" dirty="0">
                <a:solidFill>
                  <a:schemeClr val="tx1"/>
                </a:solidFill>
                <a:latin typeface="+mn-lt"/>
                <a:ea typeface="+mn-ea"/>
                <a:cs typeface="+mn-cs"/>
              </a:rPr>
              <a:t>Inventory</a:t>
            </a:r>
            <a:endParaRPr lang="en-US" dirty="0"/>
          </a:p>
          <a:p>
            <a:pPr lvl="0"/>
            <a:r>
              <a:rPr lang="en-US" sz="1200" kern="1200" dirty="0">
                <a:solidFill>
                  <a:schemeClr val="tx1"/>
                </a:solidFill>
                <a:latin typeface="+mn-lt"/>
                <a:ea typeface="+mn-ea"/>
                <a:cs typeface="+mn-cs"/>
              </a:rPr>
              <a:t>Cart</a:t>
            </a:r>
            <a:endParaRPr lang="en-US" dirty="0"/>
          </a:p>
          <a:p>
            <a:pPr lvl="0"/>
            <a:r>
              <a:rPr lang="en-US" sz="1200" kern="1200" dirty="0">
                <a:solidFill>
                  <a:schemeClr val="tx1"/>
                </a:solidFill>
                <a:latin typeface="+mn-lt"/>
                <a:ea typeface="+mn-ea"/>
                <a:cs typeface="+mn-cs"/>
              </a:rPr>
              <a:t>Order</a:t>
            </a:r>
            <a:endParaRPr lang="en-US" dirty="0"/>
          </a:p>
          <a:p>
            <a:r>
              <a:rPr lang="en-US" sz="1200" kern="1200" dirty="0">
                <a:solidFill>
                  <a:schemeClr val="tx1"/>
                </a:solidFill>
                <a:latin typeface="+mn-lt"/>
                <a:ea typeface="+mn-ea"/>
                <a:cs typeface="+mn-cs"/>
              </a:rPr>
              <a:t>Product</a:t>
            </a:r>
            <a:r>
              <a:rPr lang="en-US" dirty="0"/>
              <a:t> and </a:t>
            </a:r>
            <a:r>
              <a:rPr lang="en-US" sz="1200" kern="1200" dirty="0" err="1">
                <a:solidFill>
                  <a:schemeClr val="tx1"/>
                </a:solidFill>
                <a:latin typeface="+mn-lt"/>
                <a:ea typeface="+mn-ea"/>
                <a:cs typeface="+mn-cs"/>
              </a:rPr>
              <a:t>PriceCalculator</a:t>
            </a:r>
            <a:r>
              <a:rPr lang="en-US" dirty="0"/>
              <a:t> are tested first.</a:t>
            </a:r>
          </a:p>
          <a:p>
            <a:r>
              <a:rPr lang="en-US" dirty="0"/>
              <a:t>Then dependent classes are added:</a:t>
            </a:r>
          </a:p>
          <a:p>
            <a:r>
              <a:rPr lang="en-US" sz="1200" kern="1200" dirty="0">
                <a:solidFill>
                  <a:schemeClr val="tx1"/>
                </a:solidFill>
                <a:latin typeface="+mn-lt"/>
                <a:ea typeface="+mn-ea"/>
                <a:cs typeface="+mn-cs"/>
              </a:rPr>
              <a:t>Cart</a:t>
            </a:r>
            <a:r>
              <a:rPr lang="en-US" dirty="0"/>
              <a:t> depends on Product + </a:t>
            </a:r>
            <a:r>
              <a:rPr lang="en-US" dirty="0" err="1"/>
              <a:t>PriceCalculator</a:t>
            </a:r>
            <a:endParaRPr lang="en-US" dirty="0"/>
          </a:p>
          <a:p>
            <a:r>
              <a:rPr lang="en-US" dirty="0"/>
              <a:t>Then:</a:t>
            </a:r>
          </a:p>
          <a:p>
            <a:r>
              <a:rPr lang="en-US" sz="1200" kern="1200" dirty="0">
                <a:solidFill>
                  <a:schemeClr val="tx1"/>
                </a:solidFill>
                <a:latin typeface="+mn-lt"/>
                <a:ea typeface="+mn-ea"/>
                <a:cs typeface="+mn-cs"/>
              </a:rPr>
              <a:t>Order</a:t>
            </a:r>
            <a:r>
              <a:rPr lang="en-US" dirty="0"/>
              <a:t> depends on Cart + Inventory</a:t>
            </a:r>
          </a:p>
          <a:p>
            <a:r>
              <a:rPr lang="en-US" dirty="0"/>
              <a:t>This continues layer by layer until the full system is constructed.</a:t>
            </a:r>
          </a:p>
          <a:p>
            <a:endParaRPr lang="en-US" dirty="0"/>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38</a:t>
            </a:fld>
            <a:endParaRPr lang="en-US"/>
          </a:p>
        </p:txBody>
      </p:sp>
    </p:spTree>
    <p:extLst>
      <p:ext uri="{BB962C8B-B14F-4D97-AF65-F5344CB8AC3E}">
        <p14:creationId xmlns:p14="http://schemas.microsoft.com/office/powerpoint/2010/main" val="2565832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alpha testing, the software is given to selected real users in their </a:t>
            </a:r>
            <a:r>
              <a:rPr lang="en-US" b="1" dirty="0"/>
              <a:t>own real environment</a:t>
            </a:r>
            <a:r>
              <a:rPr lang="en-US" dirty="0"/>
              <a:t>.</a:t>
            </a:r>
          </a:p>
          <a:p>
            <a:r>
              <a:rPr lang="en-US" dirty="0"/>
              <a:t>The developer is usually not present.</a:t>
            </a:r>
          </a:p>
          <a:p>
            <a:r>
              <a:rPr lang="en-US" dirty="0"/>
              <a:t>Example:</a:t>
            </a:r>
          </a:p>
          <a:p>
            <a:r>
              <a:rPr lang="en-US" dirty="0"/>
              <a:t>The Mobile Banking App is given to 500 selected customers.</a:t>
            </a:r>
          </a:p>
          <a:p>
            <a:r>
              <a:rPr lang="en-US" dirty="0"/>
              <a:t>They use it on:</a:t>
            </a:r>
          </a:p>
          <a:p>
            <a:pPr lvl="0"/>
            <a:r>
              <a:rPr lang="en-US" dirty="0"/>
              <a:t>different Android phones</a:t>
            </a:r>
          </a:p>
          <a:p>
            <a:pPr lvl="0"/>
            <a:r>
              <a:rPr lang="en-US" dirty="0"/>
              <a:t>different network speeds</a:t>
            </a:r>
          </a:p>
          <a:p>
            <a:pPr lvl="0"/>
            <a:r>
              <a:rPr lang="en-US" dirty="0"/>
              <a:t>different locations</a:t>
            </a:r>
          </a:p>
          <a:p>
            <a:pPr lvl="0"/>
            <a:r>
              <a:rPr lang="en-US" dirty="0"/>
              <a:t>different usage patterns</a:t>
            </a:r>
          </a:p>
          <a:p>
            <a:r>
              <a:rPr lang="en-US" dirty="0"/>
              <a:t>This may reveal problems that were not found in the developer’s controlled environment.</a:t>
            </a:r>
          </a:p>
          <a:p>
            <a:r>
              <a:rPr lang="en-US" dirty="0"/>
              <a:t>For example:</a:t>
            </a:r>
          </a:p>
          <a:p>
            <a:pPr lvl="0"/>
            <a:r>
              <a:rPr lang="en-US" dirty="0"/>
              <a:t>payment timeout on a slow network</a:t>
            </a:r>
          </a:p>
          <a:p>
            <a:pPr lvl="0"/>
            <a:r>
              <a:rPr lang="en-US" dirty="0"/>
              <a:t>app crash on a specific phone model</a:t>
            </a:r>
          </a:p>
          <a:p>
            <a:pPr lvl="0"/>
            <a:r>
              <a:rPr lang="en-US" dirty="0"/>
              <a:t>notifications not working on some devices</a:t>
            </a:r>
          </a:p>
          <a:p>
            <a:r>
              <a:rPr lang="en-US" dirty="0"/>
              <a:t>Users report these problems. Developers then make final changes and prepare the software for full release.</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40</a:t>
            </a:fld>
            <a:endParaRPr lang="en-US"/>
          </a:p>
        </p:txBody>
      </p:sp>
    </p:spTree>
    <p:extLst>
      <p:ext uri="{BB962C8B-B14F-4D97-AF65-F5344CB8AC3E}">
        <p14:creationId xmlns:p14="http://schemas.microsoft.com/office/powerpoint/2010/main" val="2563781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Performance Testing</a:t>
            </a:r>
            <a:r>
              <a:rPr lang="en-US" dirty="0"/>
              <a:t> checks how fast, stable, and efficient the software is while it is running.</a:t>
            </a:r>
          </a:p>
          <a:p>
            <a:r>
              <a:rPr lang="en-US" dirty="0"/>
              <a:t>It mainly measures:</a:t>
            </a:r>
          </a:p>
          <a:p>
            <a:pPr lvl="0"/>
            <a:r>
              <a:rPr lang="en-US" dirty="0"/>
              <a:t>response time</a:t>
            </a:r>
          </a:p>
          <a:p>
            <a:pPr lvl="0"/>
            <a:r>
              <a:rPr lang="en-US" dirty="0"/>
              <a:t>number of users the system can handle</a:t>
            </a:r>
          </a:p>
          <a:p>
            <a:pPr lvl="0"/>
            <a:r>
              <a:rPr lang="en-US" dirty="0"/>
              <a:t>CPU and memory usage</a:t>
            </a:r>
          </a:p>
          <a:p>
            <a:pPr lvl="0"/>
            <a:r>
              <a:rPr lang="en-US" dirty="0"/>
              <a:t>whether the system becomes slow as the load increases</a:t>
            </a:r>
          </a:p>
          <a:p>
            <a:r>
              <a:rPr lang="en-US" b="1" dirty="0"/>
              <a:t>Standard example</a:t>
            </a:r>
          </a:p>
          <a:p>
            <a:r>
              <a:rPr lang="en-US" dirty="0"/>
              <a:t>Suppose 10,000 users use an </a:t>
            </a:r>
            <a:r>
              <a:rPr lang="en-US" b="1" dirty="0"/>
              <a:t>online banking app</a:t>
            </a:r>
            <a:r>
              <a:rPr lang="en-US" dirty="0"/>
              <a:t> at the same time to log in and check their balances.</a:t>
            </a:r>
          </a:p>
          <a:p>
            <a:r>
              <a:rPr lang="en-US" dirty="0"/>
              <a:t>Performance testing measures:</a:t>
            </a:r>
          </a:p>
          <a:p>
            <a:pPr lvl="0"/>
            <a:r>
              <a:rPr lang="en-US" dirty="0"/>
              <a:t>whether login responds within 2 seconds</a:t>
            </a:r>
          </a:p>
          <a:p>
            <a:pPr lvl="0"/>
            <a:r>
              <a:rPr lang="en-US" dirty="0"/>
              <a:t>whether the balance page loads quickly</a:t>
            </a:r>
          </a:p>
          <a:p>
            <a:pPr lvl="0"/>
            <a:r>
              <a:rPr lang="en-US" dirty="0"/>
              <a:t>whether CPU and memory usage remain acceptable</a:t>
            </a:r>
          </a:p>
          <a:p>
            <a:pPr lvl="0"/>
            <a:r>
              <a:rPr lang="en-US" dirty="0"/>
              <a:t>whether the system becomes slow or crashes</a:t>
            </a:r>
          </a:p>
          <a:p>
            <a:endParaRPr lang="en-US" dirty="0"/>
          </a:p>
        </p:txBody>
      </p:sp>
      <p:sp>
        <p:nvSpPr>
          <p:cNvPr id="4" name="Slide Number Placeholder 3"/>
          <p:cNvSpPr>
            <a:spLocks noGrp="1"/>
          </p:cNvSpPr>
          <p:nvPr>
            <p:ph type="sldNum" sz="quarter" idx="5"/>
          </p:nvPr>
        </p:nvSpPr>
        <p:spPr/>
        <p:txBody>
          <a:bodyPr/>
          <a:lstStyle/>
          <a:p>
            <a:fld id="{30B83AAB-AB0E-2440-AE7B-FF06EF35E522}" type="slidenum">
              <a:rPr lang="en-US" smtClean="0"/>
              <a:t>42</a:t>
            </a:fld>
            <a:endParaRPr lang="en-US"/>
          </a:p>
        </p:txBody>
      </p:sp>
    </p:spTree>
    <p:extLst>
      <p:ext uri="{BB962C8B-B14F-4D97-AF65-F5344CB8AC3E}">
        <p14:creationId xmlns:p14="http://schemas.microsoft.com/office/powerpoint/2010/main" val="3368348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7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9" name="Text Placeholder 18">
            <a:extLst>
              <a:ext uri="{FF2B5EF4-FFF2-40B4-BE49-F238E27FC236}">
                <a16:creationId xmlns:a16="http://schemas.microsoft.com/office/drawing/2014/main" id="{27EA3634-A0B8-8A08-E4F8-CEE3CE1D7919}"/>
              </a:ext>
            </a:extLst>
          </p:cNvPr>
          <p:cNvSpPr>
            <a:spLocks noGrp="1"/>
          </p:cNvSpPr>
          <p:nvPr>
            <p:ph type="body" sz="quarter" idx="10"/>
          </p:nvPr>
        </p:nvSpPr>
        <p:spPr>
          <a:xfrm>
            <a:off x="1660525" y="2176463"/>
            <a:ext cx="8159750" cy="3335337"/>
          </a:xfrm>
          <a:prstGeom prst="rect">
            <a:avLst/>
          </a:prstGeom>
        </p:spPr>
        <p:txBody>
          <a:bodyPr/>
          <a:lstStyle>
            <a:lvl1pPr>
              <a:spcAft>
                <a:spcPts val="700"/>
              </a:spcAft>
              <a:defRPr sz="2000" b="0" i="0">
                <a:latin typeface="Ubuntu" panose="020B0504030602030204" pitchFamily="34" charset="0"/>
              </a:defRPr>
            </a:lvl1pPr>
            <a:lvl2pPr>
              <a:spcAft>
                <a:spcPts val="700"/>
              </a:spcAft>
              <a:defRPr sz="2000" b="0" i="0">
                <a:latin typeface="Ubuntu" panose="020B0504030602030204" pitchFamily="34" charset="0"/>
              </a:defRPr>
            </a:lvl2pPr>
            <a:lvl3pPr>
              <a:spcAft>
                <a:spcPts val="700"/>
              </a:spcAft>
              <a:defRPr sz="2000" b="0" i="0">
                <a:latin typeface="Ubuntu" panose="020B0504030602030204" pitchFamily="34" charset="0"/>
              </a:defRPr>
            </a:lvl3pPr>
            <a:lvl4pPr>
              <a:spcAft>
                <a:spcPts val="700"/>
              </a:spcAft>
              <a:defRPr sz="2000" b="0" i="0">
                <a:latin typeface="Ubuntu" panose="020B0504030602030204" pitchFamily="34" charset="0"/>
              </a:defRPr>
            </a:lvl4pPr>
            <a:lvl5pPr>
              <a:spcAft>
                <a:spcPts val="700"/>
              </a:spcAft>
              <a:defRPr sz="2000" b="0" i="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9">
            <a:extLst>
              <a:ext uri="{FF2B5EF4-FFF2-40B4-BE49-F238E27FC236}">
                <a16:creationId xmlns:a16="http://schemas.microsoft.com/office/drawing/2014/main" id="{E739AF72-2009-581E-0C59-475BA37EF9A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88716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8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9" name="Text Placeholder 18">
            <a:extLst>
              <a:ext uri="{FF2B5EF4-FFF2-40B4-BE49-F238E27FC236}">
                <a16:creationId xmlns:a16="http://schemas.microsoft.com/office/drawing/2014/main" id="{27EA3634-A0B8-8A08-E4F8-CEE3CE1D7919}"/>
              </a:ext>
            </a:extLst>
          </p:cNvPr>
          <p:cNvSpPr>
            <a:spLocks noGrp="1"/>
          </p:cNvSpPr>
          <p:nvPr>
            <p:ph type="body" sz="quarter" idx="10"/>
          </p:nvPr>
        </p:nvSpPr>
        <p:spPr>
          <a:xfrm>
            <a:off x="2808377" y="3148526"/>
            <a:ext cx="6462913" cy="2005296"/>
          </a:xfrm>
          <a:prstGeom prst="rect">
            <a:avLst/>
          </a:prstGeom>
        </p:spPr>
        <p:txBody>
          <a:bodyPr/>
          <a:lstStyle>
            <a:lvl1pPr>
              <a:defRPr b="0" i="0">
                <a:latin typeface="Ubuntu" panose="020B0504030602030204" pitchFamily="34" charset="0"/>
              </a:defRPr>
            </a:lvl1pPr>
            <a:lvl2pPr>
              <a:defRPr b="0" i="0">
                <a:latin typeface="Ubuntu" panose="020B0504030602030204" pitchFamily="34" charset="0"/>
              </a:defRPr>
            </a:lvl2pPr>
            <a:lvl3pPr>
              <a:defRPr b="0" i="0">
                <a:latin typeface="Ubuntu" panose="020B0504030602030204" pitchFamily="34" charset="0"/>
              </a:defRPr>
            </a:lvl3pPr>
            <a:lvl4pPr>
              <a:defRPr b="0" i="0">
                <a:latin typeface="Ubuntu" panose="020B0504030602030204" pitchFamily="34" charset="0"/>
              </a:defRPr>
            </a:lvl4pPr>
            <a:lvl5pPr>
              <a:defRPr b="0" i="0">
                <a:latin typeface="Ubuntu" panose="020B05040306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itle 19">
            <a:extLst>
              <a:ext uri="{FF2B5EF4-FFF2-40B4-BE49-F238E27FC236}">
                <a16:creationId xmlns:a16="http://schemas.microsoft.com/office/drawing/2014/main" id="{E739AF72-2009-581E-0C59-475BA37EF9A8}"/>
              </a:ext>
            </a:extLst>
          </p:cNvPr>
          <p:cNvSpPr>
            <a:spLocks noGrp="1"/>
          </p:cNvSpPr>
          <p:nvPr>
            <p:ph type="title"/>
          </p:nvPr>
        </p:nvSpPr>
        <p:spPr>
          <a:xfrm>
            <a:off x="2101227" y="2113942"/>
            <a:ext cx="7887745" cy="71644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854185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24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6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FDD7E13-2EB9-CFA9-FF7B-3F323B2FE586}"/>
              </a:ext>
            </a:extLst>
          </p:cNvPr>
          <p:cNvSpPr>
            <a:spLocks noGrp="1"/>
          </p:cNvSpPr>
          <p:nvPr>
            <p:ph type="pic" sz="quarter" idx="10"/>
          </p:nvPr>
        </p:nvSpPr>
        <p:spPr>
          <a:xfrm>
            <a:off x="768350" y="320675"/>
            <a:ext cx="5613400" cy="6537325"/>
          </a:xfrm>
          <a:prstGeom prst="rect">
            <a:avLst/>
          </a:prstGeom>
        </p:spPr>
        <p:txBody>
          <a:bodyPr/>
          <a:lstStyle/>
          <a:p>
            <a:r>
              <a:rPr lang="en-US"/>
              <a:t>Click icon to add picture</a:t>
            </a:r>
          </a:p>
        </p:txBody>
      </p:sp>
    </p:spTree>
    <p:extLst>
      <p:ext uri="{BB962C8B-B14F-4D97-AF65-F5344CB8AC3E}">
        <p14:creationId xmlns:p14="http://schemas.microsoft.com/office/powerpoint/2010/main" val="762422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5_Custom Layout">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3A9600-3DBD-CE7C-EA30-FD3FAD264B2E}"/>
              </a:ext>
            </a:extLst>
          </p:cNvPr>
          <p:cNvSpPr txBox="1"/>
          <p:nvPr/>
        </p:nvSpPr>
        <p:spPr>
          <a:xfrm>
            <a:off x="241300" y="6360139"/>
            <a:ext cx="2416175" cy="230832"/>
          </a:xfrm>
          <a:prstGeom prst="rect">
            <a:avLst/>
          </a:prstGeom>
          <a:noFill/>
        </p:spPr>
        <p:txBody>
          <a:bodyPr wrap="square" anchor="ctr">
            <a:spAutoFit/>
          </a:bodyPr>
          <a:lstStyle/>
          <a:p>
            <a:pPr algn="l">
              <a:spcAft>
                <a:spcPts val="600"/>
              </a:spcAft>
            </a:pPr>
            <a:r>
              <a:rPr lang="en-US" sz="900" b="1">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BizPlus.</a:t>
            </a:r>
            <a:r>
              <a:rPr lang="en-US" sz="900">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  </a:t>
            </a:r>
            <a:r>
              <a:rPr lang="en-US" sz="90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Business</a:t>
            </a:r>
            <a:r>
              <a:rPr lang="en-US" sz="900" baseline="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Template Presentation</a:t>
            </a:r>
            <a:endParaRPr lang="en-ID" sz="900" dirty="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endParaRPr>
          </a:p>
        </p:txBody>
      </p:sp>
      <p:sp>
        <p:nvSpPr>
          <p:cNvPr id="4" name="TextBox 3">
            <a:extLst>
              <a:ext uri="{FF2B5EF4-FFF2-40B4-BE49-F238E27FC236}">
                <a16:creationId xmlns:a16="http://schemas.microsoft.com/office/drawing/2014/main" id="{6DCD6B6D-BC34-D58F-F93D-6915A31B6D0E}"/>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bg1"/>
                </a:solidFill>
                <a:latin typeface="+mn-lt"/>
                <a:ea typeface="Inter SemiBold" panose="020B0502030000000004" pitchFamily="34" charset="0"/>
              </a:rPr>
              <a:t>/ </a:t>
            </a:r>
            <a:fld id="{49BA30FB-CA1F-46F2-A2CB-DF7CFB533C33}" type="slidenum">
              <a:rPr lang="en-ID" sz="900" smtClean="0">
                <a:solidFill>
                  <a:schemeClr val="bg1"/>
                </a:solidFill>
                <a:latin typeface="+mn-lt"/>
                <a:ea typeface="Inter SemiBold" panose="020B0502030000000004" pitchFamily="34" charset="0"/>
              </a:rPr>
              <a:pPr algn="ctr"/>
              <a:t>‹#›</a:t>
            </a:fld>
            <a:endParaRPr lang="en-ID" sz="900" dirty="0">
              <a:solidFill>
                <a:schemeClr val="bg1"/>
              </a:solidFill>
              <a:latin typeface="+mn-lt"/>
              <a:ea typeface="Inter SemiBold" panose="020B0502030000000004" pitchFamily="34" charset="0"/>
            </a:endParaRPr>
          </a:p>
        </p:txBody>
      </p:sp>
    </p:spTree>
    <p:extLst>
      <p:ext uri="{BB962C8B-B14F-4D97-AF65-F5344CB8AC3E}">
        <p14:creationId xmlns:p14="http://schemas.microsoft.com/office/powerpoint/2010/main" val="1410704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4_Custom Layout">
    <p:spTree>
      <p:nvGrpSpPr>
        <p:cNvPr id="1" name=""/>
        <p:cNvGrpSpPr/>
        <p:nvPr/>
      </p:nvGrpSpPr>
      <p:grpSpPr>
        <a:xfrm>
          <a:off x="0" y="0"/>
          <a:ext cx="0" cy="0"/>
          <a:chOff x="0" y="0"/>
          <a:chExt cx="0" cy="0"/>
        </a:xfrm>
      </p:grpSpPr>
      <p:sp>
        <p:nvSpPr>
          <p:cNvPr id="3" name="Picture Placeholder 26">
            <a:extLst>
              <a:ext uri="{FF2B5EF4-FFF2-40B4-BE49-F238E27FC236}">
                <a16:creationId xmlns:a16="http://schemas.microsoft.com/office/drawing/2014/main" id="{33CED02E-4545-D316-1FEB-EC5A1FA71E33}"/>
              </a:ext>
            </a:extLst>
          </p:cNvPr>
          <p:cNvSpPr>
            <a:spLocks noGrp="1"/>
          </p:cNvSpPr>
          <p:nvPr>
            <p:ph type="pic" sz="quarter" idx="10"/>
          </p:nvPr>
        </p:nvSpPr>
        <p:spPr>
          <a:xfrm>
            <a:off x="6759575" y="1201738"/>
            <a:ext cx="6082547" cy="3819525"/>
          </a:xfrm>
          <a:prstGeom prst="rect">
            <a:avLst/>
          </a:prstGeom>
        </p:spPr>
        <p:txBody>
          <a:bodyPr/>
          <a:lstStyle/>
          <a:p>
            <a:r>
              <a:rPr lang="en-US"/>
              <a:t>Click icon to add picture</a:t>
            </a:r>
          </a:p>
        </p:txBody>
      </p:sp>
    </p:spTree>
    <p:extLst>
      <p:ext uri="{BB962C8B-B14F-4D97-AF65-F5344CB8AC3E}">
        <p14:creationId xmlns:p14="http://schemas.microsoft.com/office/powerpoint/2010/main" val="1620896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3_Custom Layout">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77DE9EF-6C34-BD29-8524-B195FF2FBD2B}"/>
              </a:ext>
            </a:extLst>
          </p:cNvPr>
          <p:cNvSpPr>
            <a:spLocks noGrp="1"/>
          </p:cNvSpPr>
          <p:nvPr>
            <p:ph type="pic" sz="quarter" idx="11" hasCustomPrompt="1"/>
          </p:nvPr>
        </p:nvSpPr>
        <p:spPr>
          <a:xfrm>
            <a:off x="-220045" y="-349101"/>
            <a:ext cx="2264569" cy="4924425"/>
          </a:xfrm>
          <a:custGeom>
            <a:avLst/>
            <a:gdLst>
              <a:gd name="connsiteX0" fmla="*/ 210741 w 2264569"/>
              <a:gd name="connsiteY0" fmla="*/ 0 h 4924425"/>
              <a:gd name="connsiteX1" fmla="*/ 538163 w 2264569"/>
              <a:gd name="connsiteY1" fmla="*/ 0 h 4924425"/>
              <a:gd name="connsiteX2" fmla="*/ 538163 w 2264569"/>
              <a:gd name="connsiteY2" fmla="*/ 85725 h 4924425"/>
              <a:gd name="connsiteX3" fmla="*/ 623889 w 2264569"/>
              <a:gd name="connsiteY3" fmla="*/ 171451 h 4924425"/>
              <a:gd name="connsiteX4" fmla="*/ 1640682 w 2264569"/>
              <a:gd name="connsiteY4" fmla="*/ 171452 h 4924425"/>
              <a:gd name="connsiteX5" fmla="*/ 1726407 w 2264569"/>
              <a:gd name="connsiteY5" fmla="*/ 85726 h 4924425"/>
              <a:gd name="connsiteX6" fmla="*/ 1726407 w 2264569"/>
              <a:gd name="connsiteY6" fmla="*/ 0 h 4924425"/>
              <a:gd name="connsiteX7" fmla="*/ 2053828 w 2264569"/>
              <a:gd name="connsiteY7" fmla="*/ 0 h 4924425"/>
              <a:gd name="connsiteX8" fmla="*/ 2264569 w 2264569"/>
              <a:gd name="connsiteY8" fmla="*/ 210741 h 4924425"/>
              <a:gd name="connsiteX9" fmla="*/ 2264569 w 2264569"/>
              <a:gd name="connsiteY9" fmla="*/ 4713684 h 4924425"/>
              <a:gd name="connsiteX10" fmla="*/ 2053828 w 2264569"/>
              <a:gd name="connsiteY10" fmla="*/ 4924425 h 4924425"/>
              <a:gd name="connsiteX11" fmla="*/ 210741 w 2264569"/>
              <a:gd name="connsiteY11" fmla="*/ 4924425 h 4924425"/>
              <a:gd name="connsiteX12" fmla="*/ 0 w 2264569"/>
              <a:gd name="connsiteY12" fmla="*/ 4713684 h 4924425"/>
              <a:gd name="connsiteX13" fmla="*/ 0 w 2264569"/>
              <a:gd name="connsiteY13" fmla="*/ 210741 h 4924425"/>
              <a:gd name="connsiteX14" fmla="*/ 210741 w 2264569"/>
              <a:gd name="connsiteY14" fmla="*/ 0 h 492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64569" h="4924425">
                <a:moveTo>
                  <a:pt x="210741" y="0"/>
                </a:moveTo>
                <a:lnTo>
                  <a:pt x="538163" y="0"/>
                </a:lnTo>
                <a:lnTo>
                  <a:pt x="538163" y="85725"/>
                </a:lnTo>
                <a:cubicBezTo>
                  <a:pt x="538163" y="133070"/>
                  <a:pt x="576544" y="171451"/>
                  <a:pt x="623889" y="171451"/>
                </a:cubicBezTo>
                <a:lnTo>
                  <a:pt x="1640682" y="171452"/>
                </a:lnTo>
                <a:cubicBezTo>
                  <a:pt x="1688026" y="171452"/>
                  <a:pt x="1726407" y="133071"/>
                  <a:pt x="1726407" y="85726"/>
                </a:cubicBezTo>
                <a:lnTo>
                  <a:pt x="1726407" y="0"/>
                </a:lnTo>
                <a:lnTo>
                  <a:pt x="2053828" y="0"/>
                </a:lnTo>
                <a:cubicBezTo>
                  <a:pt x="2170218" y="0"/>
                  <a:pt x="2264569" y="94352"/>
                  <a:pt x="2264569" y="210741"/>
                </a:cubicBezTo>
                <a:lnTo>
                  <a:pt x="2264569" y="4713684"/>
                </a:lnTo>
                <a:cubicBezTo>
                  <a:pt x="2264569" y="4830073"/>
                  <a:pt x="2170218" y="4924425"/>
                  <a:pt x="2053828" y="4924425"/>
                </a:cubicBezTo>
                <a:lnTo>
                  <a:pt x="210741" y="4924425"/>
                </a:lnTo>
                <a:cubicBezTo>
                  <a:pt x="94352" y="4924425"/>
                  <a:pt x="0" y="4830073"/>
                  <a:pt x="0" y="4713684"/>
                </a:cubicBezTo>
                <a:lnTo>
                  <a:pt x="0" y="210741"/>
                </a:lnTo>
                <a:cubicBezTo>
                  <a:pt x="0" y="94352"/>
                  <a:pt x="94352" y="0"/>
                  <a:pt x="210741"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7">
            <a:extLst>
              <a:ext uri="{FF2B5EF4-FFF2-40B4-BE49-F238E27FC236}">
                <a16:creationId xmlns:a16="http://schemas.microsoft.com/office/drawing/2014/main" id="{8CE34FD9-A0C7-6E4A-1BA9-F1178198FD81}"/>
              </a:ext>
            </a:extLst>
          </p:cNvPr>
          <p:cNvSpPr>
            <a:spLocks noGrp="1"/>
          </p:cNvSpPr>
          <p:nvPr>
            <p:ph type="pic" sz="quarter" idx="10" hasCustomPrompt="1"/>
          </p:nvPr>
        </p:nvSpPr>
        <p:spPr>
          <a:xfrm>
            <a:off x="2694705" y="971550"/>
            <a:ext cx="2264569" cy="4924425"/>
          </a:xfrm>
          <a:custGeom>
            <a:avLst/>
            <a:gdLst>
              <a:gd name="connsiteX0" fmla="*/ 210741 w 2264569"/>
              <a:gd name="connsiteY0" fmla="*/ 0 h 4924425"/>
              <a:gd name="connsiteX1" fmla="*/ 538163 w 2264569"/>
              <a:gd name="connsiteY1" fmla="*/ 0 h 4924425"/>
              <a:gd name="connsiteX2" fmla="*/ 538163 w 2264569"/>
              <a:gd name="connsiteY2" fmla="*/ 85725 h 4924425"/>
              <a:gd name="connsiteX3" fmla="*/ 623889 w 2264569"/>
              <a:gd name="connsiteY3" fmla="*/ 171451 h 4924425"/>
              <a:gd name="connsiteX4" fmla="*/ 1640682 w 2264569"/>
              <a:gd name="connsiteY4" fmla="*/ 171452 h 4924425"/>
              <a:gd name="connsiteX5" fmla="*/ 1726407 w 2264569"/>
              <a:gd name="connsiteY5" fmla="*/ 85726 h 4924425"/>
              <a:gd name="connsiteX6" fmla="*/ 1726407 w 2264569"/>
              <a:gd name="connsiteY6" fmla="*/ 0 h 4924425"/>
              <a:gd name="connsiteX7" fmla="*/ 2053828 w 2264569"/>
              <a:gd name="connsiteY7" fmla="*/ 0 h 4924425"/>
              <a:gd name="connsiteX8" fmla="*/ 2264569 w 2264569"/>
              <a:gd name="connsiteY8" fmla="*/ 210741 h 4924425"/>
              <a:gd name="connsiteX9" fmla="*/ 2264569 w 2264569"/>
              <a:gd name="connsiteY9" fmla="*/ 4713684 h 4924425"/>
              <a:gd name="connsiteX10" fmla="*/ 2053828 w 2264569"/>
              <a:gd name="connsiteY10" fmla="*/ 4924425 h 4924425"/>
              <a:gd name="connsiteX11" fmla="*/ 210741 w 2264569"/>
              <a:gd name="connsiteY11" fmla="*/ 4924425 h 4924425"/>
              <a:gd name="connsiteX12" fmla="*/ 0 w 2264569"/>
              <a:gd name="connsiteY12" fmla="*/ 4713684 h 4924425"/>
              <a:gd name="connsiteX13" fmla="*/ 0 w 2264569"/>
              <a:gd name="connsiteY13" fmla="*/ 210741 h 4924425"/>
              <a:gd name="connsiteX14" fmla="*/ 210741 w 2264569"/>
              <a:gd name="connsiteY14" fmla="*/ 0 h 492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64569" h="4924425">
                <a:moveTo>
                  <a:pt x="210741" y="0"/>
                </a:moveTo>
                <a:lnTo>
                  <a:pt x="538163" y="0"/>
                </a:lnTo>
                <a:lnTo>
                  <a:pt x="538163" y="85725"/>
                </a:lnTo>
                <a:cubicBezTo>
                  <a:pt x="538163" y="133070"/>
                  <a:pt x="576544" y="171451"/>
                  <a:pt x="623889" y="171451"/>
                </a:cubicBezTo>
                <a:lnTo>
                  <a:pt x="1640682" y="171452"/>
                </a:lnTo>
                <a:cubicBezTo>
                  <a:pt x="1688026" y="171452"/>
                  <a:pt x="1726407" y="133071"/>
                  <a:pt x="1726407" y="85726"/>
                </a:cubicBezTo>
                <a:lnTo>
                  <a:pt x="1726407" y="0"/>
                </a:lnTo>
                <a:lnTo>
                  <a:pt x="2053828" y="0"/>
                </a:lnTo>
                <a:cubicBezTo>
                  <a:pt x="2170218" y="0"/>
                  <a:pt x="2264569" y="94352"/>
                  <a:pt x="2264569" y="210741"/>
                </a:cubicBezTo>
                <a:lnTo>
                  <a:pt x="2264569" y="4713684"/>
                </a:lnTo>
                <a:cubicBezTo>
                  <a:pt x="2264569" y="4830073"/>
                  <a:pt x="2170218" y="4924425"/>
                  <a:pt x="2053828" y="4924425"/>
                </a:cubicBezTo>
                <a:lnTo>
                  <a:pt x="210741" y="4924425"/>
                </a:lnTo>
                <a:cubicBezTo>
                  <a:pt x="94352" y="4924425"/>
                  <a:pt x="0" y="4830073"/>
                  <a:pt x="0" y="4713684"/>
                </a:cubicBezTo>
                <a:lnTo>
                  <a:pt x="0" y="210741"/>
                </a:lnTo>
                <a:cubicBezTo>
                  <a:pt x="0" y="94352"/>
                  <a:pt x="94352" y="0"/>
                  <a:pt x="210741"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3995069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755D5CE0-1F91-2D88-89A3-C7B6128D9C12}"/>
              </a:ext>
            </a:extLst>
          </p:cNvPr>
          <p:cNvSpPr>
            <a:spLocks noGrp="1"/>
          </p:cNvSpPr>
          <p:nvPr>
            <p:ph type="pic" sz="quarter" idx="11"/>
          </p:nvPr>
        </p:nvSpPr>
        <p:spPr>
          <a:xfrm>
            <a:off x="1066800" y="0"/>
            <a:ext cx="10058400" cy="3429000"/>
          </a:xfrm>
          <a:custGeom>
            <a:avLst/>
            <a:gdLst>
              <a:gd name="connsiteX0" fmla="*/ 0 w 10058400"/>
              <a:gd name="connsiteY0" fmla="*/ 0 h 3429000"/>
              <a:gd name="connsiteX1" fmla="*/ 10058400 w 10058400"/>
              <a:gd name="connsiteY1" fmla="*/ 0 h 3429000"/>
              <a:gd name="connsiteX2" fmla="*/ 10058400 w 10058400"/>
              <a:gd name="connsiteY2" fmla="*/ 3222820 h 3429000"/>
              <a:gd name="connsiteX3" fmla="*/ 9852220 w 10058400"/>
              <a:gd name="connsiteY3" fmla="*/ 3429000 h 3429000"/>
              <a:gd name="connsiteX4" fmla="*/ 206180 w 10058400"/>
              <a:gd name="connsiteY4" fmla="*/ 3429000 h 3429000"/>
              <a:gd name="connsiteX5" fmla="*/ 0 w 10058400"/>
              <a:gd name="connsiteY5" fmla="*/ 322282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8400" h="3429000">
                <a:moveTo>
                  <a:pt x="0" y="0"/>
                </a:moveTo>
                <a:lnTo>
                  <a:pt x="10058400" y="0"/>
                </a:lnTo>
                <a:lnTo>
                  <a:pt x="10058400" y="3222820"/>
                </a:lnTo>
                <a:cubicBezTo>
                  <a:pt x="10058400" y="3336690"/>
                  <a:pt x="9966090" y="3429000"/>
                  <a:pt x="9852220" y="3429000"/>
                </a:cubicBezTo>
                <a:lnTo>
                  <a:pt x="206180" y="3429000"/>
                </a:lnTo>
                <a:cubicBezTo>
                  <a:pt x="92310" y="3429000"/>
                  <a:pt x="0" y="3336690"/>
                  <a:pt x="0" y="3222820"/>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2277307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1_Custom Layout">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FB832E80-30B2-A653-F1EB-E2FF8786C1E1}"/>
              </a:ext>
            </a:extLst>
          </p:cNvPr>
          <p:cNvSpPr>
            <a:spLocks noGrp="1"/>
          </p:cNvSpPr>
          <p:nvPr>
            <p:ph type="pic" sz="quarter" idx="10"/>
          </p:nvPr>
        </p:nvSpPr>
        <p:spPr>
          <a:xfrm>
            <a:off x="4890092" y="2095580"/>
            <a:ext cx="2642770" cy="2642770"/>
          </a:xfrm>
          <a:prstGeom prst="ellipse">
            <a:avLst/>
          </a:prstGeom>
        </p:spPr>
        <p:txBody>
          <a:bodyPr/>
          <a:lstStyle/>
          <a:p>
            <a:r>
              <a:rPr lang="en-US"/>
              <a:t>Click icon to add picture</a:t>
            </a:r>
          </a:p>
        </p:txBody>
      </p:sp>
    </p:spTree>
    <p:extLst>
      <p:ext uri="{BB962C8B-B14F-4D97-AF65-F5344CB8AC3E}">
        <p14:creationId xmlns:p14="http://schemas.microsoft.com/office/powerpoint/2010/main" val="2958313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0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B6A6-E268-7B79-25CF-5839C5DEB60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63568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9_Custom Layout">
    <p:spTree>
      <p:nvGrpSpPr>
        <p:cNvPr id="1" name=""/>
        <p:cNvGrpSpPr/>
        <p:nvPr/>
      </p:nvGrpSpPr>
      <p:grpSpPr>
        <a:xfrm>
          <a:off x="0" y="0"/>
          <a:ext cx="0" cy="0"/>
          <a:chOff x="0" y="0"/>
          <a:chExt cx="0" cy="0"/>
        </a:xfrm>
      </p:grpSpPr>
      <p:sp>
        <p:nvSpPr>
          <p:cNvPr id="3" name="Picture Placeholder 13">
            <a:extLst>
              <a:ext uri="{FF2B5EF4-FFF2-40B4-BE49-F238E27FC236}">
                <a16:creationId xmlns:a16="http://schemas.microsoft.com/office/drawing/2014/main" id="{74CF8B9C-7320-30D3-DEF3-009DDD35F60A}"/>
              </a:ext>
            </a:extLst>
          </p:cNvPr>
          <p:cNvSpPr>
            <a:spLocks noGrp="1"/>
          </p:cNvSpPr>
          <p:nvPr>
            <p:ph type="pic" sz="quarter" idx="10" hasCustomPrompt="1"/>
          </p:nvPr>
        </p:nvSpPr>
        <p:spPr>
          <a:xfrm>
            <a:off x="1235075"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14">
            <a:extLst>
              <a:ext uri="{FF2B5EF4-FFF2-40B4-BE49-F238E27FC236}">
                <a16:creationId xmlns:a16="http://schemas.microsoft.com/office/drawing/2014/main" id="{227D7713-D35D-B1B7-E530-95EE23F5E2CE}"/>
              </a:ext>
            </a:extLst>
          </p:cNvPr>
          <p:cNvSpPr>
            <a:spLocks noGrp="1"/>
          </p:cNvSpPr>
          <p:nvPr>
            <p:ph type="pic" sz="quarter" idx="11" hasCustomPrompt="1"/>
          </p:nvPr>
        </p:nvSpPr>
        <p:spPr>
          <a:xfrm>
            <a:off x="3232681" y="2558183"/>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15">
            <a:extLst>
              <a:ext uri="{FF2B5EF4-FFF2-40B4-BE49-F238E27FC236}">
                <a16:creationId xmlns:a16="http://schemas.microsoft.com/office/drawing/2014/main" id="{AF7F0235-4E0C-AA0D-A04C-0D813CEC0C88}"/>
              </a:ext>
            </a:extLst>
          </p:cNvPr>
          <p:cNvSpPr>
            <a:spLocks noGrp="1"/>
          </p:cNvSpPr>
          <p:nvPr>
            <p:ph type="pic" sz="quarter" idx="12" hasCustomPrompt="1"/>
          </p:nvPr>
        </p:nvSpPr>
        <p:spPr>
          <a:xfrm>
            <a:off x="5230287"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6" name="Picture Placeholder 16">
            <a:extLst>
              <a:ext uri="{FF2B5EF4-FFF2-40B4-BE49-F238E27FC236}">
                <a16:creationId xmlns:a16="http://schemas.microsoft.com/office/drawing/2014/main" id="{5DFA656B-A4B9-ABB6-924C-3ACAE81BB87A}"/>
              </a:ext>
            </a:extLst>
          </p:cNvPr>
          <p:cNvSpPr>
            <a:spLocks noGrp="1"/>
          </p:cNvSpPr>
          <p:nvPr>
            <p:ph type="pic" sz="quarter" idx="13" hasCustomPrompt="1"/>
          </p:nvPr>
        </p:nvSpPr>
        <p:spPr>
          <a:xfrm>
            <a:off x="7227893" y="2558183"/>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7" name="Picture Placeholder 17">
            <a:extLst>
              <a:ext uri="{FF2B5EF4-FFF2-40B4-BE49-F238E27FC236}">
                <a16:creationId xmlns:a16="http://schemas.microsoft.com/office/drawing/2014/main" id="{1E09CD01-3341-E578-3E1F-95630C530505}"/>
              </a:ext>
            </a:extLst>
          </p:cNvPr>
          <p:cNvSpPr>
            <a:spLocks noGrp="1"/>
          </p:cNvSpPr>
          <p:nvPr>
            <p:ph type="pic" sz="quarter" idx="14" hasCustomPrompt="1"/>
          </p:nvPr>
        </p:nvSpPr>
        <p:spPr>
          <a:xfrm>
            <a:off x="9225499" y="2088985"/>
            <a:ext cx="1731426" cy="2879233"/>
          </a:xfrm>
          <a:prstGeom prst="roundRect">
            <a:avLst>
              <a:gd name="adj" fmla="val 2731"/>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427995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8_Custom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51B585AE-0E3C-A198-8EFC-4C2B3B1914F7}"/>
              </a:ext>
            </a:extLst>
          </p:cNvPr>
          <p:cNvSpPr>
            <a:spLocks noGrp="1"/>
          </p:cNvSpPr>
          <p:nvPr>
            <p:ph type="pic" sz="quarter" idx="10"/>
          </p:nvPr>
        </p:nvSpPr>
        <p:spPr>
          <a:xfrm>
            <a:off x="1789210" y="0"/>
            <a:ext cx="4306790" cy="3429000"/>
          </a:xfrm>
          <a:custGeom>
            <a:avLst/>
            <a:gdLst>
              <a:gd name="connsiteX0" fmla="*/ 0 w 4343400"/>
              <a:gd name="connsiteY0" fmla="*/ 0 h 3429000"/>
              <a:gd name="connsiteX1" fmla="*/ 4343400 w 4343400"/>
              <a:gd name="connsiteY1" fmla="*/ 0 h 3429000"/>
              <a:gd name="connsiteX2" fmla="*/ 4343400 w 4343400"/>
              <a:gd name="connsiteY2" fmla="*/ 3429000 h 3429000"/>
              <a:gd name="connsiteX3" fmla="*/ 0 w 43434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43400" h="3429000">
                <a:moveTo>
                  <a:pt x="0" y="0"/>
                </a:moveTo>
                <a:lnTo>
                  <a:pt x="4343400" y="0"/>
                </a:lnTo>
                <a:lnTo>
                  <a:pt x="4343400" y="3429000"/>
                </a:lnTo>
                <a:lnTo>
                  <a:pt x="0" y="3429000"/>
                </a:ln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endParaRPr lang="en-US" dirty="0"/>
          </a:p>
        </p:txBody>
      </p:sp>
      <p:sp>
        <p:nvSpPr>
          <p:cNvPr id="4" name="Picture Placeholder 8">
            <a:extLst>
              <a:ext uri="{FF2B5EF4-FFF2-40B4-BE49-F238E27FC236}">
                <a16:creationId xmlns:a16="http://schemas.microsoft.com/office/drawing/2014/main" id="{E778090E-51ED-CB55-16FB-FB50A9C0CBBE}"/>
              </a:ext>
            </a:extLst>
          </p:cNvPr>
          <p:cNvSpPr>
            <a:spLocks noGrp="1"/>
          </p:cNvSpPr>
          <p:nvPr>
            <p:ph type="pic" sz="quarter" idx="11"/>
          </p:nvPr>
        </p:nvSpPr>
        <p:spPr>
          <a:xfrm>
            <a:off x="6096000" y="3429000"/>
            <a:ext cx="6096000" cy="3429000"/>
          </a:xfrm>
          <a:custGeom>
            <a:avLst/>
            <a:gdLst>
              <a:gd name="connsiteX0" fmla="*/ 0 w 5029201"/>
              <a:gd name="connsiteY0" fmla="*/ 0 h 3429000"/>
              <a:gd name="connsiteX1" fmla="*/ 5029201 w 5029201"/>
              <a:gd name="connsiteY1" fmla="*/ 0 h 3429000"/>
              <a:gd name="connsiteX2" fmla="*/ 5029201 w 5029201"/>
              <a:gd name="connsiteY2" fmla="*/ 3429000 h 3429000"/>
              <a:gd name="connsiteX3" fmla="*/ 0 w 5029201"/>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5029201" h="3429000">
                <a:moveTo>
                  <a:pt x="0" y="0"/>
                </a:moveTo>
                <a:lnTo>
                  <a:pt x="5029201" y="0"/>
                </a:lnTo>
                <a:lnTo>
                  <a:pt x="5029201" y="3429000"/>
                </a:lnTo>
                <a:lnTo>
                  <a:pt x="0" y="3429000"/>
                </a:ln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1718680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5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425D6A2C-F4D4-DEED-5BFF-CEC176C8C66E}"/>
              </a:ext>
            </a:extLst>
          </p:cNvPr>
          <p:cNvSpPr>
            <a:spLocks noGrp="1"/>
          </p:cNvSpPr>
          <p:nvPr>
            <p:ph type="pic" sz="quarter" idx="10" hasCustomPrompt="1"/>
          </p:nvPr>
        </p:nvSpPr>
        <p:spPr>
          <a:xfrm>
            <a:off x="1850163" y="939681"/>
            <a:ext cx="3989761" cy="4978638"/>
          </a:xfrm>
          <a:custGeom>
            <a:avLst/>
            <a:gdLst>
              <a:gd name="connsiteX0" fmla="*/ 0 w 3989761"/>
              <a:gd name="connsiteY0" fmla="*/ 0 h 4978638"/>
              <a:gd name="connsiteX1" fmla="*/ 3989761 w 3989761"/>
              <a:gd name="connsiteY1" fmla="*/ 0 h 4978638"/>
              <a:gd name="connsiteX2" fmla="*/ 3989761 w 3989761"/>
              <a:gd name="connsiteY2" fmla="*/ 4978638 h 4978638"/>
              <a:gd name="connsiteX3" fmla="*/ 0 w 3989761"/>
              <a:gd name="connsiteY3" fmla="*/ 4978638 h 4978638"/>
            </a:gdLst>
            <a:ahLst/>
            <a:cxnLst>
              <a:cxn ang="0">
                <a:pos x="connsiteX0" y="connsiteY0"/>
              </a:cxn>
              <a:cxn ang="0">
                <a:pos x="connsiteX1" y="connsiteY1"/>
              </a:cxn>
              <a:cxn ang="0">
                <a:pos x="connsiteX2" y="connsiteY2"/>
              </a:cxn>
              <a:cxn ang="0">
                <a:pos x="connsiteX3" y="connsiteY3"/>
              </a:cxn>
            </a:cxnLst>
            <a:rect l="l" t="t" r="r" b="b"/>
            <a:pathLst>
              <a:path w="3989761" h="4978638">
                <a:moveTo>
                  <a:pt x="0" y="0"/>
                </a:moveTo>
                <a:lnTo>
                  <a:pt x="3989761" y="0"/>
                </a:lnTo>
                <a:lnTo>
                  <a:pt x="3989761" y="4978638"/>
                </a:lnTo>
                <a:lnTo>
                  <a:pt x="0" y="4978638"/>
                </a:lnTo>
                <a:close/>
              </a:path>
            </a:pathLst>
          </a:cu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092605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6_Custom Layout">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1CB62F0B-4B3D-E825-3113-B95C4138C9C4}"/>
              </a:ext>
            </a:extLst>
          </p:cNvPr>
          <p:cNvSpPr>
            <a:spLocks noGrp="1"/>
          </p:cNvSpPr>
          <p:nvPr>
            <p:ph type="pic" sz="quarter" idx="10"/>
          </p:nvPr>
        </p:nvSpPr>
        <p:spPr>
          <a:xfrm>
            <a:off x="6100130" y="0"/>
            <a:ext cx="5020940" cy="5346700"/>
          </a:xfrm>
          <a:custGeom>
            <a:avLst/>
            <a:gdLst>
              <a:gd name="connsiteX0" fmla="*/ 0 w 5020940"/>
              <a:gd name="connsiteY0" fmla="*/ 0 h 5346700"/>
              <a:gd name="connsiteX1" fmla="*/ 5020940 w 5020940"/>
              <a:gd name="connsiteY1" fmla="*/ 0 h 5346700"/>
              <a:gd name="connsiteX2" fmla="*/ 5020940 w 5020940"/>
              <a:gd name="connsiteY2" fmla="*/ 5196775 h 5346700"/>
              <a:gd name="connsiteX3" fmla="*/ 4871015 w 5020940"/>
              <a:gd name="connsiteY3" fmla="*/ 5346700 h 5346700"/>
              <a:gd name="connsiteX4" fmla="*/ 149925 w 5020940"/>
              <a:gd name="connsiteY4" fmla="*/ 5346700 h 5346700"/>
              <a:gd name="connsiteX5" fmla="*/ 0 w 5020940"/>
              <a:gd name="connsiteY5" fmla="*/ 5196775 h 534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0940" h="5346700">
                <a:moveTo>
                  <a:pt x="0" y="0"/>
                </a:moveTo>
                <a:lnTo>
                  <a:pt x="5020940" y="0"/>
                </a:lnTo>
                <a:lnTo>
                  <a:pt x="5020940" y="5196775"/>
                </a:lnTo>
                <a:cubicBezTo>
                  <a:pt x="5020940" y="5279576"/>
                  <a:pt x="4953816" y="5346700"/>
                  <a:pt x="4871015" y="5346700"/>
                </a:cubicBezTo>
                <a:lnTo>
                  <a:pt x="149925" y="5346700"/>
                </a:lnTo>
                <a:cubicBezTo>
                  <a:pt x="67124" y="5346700"/>
                  <a:pt x="0" y="5279576"/>
                  <a:pt x="0" y="5196775"/>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2323305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7_Custom Layout">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843DC40D-9785-4886-0139-B37EE28FCD04}"/>
              </a:ext>
            </a:extLst>
          </p:cNvPr>
          <p:cNvSpPr>
            <a:spLocks noGrp="1"/>
          </p:cNvSpPr>
          <p:nvPr>
            <p:ph type="pic" sz="quarter" idx="10"/>
          </p:nvPr>
        </p:nvSpPr>
        <p:spPr>
          <a:xfrm>
            <a:off x="0" y="3327580"/>
            <a:ext cx="1358512" cy="2767543"/>
          </a:xfrm>
          <a:custGeom>
            <a:avLst/>
            <a:gdLst>
              <a:gd name="connsiteX0" fmla="*/ 0 w 1358512"/>
              <a:gd name="connsiteY0" fmla="*/ 0 h 2767543"/>
              <a:gd name="connsiteX1" fmla="*/ 1123623 w 1358512"/>
              <a:gd name="connsiteY1" fmla="*/ 0 h 2767543"/>
              <a:gd name="connsiteX2" fmla="*/ 1358512 w 1358512"/>
              <a:gd name="connsiteY2" fmla="*/ 234889 h 2767543"/>
              <a:gd name="connsiteX3" fmla="*/ 1358512 w 1358512"/>
              <a:gd name="connsiteY3" fmla="*/ 2532654 h 2767543"/>
              <a:gd name="connsiteX4" fmla="*/ 1123623 w 1358512"/>
              <a:gd name="connsiteY4" fmla="*/ 2767543 h 2767543"/>
              <a:gd name="connsiteX5" fmla="*/ 0 w 1358512"/>
              <a:gd name="connsiteY5" fmla="*/ 2767543 h 276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512" h="2767543">
                <a:moveTo>
                  <a:pt x="0" y="0"/>
                </a:moveTo>
                <a:lnTo>
                  <a:pt x="1123623" y="0"/>
                </a:lnTo>
                <a:cubicBezTo>
                  <a:pt x="1253349" y="0"/>
                  <a:pt x="1358512" y="105163"/>
                  <a:pt x="1358512" y="234889"/>
                </a:cubicBezTo>
                <a:lnTo>
                  <a:pt x="1358512" y="2532654"/>
                </a:lnTo>
                <a:cubicBezTo>
                  <a:pt x="1358512" y="2662380"/>
                  <a:pt x="1253349" y="2767543"/>
                  <a:pt x="1123623" y="2767543"/>
                </a:cubicBezTo>
                <a:lnTo>
                  <a:pt x="0" y="2767543"/>
                </a:lnTo>
                <a:close/>
              </a:path>
            </a:pathLst>
          </a:cu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4" name="Picture Placeholder 7">
            <a:extLst>
              <a:ext uri="{FF2B5EF4-FFF2-40B4-BE49-F238E27FC236}">
                <a16:creationId xmlns:a16="http://schemas.microsoft.com/office/drawing/2014/main" id="{EE97FC4F-378C-E51D-117F-CE8FA7E0B8A2}"/>
              </a:ext>
            </a:extLst>
          </p:cNvPr>
          <p:cNvSpPr>
            <a:spLocks noGrp="1"/>
          </p:cNvSpPr>
          <p:nvPr>
            <p:ph type="pic" sz="quarter" idx="11"/>
          </p:nvPr>
        </p:nvSpPr>
        <p:spPr>
          <a:xfrm>
            <a:off x="1" y="762879"/>
            <a:ext cx="3369191" cy="2348883"/>
          </a:xfrm>
          <a:custGeom>
            <a:avLst/>
            <a:gdLst>
              <a:gd name="connsiteX0" fmla="*/ 0 w 3369191"/>
              <a:gd name="connsiteY0" fmla="*/ 0 h 2348883"/>
              <a:gd name="connsiteX1" fmla="*/ 2990410 w 3369191"/>
              <a:gd name="connsiteY1" fmla="*/ 0 h 2348883"/>
              <a:gd name="connsiteX2" fmla="*/ 3369191 w 3369191"/>
              <a:gd name="connsiteY2" fmla="*/ 378781 h 2348883"/>
              <a:gd name="connsiteX3" fmla="*/ 3369191 w 3369191"/>
              <a:gd name="connsiteY3" fmla="*/ 1970102 h 2348883"/>
              <a:gd name="connsiteX4" fmla="*/ 2990410 w 3369191"/>
              <a:gd name="connsiteY4" fmla="*/ 2348883 h 2348883"/>
              <a:gd name="connsiteX5" fmla="*/ 0 w 3369191"/>
              <a:gd name="connsiteY5" fmla="*/ 2348883 h 234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9191" h="2348883">
                <a:moveTo>
                  <a:pt x="0" y="0"/>
                </a:moveTo>
                <a:lnTo>
                  <a:pt x="2990410" y="0"/>
                </a:lnTo>
                <a:cubicBezTo>
                  <a:pt x="3199605" y="0"/>
                  <a:pt x="3369191" y="169586"/>
                  <a:pt x="3369191" y="378781"/>
                </a:cubicBezTo>
                <a:lnTo>
                  <a:pt x="3369191" y="1970102"/>
                </a:lnTo>
                <a:cubicBezTo>
                  <a:pt x="3369191" y="2179297"/>
                  <a:pt x="3199605" y="2348883"/>
                  <a:pt x="2990410" y="2348883"/>
                </a:cubicBezTo>
                <a:lnTo>
                  <a:pt x="0" y="2348883"/>
                </a:lnTo>
                <a:close/>
              </a:path>
            </a:pathLst>
          </a:cu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5" name="Picture Placeholder 15">
            <a:extLst>
              <a:ext uri="{FF2B5EF4-FFF2-40B4-BE49-F238E27FC236}">
                <a16:creationId xmlns:a16="http://schemas.microsoft.com/office/drawing/2014/main" id="{4A6451E2-3A86-4EE4-E23D-84A5345C60AD}"/>
              </a:ext>
            </a:extLst>
          </p:cNvPr>
          <p:cNvSpPr>
            <a:spLocks noGrp="1"/>
          </p:cNvSpPr>
          <p:nvPr>
            <p:ph type="pic" sz="quarter" idx="12"/>
          </p:nvPr>
        </p:nvSpPr>
        <p:spPr>
          <a:xfrm>
            <a:off x="1588305" y="3327580"/>
            <a:ext cx="2883885" cy="1979313"/>
          </a:xfrm>
          <a:prstGeom prst="roundRect">
            <a:avLst/>
          </a:prstGeom>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
        <p:nvSpPr>
          <p:cNvPr id="6" name="Picture Placeholder 13">
            <a:extLst>
              <a:ext uri="{FF2B5EF4-FFF2-40B4-BE49-F238E27FC236}">
                <a16:creationId xmlns:a16="http://schemas.microsoft.com/office/drawing/2014/main" id="{6A6176CE-A04F-A92B-6899-C3F0CCEBE294}"/>
              </a:ext>
            </a:extLst>
          </p:cNvPr>
          <p:cNvSpPr>
            <a:spLocks noGrp="1"/>
          </p:cNvSpPr>
          <p:nvPr>
            <p:ph type="pic" sz="quarter" idx="13"/>
          </p:nvPr>
        </p:nvSpPr>
        <p:spPr>
          <a:xfrm>
            <a:off x="2157039" y="1592840"/>
            <a:ext cx="3360066" cy="2536973"/>
          </a:xfrm>
          <a:custGeom>
            <a:avLst/>
            <a:gdLst>
              <a:gd name="connsiteX0" fmla="*/ 206053 w 3360066"/>
              <a:gd name="connsiteY0" fmla="*/ 0 h 2536973"/>
              <a:gd name="connsiteX1" fmla="*/ 3154013 w 3360066"/>
              <a:gd name="connsiteY1" fmla="*/ 0 h 2536973"/>
              <a:gd name="connsiteX2" fmla="*/ 3360066 w 3360066"/>
              <a:gd name="connsiteY2" fmla="*/ 206053 h 2536973"/>
              <a:gd name="connsiteX3" fmla="*/ 3360066 w 3360066"/>
              <a:gd name="connsiteY3" fmla="*/ 2330920 h 2536973"/>
              <a:gd name="connsiteX4" fmla="*/ 3154013 w 3360066"/>
              <a:gd name="connsiteY4" fmla="*/ 2536973 h 2536973"/>
              <a:gd name="connsiteX5" fmla="*/ 206053 w 3360066"/>
              <a:gd name="connsiteY5" fmla="*/ 2536973 h 2536973"/>
              <a:gd name="connsiteX6" fmla="*/ 0 w 3360066"/>
              <a:gd name="connsiteY6" fmla="*/ 2330920 h 2536973"/>
              <a:gd name="connsiteX7" fmla="*/ 0 w 3360066"/>
              <a:gd name="connsiteY7" fmla="*/ 206053 h 2536973"/>
              <a:gd name="connsiteX8" fmla="*/ 206053 w 3360066"/>
              <a:gd name="connsiteY8" fmla="*/ 0 h 253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0066" h="2536973">
                <a:moveTo>
                  <a:pt x="206053" y="0"/>
                </a:moveTo>
                <a:lnTo>
                  <a:pt x="3154013" y="0"/>
                </a:lnTo>
                <a:cubicBezTo>
                  <a:pt x="3267813" y="0"/>
                  <a:pt x="3360066" y="92253"/>
                  <a:pt x="3360066" y="206053"/>
                </a:cubicBezTo>
                <a:lnTo>
                  <a:pt x="3360066" y="2330920"/>
                </a:lnTo>
                <a:cubicBezTo>
                  <a:pt x="3360066" y="2444720"/>
                  <a:pt x="3267813" y="2536973"/>
                  <a:pt x="3154013" y="2536973"/>
                </a:cubicBezTo>
                <a:lnTo>
                  <a:pt x="206053" y="2536973"/>
                </a:lnTo>
                <a:cubicBezTo>
                  <a:pt x="92253" y="2536973"/>
                  <a:pt x="0" y="2444720"/>
                  <a:pt x="0" y="2330920"/>
                </a:cubicBezTo>
                <a:lnTo>
                  <a:pt x="0" y="206053"/>
                </a:lnTo>
                <a:cubicBezTo>
                  <a:pt x="0" y="92253"/>
                  <a:pt x="92253" y="0"/>
                  <a:pt x="206053" y="0"/>
                </a:cubicBezTo>
                <a:close/>
              </a:path>
            </a:pathLst>
          </a:custGeom>
          <a:solidFill>
            <a:schemeClr val="bg1">
              <a:lumMod val="95000"/>
            </a:schemeClr>
          </a:solidFill>
          <a:ln w="25400">
            <a:solidFill>
              <a:schemeClr val="bg1"/>
            </a:solidFill>
          </a:ln>
          <a:effectLst>
            <a:outerShdw blurRad="660400" sx="102000" sy="102000" algn="ctr" rotWithShape="0">
              <a:prstClr val="black">
                <a:alpha val="15000"/>
              </a:prstClr>
            </a:outerShdw>
          </a:effectLst>
        </p:spPr>
        <p:txBody>
          <a:bodyPr wrap="square" anchor="ctr">
            <a:noAutofit/>
          </a:bodyPr>
          <a:lstStyle>
            <a:lvl1pPr marL="0" indent="0">
              <a:buNone/>
              <a:defRPr lang="en-US" sz="1400" b="0">
                <a:solidFill>
                  <a:schemeClr val="bg1">
                    <a:lumMod val="50000"/>
                  </a:schemeClr>
                </a:solidFill>
              </a:defRPr>
            </a:lvl1pPr>
          </a:lstStyle>
          <a:p>
            <a:pPr marL="228600" lvl="0" indent="-228600" algn="ctr"/>
            <a:r>
              <a:rPr lang="en-US"/>
              <a:t>Click icon to add picture</a:t>
            </a:r>
          </a:p>
        </p:txBody>
      </p:sp>
    </p:spTree>
    <p:extLst>
      <p:ext uri="{BB962C8B-B14F-4D97-AF65-F5344CB8AC3E}">
        <p14:creationId xmlns:p14="http://schemas.microsoft.com/office/powerpoint/2010/main" val="3140119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7B5A7F-92AC-031F-AE73-7CD74A9987DA}"/>
              </a:ext>
            </a:extLst>
          </p:cNvPr>
          <p:cNvSpPr/>
          <p:nvPr/>
        </p:nvSpPr>
        <p:spPr>
          <a:xfrm>
            <a:off x="7470624" y="0"/>
            <a:ext cx="4721376" cy="6858000"/>
          </a:xfrm>
          <a:prstGeom prst="rect">
            <a:avLst/>
          </a:prstGeom>
          <a:gradFill>
            <a:gsLst>
              <a:gs pos="0">
                <a:schemeClr val="accent1"/>
              </a:gs>
              <a:gs pos="100000">
                <a:schemeClr val="accent2"/>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Rounded Corners 3">
            <a:extLst>
              <a:ext uri="{FF2B5EF4-FFF2-40B4-BE49-F238E27FC236}">
                <a16:creationId xmlns:a16="http://schemas.microsoft.com/office/drawing/2014/main" id="{995BD6CD-6B98-7404-62AB-3A6D3DE1D765}"/>
              </a:ext>
            </a:extLst>
          </p:cNvPr>
          <p:cNvSpPr/>
          <p:nvPr/>
        </p:nvSpPr>
        <p:spPr>
          <a:xfrm>
            <a:off x="7470624" y="2287548"/>
            <a:ext cx="4721376" cy="2300958"/>
          </a:xfrm>
          <a:prstGeom prst="roundRect">
            <a:avLst>
              <a:gd name="adj" fmla="val 8719"/>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Picture Placeholder 16">
            <a:extLst>
              <a:ext uri="{FF2B5EF4-FFF2-40B4-BE49-F238E27FC236}">
                <a16:creationId xmlns:a16="http://schemas.microsoft.com/office/drawing/2014/main" id="{A01B9E24-B481-6719-F3E7-A0AB1F98D936}"/>
              </a:ext>
            </a:extLst>
          </p:cNvPr>
          <p:cNvSpPr>
            <a:spLocks noGrp="1"/>
          </p:cNvSpPr>
          <p:nvPr>
            <p:ph type="pic" sz="quarter" idx="10"/>
          </p:nvPr>
        </p:nvSpPr>
        <p:spPr>
          <a:xfrm>
            <a:off x="7986285" y="426697"/>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
        <p:nvSpPr>
          <p:cNvPr id="6" name="Picture Placeholder 17">
            <a:extLst>
              <a:ext uri="{FF2B5EF4-FFF2-40B4-BE49-F238E27FC236}">
                <a16:creationId xmlns:a16="http://schemas.microsoft.com/office/drawing/2014/main" id="{C4DA5FB9-6742-EFBF-C2EF-14061BBD7E3F}"/>
              </a:ext>
            </a:extLst>
          </p:cNvPr>
          <p:cNvSpPr>
            <a:spLocks noGrp="1"/>
          </p:cNvSpPr>
          <p:nvPr>
            <p:ph type="pic" sz="quarter" idx="11"/>
          </p:nvPr>
        </p:nvSpPr>
        <p:spPr>
          <a:xfrm>
            <a:off x="7986285" y="2714245"/>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
        <p:nvSpPr>
          <p:cNvPr id="7" name="Picture Placeholder 21">
            <a:extLst>
              <a:ext uri="{FF2B5EF4-FFF2-40B4-BE49-F238E27FC236}">
                <a16:creationId xmlns:a16="http://schemas.microsoft.com/office/drawing/2014/main" id="{52949D9E-6716-4887-BF32-CA6549EC3EBD}"/>
              </a:ext>
            </a:extLst>
          </p:cNvPr>
          <p:cNvSpPr>
            <a:spLocks noGrp="1"/>
          </p:cNvSpPr>
          <p:nvPr>
            <p:ph type="pic" sz="quarter" idx="12"/>
          </p:nvPr>
        </p:nvSpPr>
        <p:spPr>
          <a:xfrm>
            <a:off x="7986285" y="5001793"/>
            <a:ext cx="673406" cy="673406"/>
          </a:xfrm>
          <a:custGeom>
            <a:avLst/>
            <a:gdLst>
              <a:gd name="connsiteX0" fmla="*/ 336703 w 673406"/>
              <a:gd name="connsiteY0" fmla="*/ 0 h 673406"/>
              <a:gd name="connsiteX1" fmla="*/ 673406 w 673406"/>
              <a:gd name="connsiteY1" fmla="*/ 336703 h 673406"/>
              <a:gd name="connsiteX2" fmla="*/ 336703 w 673406"/>
              <a:gd name="connsiteY2" fmla="*/ 673406 h 673406"/>
              <a:gd name="connsiteX3" fmla="*/ 0 w 673406"/>
              <a:gd name="connsiteY3" fmla="*/ 336703 h 673406"/>
              <a:gd name="connsiteX4" fmla="*/ 336703 w 673406"/>
              <a:gd name="connsiteY4" fmla="*/ 0 h 673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406" h="673406">
                <a:moveTo>
                  <a:pt x="336703" y="0"/>
                </a:moveTo>
                <a:cubicBezTo>
                  <a:pt x="522659" y="0"/>
                  <a:pt x="673406" y="150747"/>
                  <a:pt x="673406" y="336703"/>
                </a:cubicBezTo>
                <a:cubicBezTo>
                  <a:pt x="673406" y="522659"/>
                  <a:pt x="522659" y="673406"/>
                  <a:pt x="336703" y="673406"/>
                </a:cubicBezTo>
                <a:cubicBezTo>
                  <a:pt x="150747" y="673406"/>
                  <a:pt x="0" y="522659"/>
                  <a:pt x="0" y="336703"/>
                </a:cubicBezTo>
                <a:cubicBezTo>
                  <a:pt x="0" y="150747"/>
                  <a:pt x="150747" y="0"/>
                  <a:pt x="336703" y="0"/>
                </a:cubicBezTo>
                <a:close/>
              </a:path>
            </a:pathLst>
          </a:custGeom>
        </p:spPr>
        <p:txBody>
          <a:bodyPr wrap="square" anchor="ctr">
            <a:noAutofit/>
          </a:bodyPr>
          <a:lstStyle>
            <a:lvl1pPr marL="0" indent="0" algn="ctr">
              <a:buNone/>
              <a:defRPr lang="en-US" sz="900" dirty="0">
                <a:solidFill>
                  <a:schemeClr val="bg1">
                    <a:lumMod val="75000"/>
                  </a:schemeClr>
                </a:solidFill>
                <a:latin typeface="Heebo" pitchFamily="2" charset="-79"/>
                <a:cs typeface="Heebo" pitchFamily="2" charset="-79"/>
              </a:defRPr>
            </a:lvl1pPr>
          </a:lstStyle>
          <a:p>
            <a:pPr marL="228600" lvl="0" indent="-228600" algn="ctr"/>
            <a:r>
              <a:rPr lang="en-US"/>
              <a:t>Click icon to add picture</a:t>
            </a:r>
            <a:endParaRPr lang="en-US" dirty="0"/>
          </a:p>
        </p:txBody>
      </p:sp>
    </p:spTree>
    <p:extLst>
      <p:ext uri="{BB962C8B-B14F-4D97-AF65-F5344CB8AC3E}">
        <p14:creationId xmlns:p14="http://schemas.microsoft.com/office/powerpoint/2010/main" val="428749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3_Custom Layout">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77001F8A-CA8D-1B31-E403-13C13F1CBF34}"/>
              </a:ext>
            </a:extLst>
          </p:cNvPr>
          <p:cNvSpPr/>
          <p:nvPr/>
        </p:nvSpPr>
        <p:spPr>
          <a:xfrm>
            <a:off x="419623" y="2796062"/>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10" name="Group 9">
            <a:extLst>
              <a:ext uri="{FF2B5EF4-FFF2-40B4-BE49-F238E27FC236}">
                <a16:creationId xmlns:a16="http://schemas.microsoft.com/office/drawing/2014/main" id="{7D904F61-5B06-15DB-7F41-DA1204B4FA87}"/>
              </a:ext>
            </a:extLst>
          </p:cNvPr>
          <p:cNvGrpSpPr/>
          <p:nvPr/>
        </p:nvGrpSpPr>
        <p:grpSpPr>
          <a:xfrm>
            <a:off x="5739632" y="2930136"/>
            <a:ext cx="4630512" cy="3324978"/>
            <a:chOff x="5255365" y="1696774"/>
            <a:chExt cx="4630512" cy="3324978"/>
          </a:xfrm>
        </p:grpSpPr>
        <p:sp>
          <p:nvSpPr>
            <p:cNvPr id="11" name="Oval 10">
              <a:extLst>
                <a:ext uri="{FF2B5EF4-FFF2-40B4-BE49-F238E27FC236}">
                  <a16:creationId xmlns:a16="http://schemas.microsoft.com/office/drawing/2014/main" id="{44839366-F02F-4196-4140-31E09A697D63}"/>
                </a:ext>
              </a:extLst>
            </p:cNvPr>
            <p:cNvSpPr/>
            <p:nvPr/>
          </p:nvSpPr>
          <p:spPr>
            <a:xfrm>
              <a:off x="6577457" y="1713329"/>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2" name="Oval 11">
              <a:extLst>
                <a:ext uri="{FF2B5EF4-FFF2-40B4-BE49-F238E27FC236}">
                  <a16:creationId xmlns:a16="http://schemas.microsoft.com/office/drawing/2014/main" id="{EAD94AF3-282D-A880-5DC6-499879836E7A}"/>
                </a:ext>
              </a:extLst>
            </p:cNvPr>
            <p:cNvSpPr/>
            <p:nvPr/>
          </p:nvSpPr>
          <p:spPr>
            <a:xfrm>
              <a:off x="5255365" y="1696774"/>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6" name="Rectangle 5">
            <a:extLst>
              <a:ext uri="{FF2B5EF4-FFF2-40B4-BE49-F238E27FC236}">
                <a16:creationId xmlns:a16="http://schemas.microsoft.com/office/drawing/2014/main" id="{7A0A1BCD-2BD2-DD01-63F5-420D79EBFA8A}"/>
              </a:ext>
            </a:extLst>
          </p:cNvPr>
          <p:cNvSpPr/>
          <p:nvPr/>
        </p:nvSpPr>
        <p:spPr>
          <a:xfrm>
            <a:off x="6096000" y="0"/>
            <a:ext cx="6096000" cy="42799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C074A67F-2029-A7D9-5E4A-B6B19380D499}"/>
              </a:ext>
            </a:extLst>
          </p:cNvPr>
          <p:cNvSpPr/>
          <p:nvPr/>
        </p:nvSpPr>
        <p:spPr>
          <a:xfrm>
            <a:off x="0" y="0"/>
            <a:ext cx="6096000" cy="4279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Picture Placeholder 15">
            <a:extLst>
              <a:ext uri="{FF2B5EF4-FFF2-40B4-BE49-F238E27FC236}">
                <a16:creationId xmlns:a16="http://schemas.microsoft.com/office/drawing/2014/main" id="{A2153197-F730-0520-644D-B35D72883CE9}"/>
              </a:ext>
            </a:extLst>
          </p:cNvPr>
          <p:cNvSpPr>
            <a:spLocks noGrp="1"/>
          </p:cNvSpPr>
          <p:nvPr>
            <p:ph type="pic" sz="quarter" idx="10"/>
          </p:nvPr>
        </p:nvSpPr>
        <p:spPr>
          <a:xfrm>
            <a:off x="4824375" y="602886"/>
            <a:ext cx="2543251" cy="3677014"/>
          </a:xfrm>
          <a:custGeom>
            <a:avLst/>
            <a:gdLst>
              <a:gd name="connsiteX0" fmla="*/ 0 w 2543251"/>
              <a:gd name="connsiteY0" fmla="*/ 0 h 3677014"/>
              <a:gd name="connsiteX1" fmla="*/ 2543251 w 2543251"/>
              <a:gd name="connsiteY1" fmla="*/ 0 h 3677014"/>
              <a:gd name="connsiteX2" fmla="*/ 2543251 w 2543251"/>
              <a:gd name="connsiteY2" fmla="*/ 3677014 h 3677014"/>
              <a:gd name="connsiteX3" fmla="*/ 0 w 2543251"/>
              <a:gd name="connsiteY3" fmla="*/ 3677014 h 3677014"/>
            </a:gdLst>
            <a:ahLst/>
            <a:cxnLst>
              <a:cxn ang="0">
                <a:pos x="connsiteX0" y="connsiteY0"/>
              </a:cxn>
              <a:cxn ang="0">
                <a:pos x="connsiteX1" y="connsiteY1"/>
              </a:cxn>
              <a:cxn ang="0">
                <a:pos x="connsiteX2" y="connsiteY2"/>
              </a:cxn>
              <a:cxn ang="0">
                <a:pos x="connsiteX3" y="connsiteY3"/>
              </a:cxn>
            </a:cxnLst>
            <a:rect l="l" t="t" r="r" b="b"/>
            <a:pathLst>
              <a:path w="2543251" h="3677014">
                <a:moveTo>
                  <a:pt x="0" y="0"/>
                </a:moveTo>
                <a:lnTo>
                  <a:pt x="2543251" y="0"/>
                </a:lnTo>
                <a:lnTo>
                  <a:pt x="2543251" y="3677014"/>
                </a:lnTo>
                <a:lnTo>
                  <a:pt x="0" y="3677014"/>
                </a:lnTo>
                <a:close/>
              </a:path>
            </a:pathLst>
          </a:custGeom>
        </p:spPr>
        <p:txBody>
          <a:bodyPr wrap="square">
            <a:noAutofit/>
          </a:bodyPr>
          <a:lstStyle>
            <a:lvl1pPr>
              <a:defRPr lang="en-US" sz="2000" dirty="0">
                <a:solidFill>
                  <a:schemeClr val="bg1">
                    <a:lumMod val="75000"/>
                  </a:schemeClr>
                </a:solidFill>
                <a:latin typeface="Heebo" pitchFamily="2" charset="-79"/>
                <a:cs typeface="Heebo" pitchFamily="2" charset="-79"/>
              </a:defRPr>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1253027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86F8BB4-3EF8-4204-5848-B296086354ED}"/>
              </a:ext>
            </a:extLst>
          </p:cNvPr>
          <p:cNvSpPr>
            <a:spLocks noGrp="1"/>
          </p:cNvSpPr>
          <p:nvPr>
            <p:ph type="pic" sz="quarter" idx="10"/>
          </p:nvPr>
        </p:nvSpPr>
        <p:spPr>
          <a:xfrm>
            <a:off x="1066801" y="1285996"/>
            <a:ext cx="10058399" cy="3528703"/>
          </a:xfrm>
          <a:custGeom>
            <a:avLst/>
            <a:gdLst>
              <a:gd name="connsiteX0" fmla="*/ 156322 w 10134599"/>
              <a:gd name="connsiteY0" fmla="*/ 0 h 3528703"/>
              <a:gd name="connsiteX1" fmla="*/ 9978277 w 10134599"/>
              <a:gd name="connsiteY1" fmla="*/ 0 h 3528703"/>
              <a:gd name="connsiteX2" fmla="*/ 10134599 w 10134599"/>
              <a:gd name="connsiteY2" fmla="*/ 156322 h 3528703"/>
              <a:gd name="connsiteX3" fmla="*/ 10134599 w 10134599"/>
              <a:gd name="connsiteY3" fmla="*/ 3372381 h 3528703"/>
              <a:gd name="connsiteX4" fmla="*/ 9978277 w 10134599"/>
              <a:gd name="connsiteY4" fmla="*/ 3528703 h 3528703"/>
              <a:gd name="connsiteX5" fmla="*/ 156322 w 10134599"/>
              <a:gd name="connsiteY5" fmla="*/ 3528703 h 3528703"/>
              <a:gd name="connsiteX6" fmla="*/ 0 w 10134599"/>
              <a:gd name="connsiteY6" fmla="*/ 3372381 h 3528703"/>
              <a:gd name="connsiteX7" fmla="*/ 0 w 10134599"/>
              <a:gd name="connsiteY7" fmla="*/ 156322 h 3528703"/>
              <a:gd name="connsiteX8" fmla="*/ 156322 w 10134599"/>
              <a:gd name="connsiteY8" fmla="*/ 0 h 3528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34599" h="3528703">
                <a:moveTo>
                  <a:pt x="156322" y="0"/>
                </a:moveTo>
                <a:lnTo>
                  <a:pt x="9978277" y="0"/>
                </a:lnTo>
                <a:cubicBezTo>
                  <a:pt x="10064611" y="0"/>
                  <a:pt x="10134599" y="69988"/>
                  <a:pt x="10134599" y="156322"/>
                </a:cubicBezTo>
                <a:lnTo>
                  <a:pt x="10134599" y="3372381"/>
                </a:lnTo>
                <a:cubicBezTo>
                  <a:pt x="10134599" y="3458715"/>
                  <a:pt x="10064611" y="3528703"/>
                  <a:pt x="9978277" y="3528703"/>
                </a:cubicBezTo>
                <a:lnTo>
                  <a:pt x="156322" y="3528703"/>
                </a:lnTo>
                <a:cubicBezTo>
                  <a:pt x="69988" y="3528703"/>
                  <a:pt x="0" y="3458715"/>
                  <a:pt x="0" y="3372381"/>
                </a:cubicBezTo>
                <a:lnTo>
                  <a:pt x="0" y="156322"/>
                </a:lnTo>
                <a:cubicBezTo>
                  <a:pt x="0" y="69988"/>
                  <a:pt x="69988" y="0"/>
                  <a:pt x="156322" y="0"/>
                </a:cubicBezTo>
                <a:close/>
              </a:path>
            </a:pathLst>
          </a:custGeom>
        </p:spPr>
        <p:txBody>
          <a:bodyPr wrap="square" anchor="ctr">
            <a:noAutofit/>
          </a:bodyPr>
          <a:lstStyle>
            <a:lvl1pPr>
              <a:defRPr lang="en-US" b="0">
                <a:solidFill>
                  <a:schemeClr val="bg1">
                    <a:lumMod val="50000"/>
                  </a:schemeClr>
                </a:solidFill>
              </a:defRPr>
            </a:lvl1pPr>
          </a:lstStyle>
          <a:p>
            <a:pPr lvl="0" algn="ctr">
              <a:buNone/>
            </a:pPr>
            <a:r>
              <a:rPr lang="en-US"/>
              <a:t>Click icon to add picture</a:t>
            </a:r>
          </a:p>
        </p:txBody>
      </p:sp>
    </p:spTree>
    <p:extLst>
      <p:ext uri="{BB962C8B-B14F-4D97-AF65-F5344CB8AC3E}">
        <p14:creationId xmlns:p14="http://schemas.microsoft.com/office/powerpoint/2010/main" val="37109385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1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9C2F5119-905B-614F-1E45-7A87063D020A}"/>
              </a:ext>
            </a:extLst>
          </p:cNvPr>
          <p:cNvSpPr>
            <a:spLocks noGrp="1"/>
          </p:cNvSpPr>
          <p:nvPr>
            <p:ph type="pic" sz="quarter" idx="10" hasCustomPrompt="1"/>
          </p:nvPr>
        </p:nvSpPr>
        <p:spPr>
          <a:xfrm>
            <a:off x="-230723" y="1590879"/>
            <a:ext cx="2439124" cy="2324100"/>
          </a:xfrm>
          <a:custGeom>
            <a:avLst/>
            <a:gdLst>
              <a:gd name="connsiteX0" fmla="*/ 63518 w 2439124"/>
              <a:gd name="connsiteY0" fmla="*/ 0 h 2324100"/>
              <a:gd name="connsiteX1" fmla="*/ 2375606 w 2439124"/>
              <a:gd name="connsiteY1" fmla="*/ 0 h 2324100"/>
              <a:gd name="connsiteX2" fmla="*/ 2439124 w 2439124"/>
              <a:gd name="connsiteY2" fmla="*/ 63518 h 2324100"/>
              <a:gd name="connsiteX3" fmla="*/ 2439124 w 2439124"/>
              <a:gd name="connsiteY3" fmla="*/ 2260582 h 2324100"/>
              <a:gd name="connsiteX4" fmla="*/ 2375606 w 2439124"/>
              <a:gd name="connsiteY4" fmla="*/ 2324100 h 2324100"/>
              <a:gd name="connsiteX5" fmla="*/ 63518 w 2439124"/>
              <a:gd name="connsiteY5" fmla="*/ 2324100 h 2324100"/>
              <a:gd name="connsiteX6" fmla="*/ 0 w 2439124"/>
              <a:gd name="connsiteY6" fmla="*/ 2260582 h 2324100"/>
              <a:gd name="connsiteX7" fmla="*/ 0 w 2439124"/>
              <a:gd name="connsiteY7" fmla="*/ 63518 h 2324100"/>
              <a:gd name="connsiteX8" fmla="*/ 63518 w 2439124"/>
              <a:gd name="connsiteY8" fmla="*/ 0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9124" h="2324100">
                <a:moveTo>
                  <a:pt x="63518" y="0"/>
                </a:moveTo>
                <a:lnTo>
                  <a:pt x="2375606" y="0"/>
                </a:lnTo>
                <a:cubicBezTo>
                  <a:pt x="2410686" y="0"/>
                  <a:pt x="2439124" y="28438"/>
                  <a:pt x="2439124" y="63518"/>
                </a:cubicBezTo>
                <a:lnTo>
                  <a:pt x="2439124" y="2260582"/>
                </a:lnTo>
                <a:cubicBezTo>
                  <a:pt x="2439124" y="2295662"/>
                  <a:pt x="2410686" y="2324100"/>
                  <a:pt x="2375606" y="2324100"/>
                </a:cubicBezTo>
                <a:lnTo>
                  <a:pt x="63518" y="2324100"/>
                </a:lnTo>
                <a:cubicBezTo>
                  <a:pt x="28438" y="2324100"/>
                  <a:pt x="0" y="2295662"/>
                  <a:pt x="0" y="2260582"/>
                </a:cubicBezTo>
                <a:lnTo>
                  <a:pt x="0" y="63518"/>
                </a:lnTo>
                <a:cubicBezTo>
                  <a:pt x="0" y="28438"/>
                  <a:pt x="28438" y="0"/>
                  <a:pt x="63518"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6">
            <a:extLst>
              <a:ext uri="{FF2B5EF4-FFF2-40B4-BE49-F238E27FC236}">
                <a16:creationId xmlns:a16="http://schemas.microsoft.com/office/drawing/2014/main" id="{9A78298F-E519-DA45-D362-F568E63AE548}"/>
              </a:ext>
            </a:extLst>
          </p:cNvPr>
          <p:cNvSpPr>
            <a:spLocks noGrp="1"/>
          </p:cNvSpPr>
          <p:nvPr>
            <p:ph type="pic" sz="quarter" idx="11" hasCustomPrompt="1"/>
          </p:nvPr>
        </p:nvSpPr>
        <p:spPr>
          <a:xfrm>
            <a:off x="2449382" y="1590879"/>
            <a:ext cx="2439124" cy="2324100"/>
          </a:xfrm>
          <a:custGeom>
            <a:avLst/>
            <a:gdLst>
              <a:gd name="connsiteX0" fmla="*/ 63518 w 2439124"/>
              <a:gd name="connsiteY0" fmla="*/ 0 h 2324100"/>
              <a:gd name="connsiteX1" fmla="*/ 2375606 w 2439124"/>
              <a:gd name="connsiteY1" fmla="*/ 0 h 2324100"/>
              <a:gd name="connsiteX2" fmla="*/ 2439124 w 2439124"/>
              <a:gd name="connsiteY2" fmla="*/ 63518 h 2324100"/>
              <a:gd name="connsiteX3" fmla="*/ 2439124 w 2439124"/>
              <a:gd name="connsiteY3" fmla="*/ 2260582 h 2324100"/>
              <a:gd name="connsiteX4" fmla="*/ 2375606 w 2439124"/>
              <a:gd name="connsiteY4" fmla="*/ 2324100 h 2324100"/>
              <a:gd name="connsiteX5" fmla="*/ 63518 w 2439124"/>
              <a:gd name="connsiteY5" fmla="*/ 2324100 h 2324100"/>
              <a:gd name="connsiteX6" fmla="*/ 0 w 2439124"/>
              <a:gd name="connsiteY6" fmla="*/ 2260582 h 2324100"/>
              <a:gd name="connsiteX7" fmla="*/ 0 w 2439124"/>
              <a:gd name="connsiteY7" fmla="*/ 63518 h 2324100"/>
              <a:gd name="connsiteX8" fmla="*/ 63518 w 2439124"/>
              <a:gd name="connsiteY8" fmla="*/ 0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9124" h="2324100">
                <a:moveTo>
                  <a:pt x="63518" y="0"/>
                </a:moveTo>
                <a:lnTo>
                  <a:pt x="2375606" y="0"/>
                </a:lnTo>
                <a:cubicBezTo>
                  <a:pt x="2410686" y="0"/>
                  <a:pt x="2439124" y="28438"/>
                  <a:pt x="2439124" y="63518"/>
                </a:cubicBezTo>
                <a:lnTo>
                  <a:pt x="2439124" y="2260582"/>
                </a:lnTo>
                <a:cubicBezTo>
                  <a:pt x="2439124" y="2295662"/>
                  <a:pt x="2410686" y="2324100"/>
                  <a:pt x="2375606" y="2324100"/>
                </a:cubicBezTo>
                <a:lnTo>
                  <a:pt x="63518" y="2324100"/>
                </a:lnTo>
                <a:cubicBezTo>
                  <a:pt x="28438" y="2324100"/>
                  <a:pt x="0" y="2295662"/>
                  <a:pt x="0" y="2260582"/>
                </a:cubicBezTo>
                <a:lnTo>
                  <a:pt x="0" y="63518"/>
                </a:lnTo>
                <a:cubicBezTo>
                  <a:pt x="0" y="28438"/>
                  <a:pt x="28438" y="0"/>
                  <a:pt x="63518" y="0"/>
                </a:cubicBezTo>
                <a:close/>
              </a:path>
            </a:pathLst>
          </a:cu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471055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0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5F6C811-32F8-1404-D66E-984597015FB3}"/>
              </a:ext>
            </a:extLst>
          </p:cNvPr>
          <p:cNvSpPr>
            <a:spLocks noGrp="1"/>
          </p:cNvSpPr>
          <p:nvPr>
            <p:ph type="pic" sz="quarter" idx="10"/>
          </p:nvPr>
        </p:nvSpPr>
        <p:spPr>
          <a:xfrm>
            <a:off x="0" y="800102"/>
            <a:ext cx="3187700" cy="5257796"/>
          </a:xfrm>
          <a:custGeom>
            <a:avLst/>
            <a:gdLst>
              <a:gd name="connsiteX0" fmla="*/ 0 w 5791200"/>
              <a:gd name="connsiteY0" fmla="*/ 0 h 5257796"/>
              <a:gd name="connsiteX1" fmla="*/ 5664172 w 5791200"/>
              <a:gd name="connsiteY1" fmla="*/ 0 h 5257796"/>
              <a:gd name="connsiteX2" fmla="*/ 5791200 w 5791200"/>
              <a:gd name="connsiteY2" fmla="*/ 127028 h 5257796"/>
              <a:gd name="connsiteX3" fmla="*/ 5791200 w 5791200"/>
              <a:gd name="connsiteY3" fmla="*/ 5130771 h 5257796"/>
              <a:gd name="connsiteX4" fmla="*/ 5713617 w 5791200"/>
              <a:gd name="connsiteY4" fmla="*/ 5247817 h 5257796"/>
              <a:gd name="connsiteX5" fmla="*/ 5664187 w 5791200"/>
              <a:gd name="connsiteY5" fmla="*/ 5257796 h 5257796"/>
              <a:gd name="connsiteX6" fmla="*/ 0 w 5791200"/>
              <a:gd name="connsiteY6" fmla="*/ 5257796 h 525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1200" h="5257796">
                <a:moveTo>
                  <a:pt x="0" y="0"/>
                </a:moveTo>
                <a:lnTo>
                  <a:pt x="5664172" y="0"/>
                </a:lnTo>
                <a:cubicBezTo>
                  <a:pt x="5734328" y="0"/>
                  <a:pt x="5791200" y="56872"/>
                  <a:pt x="5791200" y="127028"/>
                </a:cubicBezTo>
                <a:lnTo>
                  <a:pt x="5791200" y="5130771"/>
                </a:lnTo>
                <a:cubicBezTo>
                  <a:pt x="5791200" y="5183388"/>
                  <a:pt x="5759210" y="5228533"/>
                  <a:pt x="5713617" y="5247817"/>
                </a:cubicBezTo>
                <a:lnTo>
                  <a:pt x="5664187" y="5257796"/>
                </a:lnTo>
                <a:lnTo>
                  <a:pt x="0" y="525779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366175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434C385B-38B7-A6FA-C7FE-560F8A702EB0}"/>
              </a:ext>
            </a:extLst>
          </p:cNvPr>
          <p:cNvSpPr>
            <a:spLocks noGrp="1"/>
          </p:cNvSpPr>
          <p:nvPr>
            <p:ph type="pic" sz="quarter" idx="10" hasCustomPrompt="1"/>
          </p:nvPr>
        </p:nvSpPr>
        <p:spPr>
          <a:xfrm>
            <a:off x="2121499" y="800100"/>
            <a:ext cx="3392126" cy="5257800"/>
          </a:xfrm>
          <a:prstGeom prst="roundRect">
            <a:avLst>
              <a:gd name="adj" fmla="val 4707"/>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23924773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79AB4610-EA5C-A14B-C8B2-A739B6296782}"/>
              </a:ext>
            </a:extLst>
          </p:cNvPr>
          <p:cNvSpPr>
            <a:spLocks noGrp="1"/>
          </p:cNvSpPr>
          <p:nvPr>
            <p:ph type="pic" sz="quarter" idx="10" hasCustomPrompt="1"/>
          </p:nvPr>
        </p:nvSpPr>
        <p:spPr>
          <a:xfrm>
            <a:off x="6140344" y="-128855"/>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12">
            <a:extLst>
              <a:ext uri="{FF2B5EF4-FFF2-40B4-BE49-F238E27FC236}">
                <a16:creationId xmlns:a16="http://schemas.microsoft.com/office/drawing/2014/main" id="{C5D415D7-6925-265A-9333-E4BCC3E441A9}"/>
              </a:ext>
            </a:extLst>
          </p:cNvPr>
          <p:cNvSpPr>
            <a:spLocks noGrp="1"/>
          </p:cNvSpPr>
          <p:nvPr>
            <p:ph type="pic" sz="quarter" idx="11" hasCustomPrompt="1"/>
          </p:nvPr>
        </p:nvSpPr>
        <p:spPr>
          <a:xfrm>
            <a:off x="6140344" y="3013554"/>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13">
            <a:extLst>
              <a:ext uri="{FF2B5EF4-FFF2-40B4-BE49-F238E27FC236}">
                <a16:creationId xmlns:a16="http://schemas.microsoft.com/office/drawing/2014/main" id="{5D151BD0-BE97-A2F5-97CB-51DE54AD4BD3}"/>
              </a:ext>
            </a:extLst>
          </p:cNvPr>
          <p:cNvSpPr>
            <a:spLocks noGrp="1"/>
          </p:cNvSpPr>
          <p:nvPr>
            <p:ph type="pic" sz="quarter" idx="12" hasCustomPrompt="1"/>
          </p:nvPr>
        </p:nvSpPr>
        <p:spPr>
          <a:xfrm>
            <a:off x="8631828" y="863366"/>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6" name="Picture Placeholder 14">
            <a:extLst>
              <a:ext uri="{FF2B5EF4-FFF2-40B4-BE49-F238E27FC236}">
                <a16:creationId xmlns:a16="http://schemas.microsoft.com/office/drawing/2014/main" id="{32B81533-5524-13DF-33B1-7B5B4066FAE6}"/>
              </a:ext>
            </a:extLst>
          </p:cNvPr>
          <p:cNvSpPr>
            <a:spLocks noGrp="1"/>
          </p:cNvSpPr>
          <p:nvPr>
            <p:ph type="pic" sz="quarter" idx="13" hasCustomPrompt="1"/>
          </p:nvPr>
        </p:nvSpPr>
        <p:spPr>
          <a:xfrm>
            <a:off x="8631828" y="4005776"/>
            <a:ext cx="2325097" cy="2981080"/>
          </a:xfrm>
          <a:prstGeom prst="roundRect">
            <a:avLst>
              <a:gd name="adj" fmla="val 2465"/>
            </a:avLst>
          </a:prstGeom>
          <a:solidFill>
            <a:schemeClr val="bg1">
              <a:lumMod val="95000"/>
              <a:alpha val="50000"/>
            </a:schemeClr>
          </a:solidFill>
          <a:ln>
            <a:noFill/>
          </a:ln>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1480471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DC67764-31F6-85B9-255F-E00670723D10}"/>
              </a:ext>
            </a:extLst>
          </p:cNvPr>
          <p:cNvSpPr>
            <a:spLocks noGrp="1"/>
          </p:cNvSpPr>
          <p:nvPr>
            <p:ph type="pic" sz="quarter" idx="11"/>
          </p:nvPr>
        </p:nvSpPr>
        <p:spPr>
          <a:xfrm rot="1800000">
            <a:off x="865137" y="-2554781"/>
            <a:ext cx="2514600" cy="3556000"/>
          </a:xfrm>
          <a:prstGeom prst="roundRect">
            <a:avLst>
              <a:gd name="adj" fmla="val 6340"/>
            </a:avLst>
          </a:prstGeom>
          <a:solidFill>
            <a:schemeClr val="bg1">
              <a:alpha val="22000"/>
            </a:schemeClr>
          </a:solidFill>
        </p:spPr>
        <p:txBody>
          <a:bodyPr/>
          <a:lstStyle/>
          <a:p>
            <a:r>
              <a:rPr lang="en-US"/>
              <a:t>Click icon to add picture</a:t>
            </a:r>
          </a:p>
        </p:txBody>
      </p:sp>
      <p:sp>
        <p:nvSpPr>
          <p:cNvPr id="4" name="Picture Placeholder 2">
            <a:extLst>
              <a:ext uri="{FF2B5EF4-FFF2-40B4-BE49-F238E27FC236}">
                <a16:creationId xmlns:a16="http://schemas.microsoft.com/office/drawing/2014/main" id="{4B2CD1D0-D24F-0040-7562-AC61C1B678D1}"/>
              </a:ext>
            </a:extLst>
          </p:cNvPr>
          <p:cNvSpPr>
            <a:spLocks noGrp="1"/>
          </p:cNvSpPr>
          <p:nvPr>
            <p:ph type="pic" sz="quarter" idx="12"/>
          </p:nvPr>
        </p:nvSpPr>
        <p:spPr>
          <a:xfrm rot="1800000">
            <a:off x="-1112718" y="874219"/>
            <a:ext cx="2514600" cy="3556000"/>
          </a:xfrm>
          <a:prstGeom prst="roundRect">
            <a:avLst>
              <a:gd name="adj" fmla="val 4763"/>
            </a:avLst>
          </a:prstGeom>
          <a:solidFill>
            <a:schemeClr val="bg1">
              <a:alpha val="22000"/>
            </a:schemeClr>
          </a:solidFill>
        </p:spPr>
        <p:txBody>
          <a:bodyPr/>
          <a:lstStyle/>
          <a:p>
            <a:r>
              <a:rPr lang="en-US"/>
              <a:t>Click icon to add picture</a:t>
            </a:r>
          </a:p>
        </p:txBody>
      </p:sp>
      <p:sp>
        <p:nvSpPr>
          <p:cNvPr id="5" name="Picture Placeholder 2">
            <a:extLst>
              <a:ext uri="{FF2B5EF4-FFF2-40B4-BE49-F238E27FC236}">
                <a16:creationId xmlns:a16="http://schemas.microsoft.com/office/drawing/2014/main" id="{ADBC4A0D-A5D6-2995-1319-99F7E56CC751}"/>
              </a:ext>
            </a:extLst>
          </p:cNvPr>
          <p:cNvSpPr>
            <a:spLocks noGrp="1"/>
          </p:cNvSpPr>
          <p:nvPr>
            <p:ph type="pic" sz="quarter" idx="14"/>
          </p:nvPr>
        </p:nvSpPr>
        <p:spPr>
          <a:xfrm rot="1800000">
            <a:off x="4040068" y="-2317742"/>
            <a:ext cx="2514600" cy="3556000"/>
          </a:xfrm>
          <a:prstGeom prst="roundRect">
            <a:avLst>
              <a:gd name="adj" fmla="val 6051"/>
            </a:avLst>
          </a:prstGeom>
          <a:solidFill>
            <a:schemeClr val="bg1">
              <a:alpha val="22000"/>
            </a:schemeClr>
          </a:solidFill>
        </p:spPr>
        <p:txBody>
          <a:bodyPr/>
          <a:lstStyle/>
          <a:p>
            <a:r>
              <a:rPr lang="en-US"/>
              <a:t>Click icon to add picture</a:t>
            </a:r>
          </a:p>
        </p:txBody>
      </p:sp>
      <p:sp>
        <p:nvSpPr>
          <p:cNvPr id="6" name="Picture Placeholder 2">
            <a:extLst>
              <a:ext uri="{FF2B5EF4-FFF2-40B4-BE49-F238E27FC236}">
                <a16:creationId xmlns:a16="http://schemas.microsoft.com/office/drawing/2014/main" id="{689D0DE2-4A50-BB09-3EB2-86C6DA4860ED}"/>
              </a:ext>
            </a:extLst>
          </p:cNvPr>
          <p:cNvSpPr>
            <a:spLocks noGrp="1"/>
          </p:cNvSpPr>
          <p:nvPr>
            <p:ph type="pic" sz="quarter" idx="15"/>
          </p:nvPr>
        </p:nvSpPr>
        <p:spPr>
          <a:xfrm rot="1800000">
            <a:off x="2062214" y="1073322"/>
            <a:ext cx="2514600" cy="3556000"/>
          </a:xfrm>
          <a:prstGeom prst="roundRect">
            <a:avLst>
              <a:gd name="adj" fmla="val 5417"/>
            </a:avLst>
          </a:prstGeom>
          <a:solidFill>
            <a:schemeClr val="bg1">
              <a:alpha val="22000"/>
            </a:schemeClr>
          </a:solidFill>
        </p:spPr>
        <p:txBody>
          <a:bodyPr/>
          <a:lstStyle/>
          <a:p>
            <a:r>
              <a:rPr lang="en-US"/>
              <a:t>Click icon to add picture</a:t>
            </a:r>
          </a:p>
        </p:txBody>
      </p:sp>
      <p:sp>
        <p:nvSpPr>
          <p:cNvPr id="7" name="Picture Placeholder 2">
            <a:extLst>
              <a:ext uri="{FF2B5EF4-FFF2-40B4-BE49-F238E27FC236}">
                <a16:creationId xmlns:a16="http://schemas.microsoft.com/office/drawing/2014/main" id="{3ADEDB56-8C99-B762-03C0-35222FDC3C07}"/>
              </a:ext>
            </a:extLst>
          </p:cNvPr>
          <p:cNvSpPr>
            <a:spLocks noGrp="1"/>
          </p:cNvSpPr>
          <p:nvPr>
            <p:ph type="pic" sz="quarter" idx="16"/>
          </p:nvPr>
        </p:nvSpPr>
        <p:spPr>
          <a:xfrm rot="1800000">
            <a:off x="84359" y="4502322"/>
            <a:ext cx="2514600" cy="3556000"/>
          </a:xfrm>
          <a:prstGeom prst="roundRect">
            <a:avLst>
              <a:gd name="adj" fmla="val 5974"/>
            </a:avLst>
          </a:prstGeom>
          <a:solidFill>
            <a:schemeClr val="bg1">
              <a:alpha val="22000"/>
            </a:schemeClr>
          </a:solidFill>
        </p:spPr>
        <p:txBody>
          <a:bodyPr/>
          <a:lstStyle/>
          <a:p>
            <a:r>
              <a:rPr lang="en-US"/>
              <a:t>Click icon to add picture</a:t>
            </a:r>
          </a:p>
        </p:txBody>
      </p:sp>
      <p:sp>
        <p:nvSpPr>
          <p:cNvPr id="8" name="Picture Placeholder 2">
            <a:extLst>
              <a:ext uri="{FF2B5EF4-FFF2-40B4-BE49-F238E27FC236}">
                <a16:creationId xmlns:a16="http://schemas.microsoft.com/office/drawing/2014/main" id="{DFFFA151-16A1-9B98-1703-DF3BD76A580C}"/>
              </a:ext>
            </a:extLst>
          </p:cNvPr>
          <p:cNvSpPr>
            <a:spLocks noGrp="1"/>
          </p:cNvSpPr>
          <p:nvPr>
            <p:ph type="pic" sz="quarter" idx="18"/>
          </p:nvPr>
        </p:nvSpPr>
        <p:spPr>
          <a:xfrm rot="1800000">
            <a:off x="7636594" y="-2813092"/>
            <a:ext cx="2514600" cy="3556000"/>
          </a:xfrm>
          <a:prstGeom prst="roundRect">
            <a:avLst>
              <a:gd name="adj" fmla="val 5417"/>
            </a:avLst>
          </a:prstGeom>
          <a:solidFill>
            <a:schemeClr val="bg1">
              <a:alpha val="22000"/>
            </a:schemeClr>
          </a:solidFill>
        </p:spPr>
        <p:txBody>
          <a:bodyPr/>
          <a:lstStyle/>
          <a:p>
            <a:r>
              <a:rPr lang="en-US"/>
              <a:t>Click icon to add picture</a:t>
            </a:r>
          </a:p>
        </p:txBody>
      </p:sp>
      <p:sp>
        <p:nvSpPr>
          <p:cNvPr id="9" name="Picture Placeholder 2">
            <a:extLst>
              <a:ext uri="{FF2B5EF4-FFF2-40B4-BE49-F238E27FC236}">
                <a16:creationId xmlns:a16="http://schemas.microsoft.com/office/drawing/2014/main" id="{4F24E493-FD2C-0CC0-BC30-05A369396158}"/>
              </a:ext>
            </a:extLst>
          </p:cNvPr>
          <p:cNvSpPr>
            <a:spLocks noGrp="1"/>
          </p:cNvSpPr>
          <p:nvPr>
            <p:ph type="pic" sz="quarter" idx="19"/>
          </p:nvPr>
        </p:nvSpPr>
        <p:spPr>
          <a:xfrm rot="1800000">
            <a:off x="5658740" y="577972"/>
            <a:ext cx="2514600" cy="3556000"/>
          </a:xfrm>
          <a:prstGeom prst="roundRect">
            <a:avLst>
              <a:gd name="adj" fmla="val 5706"/>
            </a:avLst>
          </a:prstGeom>
          <a:solidFill>
            <a:schemeClr val="bg1">
              <a:alpha val="22000"/>
            </a:schemeClr>
          </a:solidFill>
        </p:spPr>
        <p:txBody>
          <a:bodyPr/>
          <a:lstStyle/>
          <a:p>
            <a:r>
              <a:rPr lang="en-US"/>
              <a:t>Click icon to add picture</a:t>
            </a:r>
          </a:p>
        </p:txBody>
      </p:sp>
      <p:sp>
        <p:nvSpPr>
          <p:cNvPr id="10" name="Picture Placeholder 2">
            <a:extLst>
              <a:ext uri="{FF2B5EF4-FFF2-40B4-BE49-F238E27FC236}">
                <a16:creationId xmlns:a16="http://schemas.microsoft.com/office/drawing/2014/main" id="{3DD47531-16FF-CA7B-3671-97557273E66C}"/>
              </a:ext>
            </a:extLst>
          </p:cNvPr>
          <p:cNvSpPr>
            <a:spLocks noGrp="1"/>
          </p:cNvSpPr>
          <p:nvPr>
            <p:ph type="pic" sz="quarter" idx="20"/>
          </p:nvPr>
        </p:nvSpPr>
        <p:spPr>
          <a:xfrm rot="1800000">
            <a:off x="3680885" y="4006972"/>
            <a:ext cx="2514600" cy="3556000"/>
          </a:xfrm>
          <a:prstGeom prst="roundRect">
            <a:avLst>
              <a:gd name="adj" fmla="val 4763"/>
            </a:avLst>
          </a:prstGeom>
          <a:solidFill>
            <a:schemeClr val="bg1">
              <a:alpha val="22000"/>
            </a:schemeClr>
          </a:solidFill>
        </p:spPr>
        <p:txBody>
          <a:bodyPr/>
          <a:lstStyle/>
          <a:p>
            <a:r>
              <a:rPr lang="en-US"/>
              <a:t>Click icon to add picture</a:t>
            </a:r>
          </a:p>
        </p:txBody>
      </p:sp>
      <p:sp>
        <p:nvSpPr>
          <p:cNvPr id="11" name="Picture Placeholder 2">
            <a:extLst>
              <a:ext uri="{FF2B5EF4-FFF2-40B4-BE49-F238E27FC236}">
                <a16:creationId xmlns:a16="http://schemas.microsoft.com/office/drawing/2014/main" id="{48728A01-5172-2DB3-5F5F-BFFB513CB06B}"/>
              </a:ext>
            </a:extLst>
          </p:cNvPr>
          <p:cNvSpPr>
            <a:spLocks noGrp="1"/>
          </p:cNvSpPr>
          <p:nvPr>
            <p:ph type="pic" sz="quarter" idx="22"/>
          </p:nvPr>
        </p:nvSpPr>
        <p:spPr>
          <a:xfrm rot="1800000">
            <a:off x="10839723" y="-2654772"/>
            <a:ext cx="2514600" cy="3556000"/>
          </a:xfrm>
          <a:prstGeom prst="roundRect">
            <a:avLst>
              <a:gd name="adj" fmla="val 6417"/>
            </a:avLst>
          </a:prstGeom>
          <a:solidFill>
            <a:schemeClr val="bg1">
              <a:alpha val="22000"/>
            </a:schemeClr>
          </a:solidFill>
        </p:spPr>
        <p:txBody>
          <a:bodyPr/>
          <a:lstStyle/>
          <a:p>
            <a:r>
              <a:rPr lang="en-US"/>
              <a:t>Click icon to add picture</a:t>
            </a:r>
          </a:p>
        </p:txBody>
      </p:sp>
      <p:sp>
        <p:nvSpPr>
          <p:cNvPr id="12" name="Picture Placeholder 2">
            <a:extLst>
              <a:ext uri="{FF2B5EF4-FFF2-40B4-BE49-F238E27FC236}">
                <a16:creationId xmlns:a16="http://schemas.microsoft.com/office/drawing/2014/main" id="{0D044CCD-E2EB-0CED-204B-6C932187EE89}"/>
              </a:ext>
            </a:extLst>
          </p:cNvPr>
          <p:cNvSpPr>
            <a:spLocks noGrp="1"/>
          </p:cNvSpPr>
          <p:nvPr>
            <p:ph type="pic" sz="quarter" idx="23"/>
          </p:nvPr>
        </p:nvSpPr>
        <p:spPr>
          <a:xfrm rot="1800000">
            <a:off x="8861869" y="736292"/>
            <a:ext cx="2514600" cy="3556000"/>
          </a:xfrm>
          <a:prstGeom prst="roundRect">
            <a:avLst>
              <a:gd name="adj" fmla="val 5995"/>
            </a:avLst>
          </a:prstGeom>
          <a:solidFill>
            <a:schemeClr val="bg1">
              <a:alpha val="22000"/>
            </a:schemeClr>
          </a:solidFill>
        </p:spPr>
        <p:txBody>
          <a:bodyPr/>
          <a:lstStyle/>
          <a:p>
            <a:r>
              <a:rPr lang="en-US"/>
              <a:t>Click icon to add picture</a:t>
            </a:r>
          </a:p>
        </p:txBody>
      </p:sp>
      <p:sp>
        <p:nvSpPr>
          <p:cNvPr id="13" name="Picture Placeholder 2">
            <a:extLst>
              <a:ext uri="{FF2B5EF4-FFF2-40B4-BE49-F238E27FC236}">
                <a16:creationId xmlns:a16="http://schemas.microsoft.com/office/drawing/2014/main" id="{264E47C0-44DE-6191-1402-4A4C39C16F0E}"/>
              </a:ext>
            </a:extLst>
          </p:cNvPr>
          <p:cNvSpPr>
            <a:spLocks noGrp="1"/>
          </p:cNvSpPr>
          <p:nvPr>
            <p:ph type="pic" sz="quarter" idx="24"/>
          </p:nvPr>
        </p:nvSpPr>
        <p:spPr>
          <a:xfrm rot="1800000">
            <a:off x="6884014" y="4165292"/>
            <a:ext cx="2514600" cy="3556000"/>
          </a:xfrm>
          <a:prstGeom prst="roundRect">
            <a:avLst>
              <a:gd name="adj" fmla="val 5551"/>
            </a:avLst>
          </a:prstGeom>
          <a:solidFill>
            <a:schemeClr val="bg1">
              <a:alpha val="22000"/>
            </a:schemeClr>
          </a:solidFill>
        </p:spPr>
        <p:txBody>
          <a:bodyPr/>
          <a:lstStyle/>
          <a:p>
            <a:r>
              <a:rPr lang="en-US"/>
              <a:t>Click icon to add picture</a:t>
            </a:r>
          </a:p>
        </p:txBody>
      </p:sp>
      <p:sp>
        <p:nvSpPr>
          <p:cNvPr id="14" name="Picture Placeholder 2">
            <a:extLst>
              <a:ext uri="{FF2B5EF4-FFF2-40B4-BE49-F238E27FC236}">
                <a16:creationId xmlns:a16="http://schemas.microsoft.com/office/drawing/2014/main" id="{D37C95DB-CED8-436A-AB32-E4B678667870}"/>
              </a:ext>
            </a:extLst>
          </p:cNvPr>
          <p:cNvSpPr>
            <a:spLocks noGrp="1"/>
          </p:cNvSpPr>
          <p:nvPr>
            <p:ph type="pic" sz="quarter" idx="26"/>
          </p:nvPr>
        </p:nvSpPr>
        <p:spPr>
          <a:xfrm rot="1800000">
            <a:off x="12203746" y="736292"/>
            <a:ext cx="2514600" cy="3556000"/>
          </a:xfrm>
          <a:prstGeom prst="roundRect">
            <a:avLst>
              <a:gd name="adj" fmla="val 4629"/>
            </a:avLst>
          </a:prstGeom>
          <a:solidFill>
            <a:schemeClr val="bg1">
              <a:alpha val="22000"/>
            </a:schemeClr>
          </a:solidFill>
        </p:spPr>
        <p:txBody>
          <a:bodyPr/>
          <a:lstStyle/>
          <a:p>
            <a:r>
              <a:rPr lang="en-US"/>
              <a:t>Click icon to add picture</a:t>
            </a:r>
          </a:p>
        </p:txBody>
      </p:sp>
      <p:sp>
        <p:nvSpPr>
          <p:cNvPr id="15" name="Picture Placeholder 2">
            <a:extLst>
              <a:ext uri="{FF2B5EF4-FFF2-40B4-BE49-F238E27FC236}">
                <a16:creationId xmlns:a16="http://schemas.microsoft.com/office/drawing/2014/main" id="{82E5958C-B18B-6C7E-2E1F-1F9A9944A1E6}"/>
              </a:ext>
            </a:extLst>
          </p:cNvPr>
          <p:cNvSpPr>
            <a:spLocks noGrp="1"/>
          </p:cNvSpPr>
          <p:nvPr>
            <p:ph type="pic" sz="quarter" idx="27"/>
          </p:nvPr>
        </p:nvSpPr>
        <p:spPr>
          <a:xfrm rot="1800000">
            <a:off x="10225892" y="4127356"/>
            <a:ext cx="2514600" cy="3556000"/>
          </a:xfrm>
          <a:prstGeom prst="roundRect">
            <a:avLst>
              <a:gd name="adj" fmla="val 2840"/>
            </a:avLst>
          </a:prstGeom>
          <a:solidFill>
            <a:schemeClr val="bg1">
              <a:alpha val="22000"/>
            </a:schemeClr>
          </a:solidFill>
        </p:spPr>
        <p:txBody>
          <a:bodyPr/>
          <a:lstStyle/>
          <a:p>
            <a:r>
              <a:rPr lang="en-US"/>
              <a:t>Click icon to add picture</a:t>
            </a:r>
          </a:p>
        </p:txBody>
      </p:sp>
    </p:spTree>
    <p:extLst>
      <p:ext uri="{BB962C8B-B14F-4D97-AF65-F5344CB8AC3E}">
        <p14:creationId xmlns:p14="http://schemas.microsoft.com/office/powerpoint/2010/main" val="1954083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5AC7BCD8-BBB5-912E-C700-F713B439165B}"/>
              </a:ext>
            </a:extLst>
          </p:cNvPr>
          <p:cNvGrpSpPr/>
          <p:nvPr/>
        </p:nvGrpSpPr>
        <p:grpSpPr>
          <a:xfrm rot="5788864">
            <a:off x="9620157" y="1363117"/>
            <a:ext cx="4630512" cy="3324978"/>
            <a:chOff x="1235075" y="2056498"/>
            <a:chExt cx="4630512" cy="3324978"/>
          </a:xfrm>
        </p:grpSpPr>
        <p:sp>
          <p:nvSpPr>
            <p:cNvPr id="13" name="Oval 12">
              <a:extLst>
                <a:ext uri="{FF2B5EF4-FFF2-40B4-BE49-F238E27FC236}">
                  <a16:creationId xmlns:a16="http://schemas.microsoft.com/office/drawing/2014/main" id="{0986C22A-B506-C2BB-F2CD-68ABE6B3BC2D}"/>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4" name="Oval 13">
              <a:extLst>
                <a:ext uri="{FF2B5EF4-FFF2-40B4-BE49-F238E27FC236}">
                  <a16:creationId xmlns:a16="http://schemas.microsoft.com/office/drawing/2014/main" id="{415B9520-605C-85F1-8B92-A1D7D2A09119}"/>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5" name="Group 4">
            <a:extLst>
              <a:ext uri="{FF2B5EF4-FFF2-40B4-BE49-F238E27FC236}">
                <a16:creationId xmlns:a16="http://schemas.microsoft.com/office/drawing/2014/main" id="{7E562BAC-D68F-F8C9-8A69-A89856C9F917}"/>
              </a:ext>
            </a:extLst>
          </p:cNvPr>
          <p:cNvGrpSpPr/>
          <p:nvPr/>
        </p:nvGrpSpPr>
        <p:grpSpPr>
          <a:xfrm rot="7912563">
            <a:off x="5449291" y="4371838"/>
            <a:ext cx="4630512" cy="3324978"/>
            <a:chOff x="1235075" y="2056498"/>
            <a:chExt cx="4630512" cy="3324978"/>
          </a:xfrm>
        </p:grpSpPr>
        <p:sp>
          <p:nvSpPr>
            <p:cNvPr id="6" name="Oval 5">
              <a:extLst>
                <a:ext uri="{FF2B5EF4-FFF2-40B4-BE49-F238E27FC236}">
                  <a16:creationId xmlns:a16="http://schemas.microsoft.com/office/drawing/2014/main" id="{3D7DF35E-0251-13B5-4E77-6EF8E74F498B}"/>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7" name="Oval 6">
              <a:extLst>
                <a:ext uri="{FF2B5EF4-FFF2-40B4-BE49-F238E27FC236}">
                  <a16:creationId xmlns:a16="http://schemas.microsoft.com/office/drawing/2014/main" id="{0C2F3FD2-54EC-5B99-E659-6951BE42FDDB}"/>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8" name="Oval 7">
            <a:extLst>
              <a:ext uri="{FF2B5EF4-FFF2-40B4-BE49-F238E27FC236}">
                <a16:creationId xmlns:a16="http://schemas.microsoft.com/office/drawing/2014/main" id="{BCCAD2E7-7727-034B-C7F0-24F51FCD2612}"/>
              </a:ext>
            </a:extLst>
          </p:cNvPr>
          <p:cNvSpPr/>
          <p:nvPr/>
        </p:nvSpPr>
        <p:spPr>
          <a:xfrm>
            <a:off x="8072186" y="1537574"/>
            <a:ext cx="2644183" cy="2644185"/>
          </a:xfrm>
          <a:prstGeom prst="ellipse">
            <a:avLst/>
          </a:prstGeom>
          <a:solidFill>
            <a:schemeClr val="accent4">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nvGrpSpPr>
          <p:cNvPr id="9" name="Group 8">
            <a:extLst>
              <a:ext uri="{FF2B5EF4-FFF2-40B4-BE49-F238E27FC236}">
                <a16:creationId xmlns:a16="http://schemas.microsoft.com/office/drawing/2014/main" id="{E7AF0B6F-993F-074F-F0EA-B8C53DEA305C}"/>
              </a:ext>
            </a:extLst>
          </p:cNvPr>
          <p:cNvGrpSpPr/>
          <p:nvPr/>
        </p:nvGrpSpPr>
        <p:grpSpPr>
          <a:xfrm rot="12431310">
            <a:off x="9172153" y="-897315"/>
            <a:ext cx="4630512" cy="3324978"/>
            <a:chOff x="1235075" y="2056498"/>
            <a:chExt cx="4630512" cy="3324978"/>
          </a:xfrm>
        </p:grpSpPr>
        <p:sp>
          <p:nvSpPr>
            <p:cNvPr id="10" name="Oval 9">
              <a:extLst>
                <a:ext uri="{FF2B5EF4-FFF2-40B4-BE49-F238E27FC236}">
                  <a16:creationId xmlns:a16="http://schemas.microsoft.com/office/drawing/2014/main" id="{CF9AF289-372E-E6B7-9491-53ED52EC9FCC}"/>
                </a:ext>
              </a:extLst>
            </p:cNvPr>
            <p:cNvSpPr/>
            <p:nvPr/>
          </p:nvSpPr>
          <p:spPr>
            <a:xfrm>
              <a:off x="2557167" y="2073053"/>
              <a:ext cx="3308420" cy="3308423"/>
            </a:xfrm>
            <a:prstGeom prst="ellipse">
              <a:avLst/>
            </a:prstGeom>
            <a:solidFill>
              <a:schemeClr val="accent1">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1" name="Oval 10">
              <a:extLst>
                <a:ext uri="{FF2B5EF4-FFF2-40B4-BE49-F238E27FC236}">
                  <a16:creationId xmlns:a16="http://schemas.microsoft.com/office/drawing/2014/main" id="{D163C761-BEFE-7968-010C-B639D83B4197}"/>
                </a:ext>
              </a:extLst>
            </p:cNvPr>
            <p:cNvSpPr/>
            <p:nvPr/>
          </p:nvSpPr>
          <p:spPr>
            <a:xfrm>
              <a:off x="1235075" y="2056498"/>
              <a:ext cx="2644183" cy="2644185"/>
            </a:xfrm>
            <a:prstGeom prst="ellipse">
              <a:avLst/>
            </a:prstGeom>
            <a:solidFill>
              <a:schemeClr val="accent5">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4" name="Freeform: Shape 3">
            <a:extLst>
              <a:ext uri="{FF2B5EF4-FFF2-40B4-BE49-F238E27FC236}">
                <a16:creationId xmlns:a16="http://schemas.microsoft.com/office/drawing/2014/main" id="{46A939C4-D05C-E117-688F-83E01583B556}"/>
              </a:ext>
            </a:extLst>
          </p:cNvPr>
          <p:cNvSpPr/>
          <p:nvPr/>
        </p:nvSpPr>
        <p:spPr>
          <a:xfrm>
            <a:off x="0" y="0"/>
            <a:ext cx="12192000" cy="6858000"/>
          </a:xfrm>
          <a:custGeom>
            <a:avLst/>
            <a:gdLst>
              <a:gd name="connsiteX0" fmla="*/ 0 w 12071901"/>
              <a:gd name="connsiteY0" fmla="*/ 0 h 6858000"/>
              <a:gd name="connsiteX1" fmla="*/ 12071901 w 12071901"/>
              <a:gd name="connsiteY1" fmla="*/ 0 h 6858000"/>
              <a:gd name="connsiteX2" fmla="*/ 12071901 w 12071901"/>
              <a:gd name="connsiteY2" fmla="*/ 771371 h 6858000"/>
              <a:gd name="connsiteX3" fmla="*/ 11965418 w 12071901"/>
              <a:gd name="connsiteY3" fmla="*/ 797841 h 6858000"/>
              <a:gd name="connsiteX4" fmla="*/ 9834691 w 12071901"/>
              <a:gd name="connsiteY4" fmla="*/ 1060011 h 6858000"/>
              <a:gd name="connsiteX5" fmla="*/ 7967422 w 12071901"/>
              <a:gd name="connsiteY5" fmla="*/ 5142294 h 6858000"/>
              <a:gd name="connsiteX6" fmla="*/ 6014576 w 12071901"/>
              <a:gd name="connsiteY6" fmla="*/ 6726986 h 6858000"/>
              <a:gd name="connsiteX7" fmla="*/ 5858757 w 12071901"/>
              <a:gd name="connsiteY7" fmla="*/ 6858000 h 6858000"/>
              <a:gd name="connsiteX8" fmla="*/ 0 w 120719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71901" h="6858000">
                <a:moveTo>
                  <a:pt x="0" y="0"/>
                </a:moveTo>
                <a:lnTo>
                  <a:pt x="12071901" y="0"/>
                </a:lnTo>
                <a:lnTo>
                  <a:pt x="12071901" y="771371"/>
                </a:lnTo>
                <a:lnTo>
                  <a:pt x="11965418" y="797841"/>
                </a:lnTo>
                <a:cubicBezTo>
                  <a:pt x="11242708" y="923208"/>
                  <a:pt x="10418997" y="469648"/>
                  <a:pt x="9834691" y="1060011"/>
                </a:cubicBezTo>
                <a:cubicBezTo>
                  <a:pt x="9055622" y="1847162"/>
                  <a:pt x="8750580" y="4035180"/>
                  <a:pt x="7967422" y="5142294"/>
                </a:cubicBezTo>
                <a:cubicBezTo>
                  <a:pt x="7429001" y="5903436"/>
                  <a:pt x="6697631" y="6183012"/>
                  <a:pt x="6014576" y="6726986"/>
                </a:cubicBezTo>
                <a:lnTo>
                  <a:pt x="5858757" y="6858000"/>
                </a:lnTo>
                <a:lnTo>
                  <a:pt x="0"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nvGrpSpPr>
          <p:cNvPr id="15" name="Group 14">
            <a:extLst>
              <a:ext uri="{FF2B5EF4-FFF2-40B4-BE49-F238E27FC236}">
                <a16:creationId xmlns:a16="http://schemas.microsoft.com/office/drawing/2014/main" id="{52F0B6B8-79AC-C3DD-5C66-CE304269FB4D}"/>
              </a:ext>
            </a:extLst>
          </p:cNvPr>
          <p:cNvGrpSpPr/>
          <p:nvPr/>
        </p:nvGrpSpPr>
        <p:grpSpPr>
          <a:xfrm rot="7912563">
            <a:off x="8749999" y="4943552"/>
            <a:ext cx="4630512" cy="3324978"/>
            <a:chOff x="1235075" y="2056498"/>
            <a:chExt cx="4630512" cy="3324978"/>
          </a:xfrm>
        </p:grpSpPr>
        <p:sp>
          <p:nvSpPr>
            <p:cNvPr id="16" name="Oval 15">
              <a:extLst>
                <a:ext uri="{FF2B5EF4-FFF2-40B4-BE49-F238E27FC236}">
                  <a16:creationId xmlns:a16="http://schemas.microsoft.com/office/drawing/2014/main" id="{73D9FA53-17A2-CE0C-D8CC-68AA6D24BCB4}"/>
                </a:ext>
              </a:extLst>
            </p:cNvPr>
            <p:cNvSpPr/>
            <p:nvPr/>
          </p:nvSpPr>
          <p:spPr>
            <a:xfrm>
              <a:off x="2557167" y="2073053"/>
              <a:ext cx="3308420" cy="3308423"/>
            </a:xfrm>
            <a:prstGeom prst="ellipse">
              <a:avLst/>
            </a:prstGeom>
            <a:solidFill>
              <a:schemeClr val="accent3">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7" name="Oval 16">
              <a:extLst>
                <a:ext uri="{FF2B5EF4-FFF2-40B4-BE49-F238E27FC236}">
                  <a16:creationId xmlns:a16="http://schemas.microsoft.com/office/drawing/2014/main" id="{5E02FA8B-E072-98C5-AD3E-DB4929B7FC16}"/>
                </a:ext>
              </a:extLst>
            </p:cNvPr>
            <p:cNvSpPr/>
            <p:nvPr/>
          </p:nvSpPr>
          <p:spPr>
            <a:xfrm>
              <a:off x="1235075" y="2056498"/>
              <a:ext cx="2644183" cy="2644185"/>
            </a:xfrm>
            <a:prstGeom prst="ellipse">
              <a:avLst/>
            </a:prstGeom>
            <a:solidFill>
              <a:schemeClr val="accent2">
                <a:alpha val="20000"/>
              </a:schemeClr>
            </a:solidFill>
            <a:ln>
              <a:noFill/>
            </a:ln>
            <a:effectLst>
              <a:softEdge rad="762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p:nvSpPr>
          <p:cNvPr id="18" name="Picture Placeholder 43">
            <a:extLst>
              <a:ext uri="{FF2B5EF4-FFF2-40B4-BE49-F238E27FC236}">
                <a16:creationId xmlns:a16="http://schemas.microsoft.com/office/drawing/2014/main" id="{B7C72A2E-E9DE-5E20-B6E3-7889A575CFE4}"/>
              </a:ext>
            </a:extLst>
          </p:cNvPr>
          <p:cNvSpPr>
            <a:spLocks noGrp="1"/>
          </p:cNvSpPr>
          <p:nvPr>
            <p:ph type="pic" sz="quarter" idx="10"/>
          </p:nvPr>
        </p:nvSpPr>
        <p:spPr>
          <a:xfrm>
            <a:off x="6096000" y="1991275"/>
            <a:ext cx="5029199" cy="3367176"/>
          </a:xfrm>
          <a:custGeom>
            <a:avLst/>
            <a:gdLst>
              <a:gd name="connsiteX0" fmla="*/ 249654 w 4838700"/>
              <a:gd name="connsiteY0" fmla="*/ 0 h 4140200"/>
              <a:gd name="connsiteX1" fmla="*/ 4589046 w 4838700"/>
              <a:gd name="connsiteY1" fmla="*/ 0 h 4140200"/>
              <a:gd name="connsiteX2" fmla="*/ 4838700 w 4838700"/>
              <a:gd name="connsiteY2" fmla="*/ 249654 h 4140200"/>
              <a:gd name="connsiteX3" fmla="*/ 4838700 w 4838700"/>
              <a:gd name="connsiteY3" fmla="*/ 3890546 h 4140200"/>
              <a:gd name="connsiteX4" fmla="*/ 4589046 w 4838700"/>
              <a:gd name="connsiteY4" fmla="*/ 4140200 h 4140200"/>
              <a:gd name="connsiteX5" fmla="*/ 249654 w 4838700"/>
              <a:gd name="connsiteY5" fmla="*/ 4140200 h 4140200"/>
              <a:gd name="connsiteX6" fmla="*/ 0 w 4838700"/>
              <a:gd name="connsiteY6" fmla="*/ 3890546 h 4140200"/>
              <a:gd name="connsiteX7" fmla="*/ 0 w 4838700"/>
              <a:gd name="connsiteY7" fmla="*/ 249654 h 4140200"/>
              <a:gd name="connsiteX8" fmla="*/ 249654 w 4838700"/>
              <a:gd name="connsiteY8" fmla="*/ 0 h 414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8700" h="4140200">
                <a:moveTo>
                  <a:pt x="249654" y="0"/>
                </a:moveTo>
                <a:lnTo>
                  <a:pt x="4589046" y="0"/>
                </a:lnTo>
                <a:cubicBezTo>
                  <a:pt x="4726926" y="0"/>
                  <a:pt x="4838700" y="111774"/>
                  <a:pt x="4838700" y="249654"/>
                </a:cubicBezTo>
                <a:lnTo>
                  <a:pt x="4838700" y="3890546"/>
                </a:lnTo>
                <a:cubicBezTo>
                  <a:pt x="4838700" y="4028426"/>
                  <a:pt x="4726926" y="4140200"/>
                  <a:pt x="4589046" y="4140200"/>
                </a:cubicBezTo>
                <a:lnTo>
                  <a:pt x="249654" y="4140200"/>
                </a:lnTo>
                <a:cubicBezTo>
                  <a:pt x="111774" y="4140200"/>
                  <a:pt x="0" y="4028426"/>
                  <a:pt x="0" y="3890546"/>
                </a:cubicBezTo>
                <a:lnTo>
                  <a:pt x="0" y="249654"/>
                </a:lnTo>
                <a:cubicBezTo>
                  <a:pt x="0" y="111774"/>
                  <a:pt x="111774" y="0"/>
                  <a:pt x="249654" y="0"/>
                </a:cubicBezTo>
                <a:close/>
              </a:path>
            </a:pathLst>
          </a:custGeom>
          <a:solidFill>
            <a:schemeClr val="bg1">
              <a:lumMod val="95000"/>
            </a:schemeClr>
          </a:solidFill>
          <a:effectLst>
            <a:outerShdw blurRad="635000" dist="127000" dir="2700000" sx="95000" sy="95000" algn="tl" rotWithShape="0">
              <a:prstClr val="black">
                <a:alpha val="18000"/>
              </a:prstClr>
            </a:outerShdw>
          </a:effectLst>
        </p:spPr>
        <p:txBody>
          <a:bodyPr wrap="square" anchor="ctr">
            <a:noAutofit/>
          </a:bodyPr>
          <a:lstStyle>
            <a:lvl1pPr marL="0" indent="0" algn="ctr">
              <a:buNone/>
              <a:defRPr lang="en-US" b="0">
                <a:solidFill>
                  <a:schemeClr val="bg1">
                    <a:lumMod val="50000"/>
                  </a:schemeClr>
                </a:solidFill>
              </a:defRPr>
            </a:lvl1pPr>
          </a:lstStyle>
          <a:p>
            <a:pPr marL="228600" lvl="0" indent="-228600"/>
            <a:r>
              <a:rPr lang="en-US"/>
              <a:t>Click icon to add picture</a:t>
            </a:r>
            <a:endParaRPr lang="en-US" dirty="0"/>
          </a:p>
        </p:txBody>
      </p:sp>
    </p:spTree>
    <p:extLst>
      <p:ext uri="{BB962C8B-B14F-4D97-AF65-F5344CB8AC3E}">
        <p14:creationId xmlns:p14="http://schemas.microsoft.com/office/powerpoint/2010/main" val="8919263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1588475-84BC-61B8-C474-10604CD5BE82}"/>
              </a:ext>
            </a:extLst>
          </p:cNvPr>
          <p:cNvSpPr>
            <a:spLocks noGrp="1"/>
          </p:cNvSpPr>
          <p:nvPr>
            <p:ph type="pic" sz="quarter" idx="10" hasCustomPrompt="1"/>
          </p:nvPr>
        </p:nvSpPr>
        <p:spPr>
          <a:xfrm>
            <a:off x="7186073" y="1"/>
            <a:ext cx="5005927" cy="6857997"/>
          </a:xfrm>
          <a:custGeom>
            <a:avLst/>
            <a:gdLst>
              <a:gd name="connsiteX0" fmla="*/ 85041 w 5005927"/>
              <a:gd name="connsiteY0" fmla="*/ 0 h 6857997"/>
              <a:gd name="connsiteX1" fmla="*/ 5005927 w 5005927"/>
              <a:gd name="connsiteY1" fmla="*/ 0 h 6857997"/>
              <a:gd name="connsiteX2" fmla="*/ 5005927 w 5005927"/>
              <a:gd name="connsiteY2" fmla="*/ 6857997 h 6857997"/>
              <a:gd name="connsiteX3" fmla="*/ 85051 w 5005927"/>
              <a:gd name="connsiteY3" fmla="*/ 6857997 h 6857997"/>
              <a:gd name="connsiteX4" fmla="*/ 0 w 5005927"/>
              <a:gd name="connsiteY4" fmla="*/ 6772946 h 6857997"/>
              <a:gd name="connsiteX5" fmla="*/ 0 w 5005927"/>
              <a:gd name="connsiteY5" fmla="*/ 85049 h 6857997"/>
              <a:gd name="connsiteX6" fmla="*/ 51946 w 5005927"/>
              <a:gd name="connsiteY6" fmla="*/ 6682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5927" h="6857997">
                <a:moveTo>
                  <a:pt x="85041" y="0"/>
                </a:moveTo>
                <a:lnTo>
                  <a:pt x="5005927" y="0"/>
                </a:lnTo>
                <a:lnTo>
                  <a:pt x="5005927" y="6857997"/>
                </a:lnTo>
                <a:lnTo>
                  <a:pt x="85051" y="6857997"/>
                </a:lnTo>
                <a:cubicBezTo>
                  <a:pt x="38079" y="6857997"/>
                  <a:pt x="0" y="6819918"/>
                  <a:pt x="0" y="6772946"/>
                </a:cubicBezTo>
                <a:lnTo>
                  <a:pt x="0" y="85049"/>
                </a:lnTo>
                <a:cubicBezTo>
                  <a:pt x="0" y="49820"/>
                  <a:pt x="21420" y="19593"/>
                  <a:pt x="51946" y="6682"/>
                </a:cubicBezTo>
                <a:close/>
              </a:path>
            </a:pathLst>
          </a:custGeom>
          <a:solidFill>
            <a:schemeClr val="bg1">
              <a:lumMod val="95000"/>
              <a:alpha val="50000"/>
            </a:schemeClr>
          </a:solidFill>
        </p:spPr>
        <p:txBody>
          <a:bodyPr wrap="square" anchor="ctr">
            <a:noAutofit/>
          </a:bodyPr>
          <a:lstStyle>
            <a:lvl1pPr>
              <a:defRPr lang="en-US" sz="1600">
                <a:solidFill>
                  <a:schemeClr val="accent1">
                    <a:alpha val="50000"/>
                  </a:schemeClr>
                </a:solidFill>
                <a:latin typeface="+mj-lt"/>
              </a:defRPr>
            </a:lvl1pPr>
          </a:lstStyle>
          <a:p>
            <a:pPr marL="0" lvl="0" indent="0" algn="ctr">
              <a:buNone/>
            </a:pPr>
            <a:r>
              <a:rPr lang="en-US"/>
              <a:t>Image Placeholder</a:t>
            </a:r>
          </a:p>
        </p:txBody>
      </p:sp>
    </p:spTree>
    <p:extLst>
      <p:ext uri="{BB962C8B-B14F-4D97-AF65-F5344CB8AC3E}">
        <p14:creationId xmlns:p14="http://schemas.microsoft.com/office/powerpoint/2010/main" val="2720130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9A12DFBF-0878-3C8F-3C48-089F469D7A00}"/>
              </a:ext>
            </a:extLst>
          </p:cNvPr>
          <p:cNvSpPr>
            <a:spLocks noGrp="1"/>
          </p:cNvSpPr>
          <p:nvPr>
            <p:ph type="pic" sz="quarter" idx="10" hasCustomPrompt="1"/>
          </p:nvPr>
        </p:nvSpPr>
        <p:spPr>
          <a:xfrm>
            <a:off x="1235075" y="2"/>
            <a:ext cx="4012110" cy="4848237"/>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33756114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3_Custom Layout">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C15BA3-7B5A-E96C-D97A-1EAA72FC2246}"/>
              </a:ext>
            </a:extLst>
          </p:cNvPr>
          <p:cNvSpPr txBox="1"/>
          <p:nvPr/>
        </p:nvSpPr>
        <p:spPr>
          <a:xfrm>
            <a:off x="241300" y="6360139"/>
            <a:ext cx="2416175" cy="230832"/>
          </a:xfrm>
          <a:prstGeom prst="rect">
            <a:avLst/>
          </a:prstGeom>
          <a:noFill/>
        </p:spPr>
        <p:txBody>
          <a:bodyPr wrap="square" anchor="ctr">
            <a:spAutoFit/>
          </a:bodyPr>
          <a:lstStyle/>
          <a:p>
            <a:pPr algn="l">
              <a:spcAft>
                <a:spcPts val="600"/>
              </a:spcAft>
            </a:pPr>
            <a:r>
              <a:rPr lang="en-US" sz="900" b="1">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BizPlus.</a:t>
            </a:r>
            <a:r>
              <a:rPr lang="en-US" sz="900">
                <a:ln w="63500">
                  <a:noFill/>
                </a:ln>
                <a:solidFill>
                  <a:schemeClr val="bg1"/>
                </a:solidFill>
                <a:effectLst>
                  <a:outerShdw blurRad="571500" dist="190500" dir="5400000" sx="90000" sy="90000" algn="t" rotWithShape="0">
                    <a:prstClr val="black">
                      <a:alpha val="20000"/>
                    </a:prstClr>
                  </a:outerShdw>
                </a:effectLst>
                <a:latin typeface="+mj-lt"/>
                <a:ea typeface="Inter Extrabold" panose="020B0502030000000004" pitchFamily="34" charset="0"/>
                <a:cs typeface="Poppins" panose="00000500000000000000" pitchFamily="2" charset="0"/>
              </a:rPr>
              <a:t>  </a:t>
            </a:r>
            <a:r>
              <a:rPr lang="en-US" sz="90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Business</a:t>
            </a:r>
            <a:r>
              <a:rPr lang="en-US" sz="900" baseline="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rPr>
              <a:t> Template Presentation</a:t>
            </a:r>
            <a:endParaRPr lang="en-ID" sz="900" dirty="0">
              <a:ln w="63500">
                <a:noFill/>
              </a:ln>
              <a:solidFill>
                <a:schemeClr val="bg1"/>
              </a:solidFill>
              <a:effectLst>
                <a:outerShdw blurRad="571500" dist="190500" dir="5400000" sx="90000" sy="90000" algn="t" rotWithShape="0">
                  <a:prstClr val="black">
                    <a:alpha val="20000"/>
                  </a:prstClr>
                </a:outerShdw>
              </a:effectLst>
              <a:latin typeface="+mn-lt"/>
              <a:ea typeface="Inter Extrabold" panose="020B0502030000000004" pitchFamily="34" charset="0"/>
              <a:cs typeface="Poppins" panose="00000500000000000000" pitchFamily="2" charset="0"/>
            </a:endParaRPr>
          </a:p>
        </p:txBody>
      </p:sp>
      <p:sp>
        <p:nvSpPr>
          <p:cNvPr id="3" name="TextBox 2">
            <a:extLst>
              <a:ext uri="{FF2B5EF4-FFF2-40B4-BE49-F238E27FC236}">
                <a16:creationId xmlns:a16="http://schemas.microsoft.com/office/drawing/2014/main" id="{C40EEA72-F316-6655-3E6F-4908B954C703}"/>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bg1"/>
                </a:solidFill>
                <a:latin typeface="+mn-lt"/>
                <a:ea typeface="Inter SemiBold" panose="020B0502030000000004" pitchFamily="34" charset="0"/>
              </a:rPr>
              <a:t>/ </a:t>
            </a:r>
            <a:fld id="{49BA30FB-CA1F-46F2-A2CB-DF7CFB533C33}" type="slidenum">
              <a:rPr lang="en-ID" sz="900" smtClean="0">
                <a:solidFill>
                  <a:schemeClr val="bg1"/>
                </a:solidFill>
                <a:latin typeface="+mn-lt"/>
                <a:ea typeface="Inter SemiBold" panose="020B0502030000000004" pitchFamily="34" charset="0"/>
              </a:rPr>
              <a:pPr algn="ctr"/>
              <a:t>‹#›</a:t>
            </a:fld>
            <a:endParaRPr lang="en-ID" sz="900" dirty="0">
              <a:solidFill>
                <a:schemeClr val="bg1"/>
              </a:solidFill>
              <a:latin typeface="+mn-lt"/>
              <a:ea typeface="Inter SemiBold" panose="020B0502030000000004" pitchFamily="34" charset="0"/>
            </a:endParaRPr>
          </a:p>
        </p:txBody>
      </p:sp>
    </p:spTree>
    <p:extLst>
      <p:ext uri="{BB962C8B-B14F-4D97-AF65-F5344CB8AC3E}">
        <p14:creationId xmlns:p14="http://schemas.microsoft.com/office/powerpoint/2010/main" val="2043094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1013D0B-DA5E-7761-9099-18E5BAFEBE29}"/>
              </a:ext>
            </a:extLst>
          </p:cNvPr>
          <p:cNvSpPr>
            <a:spLocks noGrp="1"/>
          </p:cNvSpPr>
          <p:nvPr>
            <p:ph type="pic" sz="quarter" idx="10"/>
          </p:nvPr>
        </p:nvSpPr>
        <p:spPr>
          <a:xfrm>
            <a:off x="0" y="800102"/>
            <a:ext cx="5791200" cy="5257796"/>
          </a:xfrm>
          <a:custGeom>
            <a:avLst/>
            <a:gdLst>
              <a:gd name="connsiteX0" fmla="*/ 0 w 5791200"/>
              <a:gd name="connsiteY0" fmla="*/ 0 h 5257796"/>
              <a:gd name="connsiteX1" fmla="*/ 5664172 w 5791200"/>
              <a:gd name="connsiteY1" fmla="*/ 0 h 5257796"/>
              <a:gd name="connsiteX2" fmla="*/ 5791200 w 5791200"/>
              <a:gd name="connsiteY2" fmla="*/ 127028 h 5257796"/>
              <a:gd name="connsiteX3" fmla="*/ 5791200 w 5791200"/>
              <a:gd name="connsiteY3" fmla="*/ 5130771 h 5257796"/>
              <a:gd name="connsiteX4" fmla="*/ 5713617 w 5791200"/>
              <a:gd name="connsiteY4" fmla="*/ 5247817 h 5257796"/>
              <a:gd name="connsiteX5" fmla="*/ 5664187 w 5791200"/>
              <a:gd name="connsiteY5" fmla="*/ 5257796 h 5257796"/>
              <a:gd name="connsiteX6" fmla="*/ 0 w 5791200"/>
              <a:gd name="connsiteY6" fmla="*/ 5257796 h 525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91200" h="5257796">
                <a:moveTo>
                  <a:pt x="0" y="0"/>
                </a:moveTo>
                <a:lnTo>
                  <a:pt x="5664172" y="0"/>
                </a:lnTo>
                <a:cubicBezTo>
                  <a:pt x="5734328" y="0"/>
                  <a:pt x="5791200" y="56872"/>
                  <a:pt x="5791200" y="127028"/>
                </a:cubicBezTo>
                <a:lnTo>
                  <a:pt x="5791200" y="5130771"/>
                </a:lnTo>
                <a:cubicBezTo>
                  <a:pt x="5791200" y="5183388"/>
                  <a:pt x="5759210" y="5228533"/>
                  <a:pt x="5713617" y="5247817"/>
                </a:cubicBezTo>
                <a:lnTo>
                  <a:pt x="5664187" y="5257796"/>
                </a:lnTo>
                <a:lnTo>
                  <a:pt x="0" y="525779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1473714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D1A057C-ED3D-51EA-E3A3-A4F58A27CD49}"/>
              </a:ext>
            </a:extLst>
          </p:cNvPr>
          <p:cNvGrpSpPr/>
          <p:nvPr/>
        </p:nvGrpSpPr>
        <p:grpSpPr>
          <a:xfrm>
            <a:off x="-458947" y="3876170"/>
            <a:ext cx="3582382" cy="2572359"/>
            <a:chOff x="-458947" y="3876170"/>
            <a:chExt cx="3582382" cy="2572359"/>
          </a:xfrm>
        </p:grpSpPr>
        <p:sp>
          <p:nvSpPr>
            <p:cNvPr id="8" name="Oval 7">
              <a:extLst>
                <a:ext uri="{FF2B5EF4-FFF2-40B4-BE49-F238E27FC236}">
                  <a16:creationId xmlns:a16="http://schemas.microsoft.com/office/drawing/2014/main" id="{4E4F875D-6E1A-78F5-CEA7-0AE68280B9BA}"/>
                </a:ext>
              </a:extLst>
            </p:cNvPr>
            <p:cNvSpPr/>
            <p:nvPr/>
          </p:nvSpPr>
          <p:spPr>
            <a:xfrm rot="10800000" flipV="1">
              <a:off x="-458947" y="3876170"/>
              <a:ext cx="2559550" cy="2559550"/>
            </a:xfrm>
            <a:prstGeom prst="ellipse">
              <a:avLst/>
            </a:prstGeom>
            <a:solidFill>
              <a:schemeClr val="accent1">
                <a:alpha val="20000"/>
              </a:schemeClr>
            </a:solid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9" name="Oval 8">
              <a:extLst>
                <a:ext uri="{FF2B5EF4-FFF2-40B4-BE49-F238E27FC236}">
                  <a16:creationId xmlns:a16="http://schemas.microsoft.com/office/drawing/2014/main" id="{51243EC3-4C9E-BAE6-126B-4EAFF21C34C2}"/>
                </a:ext>
              </a:extLst>
            </p:cNvPr>
            <p:cNvSpPr/>
            <p:nvPr/>
          </p:nvSpPr>
          <p:spPr>
            <a:xfrm rot="10800000" flipV="1">
              <a:off x="1077770" y="4402862"/>
              <a:ext cx="2045665" cy="2045667"/>
            </a:xfrm>
            <a:prstGeom prst="ellipse">
              <a:avLst/>
            </a:prstGeom>
            <a:solidFill>
              <a:schemeClr val="accent2">
                <a:alpha val="20000"/>
              </a:schemeClr>
            </a:solid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grpSp>
        <p:nvGrpSpPr>
          <p:cNvPr id="10" name="Group 9">
            <a:extLst>
              <a:ext uri="{FF2B5EF4-FFF2-40B4-BE49-F238E27FC236}">
                <a16:creationId xmlns:a16="http://schemas.microsoft.com/office/drawing/2014/main" id="{822B31D1-1816-E19B-2C33-87EE09DE2DA7}"/>
              </a:ext>
            </a:extLst>
          </p:cNvPr>
          <p:cNvGrpSpPr/>
          <p:nvPr/>
        </p:nvGrpSpPr>
        <p:grpSpPr>
          <a:xfrm>
            <a:off x="6658371" y="-1079596"/>
            <a:ext cx="6562340" cy="4712143"/>
            <a:chOff x="6658371" y="-1079596"/>
            <a:chExt cx="6562340" cy="4712143"/>
          </a:xfrm>
        </p:grpSpPr>
        <p:sp>
          <p:nvSpPr>
            <p:cNvPr id="11" name="Oval 10">
              <a:extLst>
                <a:ext uri="{FF2B5EF4-FFF2-40B4-BE49-F238E27FC236}">
                  <a16:creationId xmlns:a16="http://schemas.microsoft.com/office/drawing/2014/main" id="{D772E953-4EBA-CCC5-1876-5B368BEFD1C6}"/>
                </a:ext>
              </a:extLst>
            </p:cNvPr>
            <p:cNvSpPr/>
            <p:nvPr/>
          </p:nvSpPr>
          <p:spPr>
            <a:xfrm>
              <a:off x="8532033" y="-1056134"/>
              <a:ext cx="4688678" cy="4688681"/>
            </a:xfrm>
            <a:prstGeom prst="ellipse">
              <a:avLst/>
            </a:prstGeom>
            <a:solidFill>
              <a:schemeClr val="accent1">
                <a:alpha val="20000"/>
              </a:schemeClr>
            </a:solidFill>
            <a:ln>
              <a:noFill/>
            </a:ln>
            <a:effectLst>
              <a:softEdge rad="1143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sp>
          <p:nvSpPr>
            <p:cNvPr id="12" name="Oval 11">
              <a:extLst>
                <a:ext uri="{FF2B5EF4-FFF2-40B4-BE49-F238E27FC236}">
                  <a16:creationId xmlns:a16="http://schemas.microsoft.com/office/drawing/2014/main" id="{046EABF0-D7CD-9622-829E-7EB611CC9B6F}"/>
                </a:ext>
              </a:extLst>
            </p:cNvPr>
            <p:cNvSpPr/>
            <p:nvPr/>
          </p:nvSpPr>
          <p:spPr>
            <a:xfrm>
              <a:off x="6658371" y="-1079596"/>
              <a:ext cx="3747324" cy="3747327"/>
            </a:xfrm>
            <a:prstGeom prst="ellipse">
              <a:avLst/>
            </a:prstGeom>
            <a:solidFill>
              <a:schemeClr val="accent2">
                <a:alpha val="20000"/>
              </a:schemeClr>
            </a:solidFill>
            <a:ln>
              <a:noFill/>
            </a:ln>
            <a:effectLst>
              <a:softEdge rad="1143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dirty="0">
                <a:latin typeface="Roboto Light" panose="02000000000000000000" pitchFamily="2" charset="0"/>
                <a:ea typeface="Roboto Light" panose="02000000000000000000" pitchFamily="2" charset="0"/>
                <a:cs typeface="Open Sans" panose="020B0606030504020204" pitchFamily="34" charset="0"/>
              </a:endParaRPr>
            </a:p>
          </p:txBody>
        </p:sp>
      </p:grpSp>
      <p:sp useBgFill="1">
        <p:nvSpPr>
          <p:cNvPr id="6" name="Rectangle 5">
            <a:extLst>
              <a:ext uri="{FF2B5EF4-FFF2-40B4-BE49-F238E27FC236}">
                <a16:creationId xmlns:a16="http://schemas.microsoft.com/office/drawing/2014/main" id="{39012D93-F156-A9C1-0E4D-413550CB3D2D}"/>
              </a:ext>
            </a:extLst>
          </p:cNvPr>
          <p:cNvSpPr/>
          <p:nvPr/>
        </p:nvSpPr>
        <p:spPr>
          <a:xfrm>
            <a:off x="638175" y="362900"/>
            <a:ext cx="10915652" cy="4754406"/>
          </a:xfrm>
          <a:prstGeom prst="rect">
            <a:avLst/>
          </a:prstGeom>
          <a:solidFill>
            <a:schemeClr val="bg1"/>
          </a:solidFill>
          <a:ln>
            <a:noFill/>
          </a:ln>
          <a:effectLst>
            <a:outerShdw blurRad="381000" dist="190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D" dirty="0"/>
          </a:p>
        </p:txBody>
      </p:sp>
      <p:sp>
        <p:nvSpPr>
          <p:cNvPr id="3" name="Picture Placeholder 5">
            <a:extLst>
              <a:ext uri="{FF2B5EF4-FFF2-40B4-BE49-F238E27FC236}">
                <a16:creationId xmlns:a16="http://schemas.microsoft.com/office/drawing/2014/main" id="{2DF060D9-2CE8-3F2B-C1A7-CE2D5A2E6551}"/>
              </a:ext>
            </a:extLst>
          </p:cNvPr>
          <p:cNvSpPr>
            <a:spLocks noGrp="1"/>
          </p:cNvSpPr>
          <p:nvPr>
            <p:ph type="pic" sz="quarter" idx="10" hasCustomPrompt="1"/>
          </p:nvPr>
        </p:nvSpPr>
        <p:spPr>
          <a:xfrm>
            <a:off x="1235075"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4" name="Picture Placeholder 5">
            <a:extLst>
              <a:ext uri="{FF2B5EF4-FFF2-40B4-BE49-F238E27FC236}">
                <a16:creationId xmlns:a16="http://schemas.microsoft.com/office/drawing/2014/main" id="{DA195581-0989-512C-4F36-A42DF1542BDC}"/>
              </a:ext>
            </a:extLst>
          </p:cNvPr>
          <p:cNvSpPr>
            <a:spLocks noGrp="1"/>
          </p:cNvSpPr>
          <p:nvPr>
            <p:ph type="pic" sz="quarter" idx="11" hasCustomPrompt="1"/>
          </p:nvPr>
        </p:nvSpPr>
        <p:spPr>
          <a:xfrm>
            <a:off x="4474091"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
        <p:nvSpPr>
          <p:cNvPr id="5" name="Picture Placeholder 5">
            <a:extLst>
              <a:ext uri="{FF2B5EF4-FFF2-40B4-BE49-F238E27FC236}">
                <a16:creationId xmlns:a16="http://schemas.microsoft.com/office/drawing/2014/main" id="{F971AF76-06E9-CAFE-0D2F-44608A3B61BD}"/>
              </a:ext>
            </a:extLst>
          </p:cNvPr>
          <p:cNvSpPr>
            <a:spLocks noGrp="1"/>
          </p:cNvSpPr>
          <p:nvPr>
            <p:ph type="pic" sz="quarter" idx="12" hasCustomPrompt="1"/>
          </p:nvPr>
        </p:nvSpPr>
        <p:spPr>
          <a:xfrm>
            <a:off x="7713106" y="800100"/>
            <a:ext cx="3243819" cy="3880004"/>
          </a:xfrm>
          <a:prstGeom prst="roundRect">
            <a:avLst>
              <a:gd name="adj" fmla="val 0"/>
            </a:avLst>
          </a:prstGeom>
          <a:solidFill>
            <a:schemeClr val="bg1">
              <a:lumMod val="95000"/>
              <a:alpha val="50000"/>
            </a:schemeClr>
          </a:solidFill>
        </p:spPr>
        <p:txBody>
          <a:bodyPr wrap="square" anchor="ctr">
            <a:noAutofit/>
          </a:bodyPr>
          <a:lstStyle>
            <a:lvl1pPr marL="0" indent="0" algn="ctr">
              <a:buNone/>
              <a:defRPr sz="1600">
                <a:solidFill>
                  <a:schemeClr val="accent1">
                    <a:alpha val="50000"/>
                  </a:schemeClr>
                </a:solidFill>
                <a:latin typeface="+mj-lt"/>
              </a:defRPr>
            </a:lvl1pPr>
          </a:lstStyle>
          <a:p>
            <a:r>
              <a:rPr lang="en-US" dirty="0"/>
              <a:t>Image Placeholder</a:t>
            </a:r>
            <a:endParaRPr lang="en-ID" dirty="0"/>
          </a:p>
        </p:txBody>
      </p:sp>
    </p:spTree>
    <p:extLst>
      <p:ext uri="{BB962C8B-B14F-4D97-AF65-F5344CB8AC3E}">
        <p14:creationId xmlns:p14="http://schemas.microsoft.com/office/powerpoint/2010/main" val="41483189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7A45620-4FCC-6660-4F1B-7CFC0293408D}"/>
              </a:ext>
            </a:extLst>
          </p:cNvPr>
          <p:cNvSpPr>
            <a:spLocks noGrp="1"/>
          </p:cNvSpPr>
          <p:nvPr>
            <p:ph type="pic" sz="quarter" idx="11"/>
          </p:nvPr>
        </p:nvSpPr>
        <p:spPr>
          <a:xfrm>
            <a:off x="8581048" y="2"/>
            <a:ext cx="3610952" cy="6857998"/>
          </a:xfrm>
          <a:custGeom>
            <a:avLst/>
            <a:gdLst>
              <a:gd name="connsiteX0" fmla="*/ 284325 w 2925156"/>
              <a:gd name="connsiteY0" fmla="*/ 0 h 6857998"/>
              <a:gd name="connsiteX1" fmla="*/ 2925155 w 2925156"/>
              <a:gd name="connsiteY1" fmla="*/ 0 h 6857998"/>
              <a:gd name="connsiteX2" fmla="*/ 2925156 w 2925156"/>
              <a:gd name="connsiteY2" fmla="*/ 6857998 h 6857998"/>
              <a:gd name="connsiteX3" fmla="*/ 284326 w 2925156"/>
              <a:gd name="connsiteY3" fmla="*/ 6857998 h 6857998"/>
              <a:gd name="connsiteX4" fmla="*/ 0 w 2925156"/>
              <a:gd name="connsiteY4" fmla="*/ 6573673 h 6857998"/>
              <a:gd name="connsiteX5" fmla="*/ 0 w 2925156"/>
              <a:gd name="connsiteY5" fmla="*/ 284325 h 6857998"/>
              <a:gd name="connsiteX6" fmla="*/ 284325 w 2925156"/>
              <a:gd name="connsiteY6"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25156" h="6857998">
                <a:moveTo>
                  <a:pt x="284325" y="0"/>
                </a:moveTo>
                <a:lnTo>
                  <a:pt x="2925155" y="0"/>
                </a:lnTo>
                <a:lnTo>
                  <a:pt x="2925156" y="6857998"/>
                </a:lnTo>
                <a:lnTo>
                  <a:pt x="284326" y="6857998"/>
                </a:lnTo>
                <a:cubicBezTo>
                  <a:pt x="127298" y="6857998"/>
                  <a:pt x="0" y="6730701"/>
                  <a:pt x="0" y="6573673"/>
                </a:cubicBezTo>
                <a:lnTo>
                  <a:pt x="0" y="284325"/>
                </a:lnTo>
                <a:cubicBezTo>
                  <a:pt x="0" y="127297"/>
                  <a:pt x="127297" y="0"/>
                  <a:pt x="284325" y="0"/>
                </a:cubicBezTo>
                <a:close/>
              </a:path>
            </a:pathLst>
          </a:custGeom>
        </p:spPr>
        <p:txBody>
          <a:bodyPr wrap="square" anchor="ctr">
            <a:noAutofit/>
          </a:bodyPr>
          <a:lstStyle>
            <a:lvl1pPr marL="0" indent="0" algn="ctr">
              <a:buNone/>
              <a:defRPr lang="en-US" b="0">
                <a:solidFill>
                  <a:schemeClr val="bg1">
                    <a:lumMod val="50000"/>
                  </a:schemeClr>
                </a:solidFill>
              </a:defRPr>
            </a:lvl1pPr>
          </a:lstStyle>
          <a:p>
            <a:pPr marL="228600" lvl="0" indent="-228600"/>
            <a:r>
              <a:rPr lang="en-US"/>
              <a:t>Click icon to add picture</a:t>
            </a:r>
          </a:p>
        </p:txBody>
      </p:sp>
    </p:spTree>
    <p:extLst>
      <p:ext uri="{BB962C8B-B14F-4D97-AF65-F5344CB8AC3E}">
        <p14:creationId xmlns:p14="http://schemas.microsoft.com/office/powerpoint/2010/main" val="346697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55E94AA-5CCD-0CA6-1327-7B1F2BA3900C}"/>
              </a:ext>
            </a:extLst>
          </p:cNvPr>
          <p:cNvSpPr txBox="1"/>
          <p:nvPr/>
        </p:nvSpPr>
        <p:spPr>
          <a:xfrm>
            <a:off x="11322843" y="6342533"/>
            <a:ext cx="503236" cy="230832"/>
          </a:xfrm>
          <a:prstGeom prst="rect">
            <a:avLst/>
          </a:prstGeom>
          <a:noFill/>
        </p:spPr>
        <p:txBody>
          <a:bodyPr wrap="square" rtlCol="0" anchor="ctr">
            <a:spAutoFit/>
          </a:bodyPr>
          <a:lstStyle/>
          <a:p>
            <a:pPr algn="ctr"/>
            <a:r>
              <a:rPr lang="en-ID" sz="900" dirty="0">
                <a:solidFill>
                  <a:schemeClr val="tx1">
                    <a:lumMod val="75000"/>
                    <a:lumOff val="25000"/>
                    <a:alpha val="10000"/>
                  </a:schemeClr>
                </a:solidFill>
                <a:latin typeface="+mn-lt"/>
                <a:ea typeface="Inter SemiBold" panose="020B0502030000000004" pitchFamily="34" charset="0"/>
              </a:rPr>
              <a:t>/ </a:t>
            </a:r>
            <a:fld id="{49BA30FB-CA1F-46F2-A2CB-DF7CFB533C33}" type="slidenum">
              <a:rPr lang="en-ID" sz="900" smtClean="0">
                <a:solidFill>
                  <a:schemeClr val="accent1"/>
                </a:solidFill>
                <a:latin typeface="+mn-lt"/>
                <a:ea typeface="Inter SemiBold" panose="020B0502030000000004" pitchFamily="34" charset="0"/>
              </a:rPr>
              <a:pPr algn="ctr"/>
              <a:t>‹#›</a:t>
            </a:fld>
            <a:endParaRPr lang="en-ID" sz="900" dirty="0">
              <a:solidFill>
                <a:schemeClr val="accent1"/>
              </a:solidFill>
              <a:latin typeface="+mn-lt"/>
              <a:ea typeface="Inter SemiBold" panose="020B0502030000000004" pitchFamily="34" charset="0"/>
            </a:endParaRPr>
          </a:p>
        </p:txBody>
      </p:sp>
    </p:spTree>
    <p:extLst>
      <p:ext uri="{BB962C8B-B14F-4D97-AF65-F5344CB8AC3E}">
        <p14:creationId xmlns:p14="http://schemas.microsoft.com/office/powerpoint/2010/main" val="22455353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5">
          <p15:clr>
            <a:srgbClr val="F26B43"/>
          </p15:clr>
        </p15:guide>
        <p15:guide id="2" pos="7015">
          <p15:clr>
            <a:srgbClr val="F26B43"/>
          </p15:clr>
        </p15:guide>
        <p15:guide id="3" orient="horz" pos="482">
          <p15:clr>
            <a:srgbClr val="F26B43"/>
          </p15:clr>
        </p15:guide>
        <p15:guide id="4" orient="horz" pos="383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3DA47F-5650-59BE-D66C-1A073F1E38B8}"/>
              </a:ext>
            </a:extLst>
          </p:cNvPr>
          <p:cNvSpPr>
            <a:spLocks noGrp="1"/>
          </p:cNvSpPr>
          <p:nvPr>
            <p:ph type="body" sz="quarter" idx="10"/>
          </p:nvPr>
        </p:nvSpPr>
        <p:spPr/>
        <p:txBody>
          <a:bodyPr/>
          <a:lstStyle/>
          <a:p>
            <a:pPr marL="0" indent="0" algn="ctr">
              <a:buNone/>
            </a:pPr>
            <a:r>
              <a:rPr lang="en-US" sz="2000" dirty="0">
                <a:solidFill>
                  <a:schemeClr val="bg2">
                    <a:lumMod val="75000"/>
                  </a:schemeClr>
                </a:solidFill>
                <a:latin typeface="Ubuntu Light" panose="020B0304030602030204" pitchFamily="34" charset="0"/>
              </a:rPr>
              <a:t>Fahim Foysal Abak</a:t>
            </a:r>
          </a:p>
          <a:p>
            <a:pPr marL="0" indent="0" algn="ctr">
              <a:buNone/>
            </a:pPr>
            <a:r>
              <a:rPr lang="en-US" sz="2000" dirty="0">
                <a:solidFill>
                  <a:schemeClr val="bg2">
                    <a:lumMod val="75000"/>
                  </a:schemeClr>
                </a:solidFill>
                <a:latin typeface="Ubuntu Light" panose="020B0304030602030204" pitchFamily="34" charset="0"/>
              </a:rPr>
              <a:t>Lecture, Dept. of CSE</a:t>
            </a:r>
          </a:p>
          <a:p>
            <a:pPr marL="0" indent="0" algn="ctr">
              <a:buNone/>
            </a:pPr>
            <a:r>
              <a:rPr lang="en-US" sz="2000" dirty="0">
                <a:solidFill>
                  <a:schemeClr val="bg2">
                    <a:lumMod val="75000"/>
                  </a:schemeClr>
                </a:solidFill>
                <a:latin typeface="Ubuntu Light" panose="020B0304030602030204" pitchFamily="34" charset="0"/>
              </a:rPr>
              <a:t>Dhaka International University</a:t>
            </a:r>
          </a:p>
        </p:txBody>
      </p:sp>
      <p:sp>
        <p:nvSpPr>
          <p:cNvPr id="3" name="Title 2">
            <a:extLst>
              <a:ext uri="{FF2B5EF4-FFF2-40B4-BE49-F238E27FC236}">
                <a16:creationId xmlns:a16="http://schemas.microsoft.com/office/drawing/2014/main" id="{6996E641-4C1A-FF65-1059-6BD25AEB2EF1}"/>
              </a:ext>
            </a:extLst>
          </p:cNvPr>
          <p:cNvSpPr>
            <a:spLocks noGrp="1"/>
          </p:cNvSpPr>
          <p:nvPr>
            <p:ph type="title"/>
          </p:nvPr>
        </p:nvSpPr>
        <p:spPr>
          <a:xfrm>
            <a:off x="1613547" y="1791725"/>
            <a:ext cx="9228624" cy="1247566"/>
          </a:xfrm>
        </p:spPr>
        <p:txBody>
          <a:bodyPr/>
          <a:lstStyle/>
          <a:p>
            <a:pPr algn="ctr"/>
            <a:r>
              <a:rPr lang="en-US" dirty="0"/>
              <a:t>Software Integration &amp; Maintenance</a:t>
            </a:r>
          </a:p>
        </p:txBody>
      </p:sp>
    </p:spTree>
    <p:extLst>
      <p:ext uri="{BB962C8B-B14F-4D97-AF65-F5344CB8AC3E}">
        <p14:creationId xmlns:p14="http://schemas.microsoft.com/office/powerpoint/2010/main" val="3878758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FB9139-68EB-3B9C-65D8-590A1ADAF1DF}"/>
              </a:ext>
            </a:extLst>
          </p:cNvPr>
          <p:cNvSpPr>
            <a:spLocks noGrp="1"/>
          </p:cNvSpPr>
          <p:nvPr>
            <p:ph type="body" sz="quarter" idx="10"/>
          </p:nvPr>
        </p:nvSpPr>
        <p:spPr>
          <a:xfrm>
            <a:off x="1286057" y="1288190"/>
            <a:ext cx="9451612" cy="4827475"/>
          </a:xfrm>
        </p:spPr>
        <p:txBody>
          <a:bodyPr/>
          <a:lstStyle/>
          <a:p>
            <a:pPr>
              <a:buFont typeface="Wingdings" panose="05000000000000000000" pitchFamily="2" charset="2"/>
              <a:buChar char="q"/>
            </a:pPr>
            <a:r>
              <a:rPr lang="en-US" sz="3200" b="1" dirty="0"/>
              <a:t> Unit Testing</a:t>
            </a:r>
          </a:p>
          <a:p>
            <a:pPr>
              <a:buFont typeface="Wingdings" panose="05000000000000000000" pitchFamily="2" charset="2"/>
              <a:buChar char="q"/>
            </a:pPr>
            <a:r>
              <a:rPr lang="en-US" sz="3200" b="1" dirty="0"/>
              <a:t> Integration Testing</a:t>
            </a:r>
          </a:p>
          <a:p>
            <a:pPr>
              <a:buFont typeface="Wingdings" panose="05000000000000000000" pitchFamily="2" charset="2"/>
              <a:buChar char="q"/>
            </a:pPr>
            <a:r>
              <a:rPr lang="en-US" sz="3200" b="1" dirty="0"/>
              <a:t> Regression Testing</a:t>
            </a:r>
          </a:p>
          <a:p>
            <a:pPr>
              <a:buFont typeface="Wingdings" panose="05000000000000000000" pitchFamily="2" charset="2"/>
              <a:buChar char="q"/>
            </a:pPr>
            <a:r>
              <a:rPr lang="en-US" sz="3200" b="1" dirty="0"/>
              <a:t> Smoke Testing</a:t>
            </a:r>
          </a:p>
        </p:txBody>
      </p:sp>
      <p:sp>
        <p:nvSpPr>
          <p:cNvPr id="3" name="Title 2">
            <a:extLst>
              <a:ext uri="{FF2B5EF4-FFF2-40B4-BE49-F238E27FC236}">
                <a16:creationId xmlns:a16="http://schemas.microsoft.com/office/drawing/2014/main" id="{5ED5DBED-E96B-FF67-CE6C-2CC29F466C8B}"/>
              </a:ext>
            </a:extLst>
          </p:cNvPr>
          <p:cNvSpPr>
            <a:spLocks noGrp="1"/>
          </p:cNvSpPr>
          <p:nvPr>
            <p:ph type="title"/>
          </p:nvPr>
        </p:nvSpPr>
        <p:spPr>
          <a:xfrm>
            <a:off x="838200" y="365126"/>
            <a:ext cx="10515600" cy="749572"/>
          </a:xfrm>
        </p:spPr>
        <p:txBody>
          <a:bodyPr/>
          <a:lstStyle/>
          <a:p>
            <a:r>
              <a:rPr lang="en-US" sz="3600" dirty="0"/>
              <a:t>Test Strategies for Conventional Software</a:t>
            </a:r>
          </a:p>
        </p:txBody>
      </p:sp>
    </p:spTree>
    <p:extLst>
      <p:ext uri="{BB962C8B-B14F-4D97-AF65-F5344CB8AC3E}">
        <p14:creationId xmlns:p14="http://schemas.microsoft.com/office/powerpoint/2010/main" val="4106496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A391-D779-6566-18C0-70A3B45BF1D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F873FE-F0F1-2D65-5BE9-68E6ED7EB1B0}"/>
              </a:ext>
            </a:extLst>
          </p:cNvPr>
          <p:cNvSpPr>
            <a:spLocks noGrp="1"/>
          </p:cNvSpPr>
          <p:nvPr>
            <p:ph type="body" sz="quarter" idx="10"/>
          </p:nvPr>
        </p:nvSpPr>
        <p:spPr>
          <a:xfrm>
            <a:off x="1286057" y="1288190"/>
            <a:ext cx="9451612" cy="4827475"/>
          </a:xfrm>
        </p:spPr>
        <p:txBody>
          <a:bodyPr/>
          <a:lstStyle/>
          <a:p>
            <a:pPr>
              <a:buFont typeface="Wingdings" panose="05000000000000000000" pitchFamily="2" charset="2"/>
              <a:buChar char="q"/>
            </a:pPr>
            <a:r>
              <a:rPr lang="en-US" sz="2400" dirty="0"/>
              <a:t> Focuses testing on the function or software module</a:t>
            </a:r>
          </a:p>
          <a:p>
            <a:pPr>
              <a:buFont typeface="Wingdings" panose="05000000000000000000" pitchFamily="2" charset="2"/>
              <a:buChar char="q"/>
            </a:pPr>
            <a:r>
              <a:rPr lang="en-US" sz="2400" dirty="0"/>
              <a:t>Concentrates on the internal processing logic and data structures</a:t>
            </a:r>
          </a:p>
          <a:p>
            <a:pPr>
              <a:buFont typeface="Wingdings" panose="05000000000000000000" pitchFamily="2" charset="2"/>
              <a:buChar char="q"/>
            </a:pPr>
            <a:r>
              <a:rPr lang="en-US" sz="2400" dirty="0"/>
              <a:t>Is simplified when a module is designed with high cohesion</a:t>
            </a:r>
          </a:p>
          <a:p>
            <a:pPr lvl="1">
              <a:buFont typeface="Wingdings" panose="05000000000000000000" pitchFamily="2" charset="2"/>
              <a:buChar char="q"/>
            </a:pPr>
            <a:r>
              <a:rPr lang="en-US" sz="2400" dirty="0"/>
              <a:t>Reduces the number of test cases</a:t>
            </a:r>
          </a:p>
          <a:p>
            <a:pPr lvl="1">
              <a:buFont typeface="Wingdings" panose="05000000000000000000" pitchFamily="2" charset="2"/>
              <a:buChar char="q"/>
            </a:pPr>
            <a:r>
              <a:rPr lang="en-US" sz="2400" dirty="0"/>
              <a:t>Allows errors to be more easily predicted and uncovered</a:t>
            </a:r>
          </a:p>
          <a:p>
            <a:pPr>
              <a:buFont typeface="Wingdings" panose="05000000000000000000" pitchFamily="2" charset="2"/>
              <a:buChar char="q"/>
            </a:pPr>
            <a:r>
              <a:rPr lang="en-US" sz="2400" dirty="0"/>
              <a:t>Concentrates on critical modules and those with high cyclomatic complexity when testing resources are limited</a:t>
            </a:r>
          </a:p>
        </p:txBody>
      </p:sp>
      <p:sp>
        <p:nvSpPr>
          <p:cNvPr id="3" name="Title 2">
            <a:extLst>
              <a:ext uri="{FF2B5EF4-FFF2-40B4-BE49-F238E27FC236}">
                <a16:creationId xmlns:a16="http://schemas.microsoft.com/office/drawing/2014/main" id="{B038D24D-18D0-C862-65DD-4BEC2D2DE4B1}"/>
              </a:ext>
            </a:extLst>
          </p:cNvPr>
          <p:cNvSpPr>
            <a:spLocks noGrp="1"/>
          </p:cNvSpPr>
          <p:nvPr>
            <p:ph type="title"/>
          </p:nvPr>
        </p:nvSpPr>
        <p:spPr>
          <a:xfrm>
            <a:off x="838200" y="365126"/>
            <a:ext cx="10515600" cy="749572"/>
          </a:xfrm>
        </p:spPr>
        <p:txBody>
          <a:bodyPr/>
          <a:lstStyle/>
          <a:p>
            <a:r>
              <a:rPr lang="en-US" sz="3600" dirty="0"/>
              <a:t>Unit Testing</a:t>
            </a:r>
          </a:p>
        </p:txBody>
      </p:sp>
    </p:spTree>
    <p:extLst>
      <p:ext uri="{BB962C8B-B14F-4D97-AF65-F5344CB8AC3E}">
        <p14:creationId xmlns:p14="http://schemas.microsoft.com/office/powerpoint/2010/main" val="3974109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9DD16-BB9F-2A75-4026-2828B254AF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DF796-F431-198B-A721-A1D18C103330}"/>
              </a:ext>
            </a:extLst>
          </p:cNvPr>
          <p:cNvSpPr>
            <a:spLocks noGrp="1"/>
          </p:cNvSpPr>
          <p:nvPr>
            <p:ph type="title"/>
          </p:nvPr>
        </p:nvSpPr>
        <p:spPr>
          <a:xfrm>
            <a:off x="838200" y="365126"/>
            <a:ext cx="10515600" cy="749572"/>
          </a:xfrm>
        </p:spPr>
        <p:txBody>
          <a:bodyPr/>
          <a:lstStyle/>
          <a:p>
            <a:r>
              <a:rPr lang="en-US" sz="3600" dirty="0"/>
              <a:t>Unit Testing</a:t>
            </a:r>
          </a:p>
        </p:txBody>
      </p:sp>
      <p:pic>
        <p:nvPicPr>
          <p:cNvPr id="7" name="Picture 6">
            <a:extLst>
              <a:ext uri="{FF2B5EF4-FFF2-40B4-BE49-F238E27FC236}">
                <a16:creationId xmlns:a16="http://schemas.microsoft.com/office/drawing/2014/main" id="{4CDABD1E-295E-E62E-DD98-9F8E8E4E64B2}"/>
              </a:ext>
            </a:extLst>
          </p:cNvPr>
          <p:cNvPicPr>
            <a:picLocks noChangeAspect="1"/>
          </p:cNvPicPr>
          <p:nvPr/>
        </p:nvPicPr>
        <p:blipFill>
          <a:blip r:embed="rId3"/>
          <a:stretch>
            <a:fillRect/>
          </a:stretch>
        </p:blipFill>
        <p:spPr>
          <a:xfrm>
            <a:off x="482193" y="1584933"/>
            <a:ext cx="6267491" cy="3688133"/>
          </a:xfrm>
          <a:prstGeom prst="rect">
            <a:avLst/>
          </a:prstGeom>
        </p:spPr>
      </p:pic>
      <p:pic>
        <p:nvPicPr>
          <p:cNvPr id="9" name="Picture 8">
            <a:extLst>
              <a:ext uri="{FF2B5EF4-FFF2-40B4-BE49-F238E27FC236}">
                <a16:creationId xmlns:a16="http://schemas.microsoft.com/office/drawing/2014/main" id="{01CEBFAE-1B8A-CBE6-DA20-B68F9C9D8454}"/>
              </a:ext>
            </a:extLst>
          </p:cNvPr>
          <p:cNvPicPr>
            <a:picLocks noChangeAspect="1"/>
          </p:cNvPicPr>
          <p:nvPr/>
        </p:nvPicPr>
        <p:blipFill>
          <a:blip r:embed="rId4"/>
          <a:stretch>
            <a:fillRect/>
          </a:stretch>
        </p:blipFill>
        <p:spPr>
          <a:xfrm>
            <a:off x="7161312" y="1584933"/>
            <a:ext cx="3845553" cy="3688133"/>
          </a:xfrm>
          <a:prstGeom prst="rect">
            <a:avLst/>
          </a:prstGeom>
        </p:spPr>
      </p:pic>
    </p:spTree>
    <p:extLst>
      <p:ext uri="{BB962C8B-B14F-4D97-AF65-F5344CB8AC3E}">
        <p14:creationId xmlns:p14="http://schemas.microsoft.com/office/powerpoint/2010/main" val="303724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B109-DB6C-6E3E-E3AF-CCDD1B2517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C88852-F1BA-6F2B-5B8F-10A539FA7E9A}"/>
              </a:ext>
            </a:extLst>
          </p:cNvPr>
          <p:cNvSpPr>
            <a:spLocks noGrp="1"/>
          </p:cNvSpPr>
          <p:nvPr>
            <p:ph type="title"/>
          </p:nvPr>
        </p:nvSpPr>
        <p:spPr>
          <a:xfrm>
            <a:off x="838200" y="365126"/>
            <a:ext cx="10515600" cy="749572"/>
          </a:xfrm>
        </p:spPr>
        <p:txBody>
          <a:bodyPr/>
          <a:lstStyle/>
          <a:p>
            <a:r>
              <a:rPr lang="en-US" sz="3600" dirty="0"/>
              <a:t>Targets for Unit Test Cases</a:t>
            </a:r>
          </a:p>
        </p:txBody>
      </p:sp>
      <p:sp>
        <p:nvSpPr>
          <p:cNvPr id="4" name="TextBox 3">
            <a:extLst>
              <a:ext uri="{FF2B5EF4-FFF2-40B4-BE49-F238E27FC236}">
                <a16:creationId xmlns:a16="http://schemas.microsoft.com/office/drawing/2014/main" id="{3AB68E1F-CAEC-8A1A-1483-0658953F15DB}"/>
              </a:ext>
            </a:extLst>
          </p:cNvPr>
          <p:cNvSpPr txBox="1"/>
          <p:nvPr/>
        </p:nvSpPr>
        <p:spPr>
          <a:xfrm>
            <a:off x="1693364" y="1382286"/>
            <a:ext cx="9522502" cy="4093428"/>
          </a:xfrm>
          <a:prstGeom prst="rect">
            <a:avLst/>
          </a:prstGeom>
          <a:noFill/>
        </p:spPr>
        <p:txBody>
          <a:bodyPr wrap="square">
            <a:spAutoFit/>
          </a:bodyPr>
          <a:lstStyle/>
          <a:p>
            <a:r>
              <a:rPr lang="en-US" sz="2000" b="1" dirty="0">
                <a:latin typeface="Ubuntu" panose="020B0504030602030204" pitchFamily="34" charset="0"/>
              </a:rPr>
              <a:t>Module interface</a:t>
            </a:r>
          </a:p>
          <a:p>
            <a:pPr lvl="1"/>
            <a:r>
              <a:rPr lang="en-US" sz="2000" dirty="0">
                <a:latin typeface="Ubuntu" panose="020B0504030602030204" pitchFamily="34" charset="0"/>
              </a:rPr>
              <a:t>Ensure that information flows properly into and out of the module.</a:t>
            </a:r>
          </a:p>
          <a:p>
            <a:r>
              <a:rPr lang="en-US" sz="2000" b="1" dirty="0">
                <a:latin typeface="Ubuntu" panose="020B0504030602030204" pitchFamily="34" charset="0"/>
              </a:rPr>
              <a:t>Local data structures</a:t>
            </a:r>
          </a:p>
          <a:p>
            <a:pPr lvl="1"/>
            <a:r>
              <a:rPr lang="en-US" sz="2000" dirty="0">
                <a:latin typeface="Ubuntu" panose="020B0504030602030204" pitchFamily="34" charset="0"/>
              </a:rPr>
              <a:t>Ensure that data stored temporarily maintains its integrity during all steps in an algorithm execution.</a:t>
            </a:r>
          </a:p>
          <a:p>
            <a:r>
              <a:rPr lang="en-US" sz="2000" b="1" dirty="0">
                <a:latin typeface="Ubuntu" panose="020B0504030602030204" pitchFamily="34" charset="0"/>
              </a:rPr>
              <a:t>Boundary conditions</a:t>
            </a:r>
          </a:p>
          <a:p>
            <a:pPr lvl="1"/>
            <a:r>
              <a:rPr lang="en-US" sz="2000" dirty="0">
                <a:latin typeface="Ubuntu" panose="020B0504030602030204" pitchFamily="34" charset="0"/>
              </a:rPr>
              <a:t>Ensure that the module operates properly at boundary values established to limit or restrict processing.</a:t>
            </a:r>
          </a:p>
          <a:p>
            <a:r>
              <a:rPr lang="en-US" sz="2000" b="1" dirty="0">
                <a:latin typeface="Ubuntu" panose="020B0504030602030204" pitchFamily="34" charset="0"/>
              </a:rPr>
              <a:t>Independent paths (basis paths)</a:t>
            </a:r>
          </a:p>
          <a:p>
            <a:pPr lvl="1"/>
            <a:r>
              <a:rPr lang="en-US" sz="2000" dirty="0">
                <a:latin typeface="Ubuntu" panose="020B0504030602030204" pitchFamily="34" charset="0"/>
              </a:rPr>
              <a:t>Paths are exercised to ensure that all statements in a module have been executed at least once</a:t>
            </a:r>
          </a:p>
          <a:p>
            <a:r>
              <a:rPr lang="en-US" sz="2000" b="1" dirty="0">
                <a:latin typeface="Ubuntu" panose="020B0504030602030204" pitchFamily="34" charset="0"/>
              </a:rPr>
              <a:t>Error handling paths</a:t>
            </a:r>
          </a:p>
          <a:p>
            <a:pPr lvl="1"/>
            <a:r>
              <a:rPr lang="en-US" sz="2000" dirty="0">
                <a:latin typeface="Ubuntu" panose="020B0504030602030204" pitchFamily="34" charset="0"/>
              </a:rPr>
              <a:t>Ensure that the algorithms respond correctly to specific error conditions</a:t>
            </a:r>
          </a:p>
        </p:txBody>
      </p:sp>
    </p:spTree>
    <p:extLst>
      <p:ext uri="{BB962C8B-B14F-4D97-AF65-F5344CB8AC3E}">
        <p14:creationId xmlns:p14="http://schemas.microsoft.com/office/powerpoint/2010/main" val="2697728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Cyclomatic Complexity</a:t>
            </a:r>
          </a:p>
        </p:txBody>
      </p:sp>
      <p:sp>
        <p:nvSpPr>
          <p:cNvPr id="7" name="TextBox 6"/>
          <p:cNvSpPr txBox="1"/>
          <p:nvPr/>
        </p:nvSpPr>
        <p:spPr>
          <a:xfrm>
            <a:off x="934720" y="3947523"/>
            <a:ext cx="10027920" cy="1554272"/>
          </a:xfrm>
          <a:prstGeom prst="rect">
            <a:avLst/>
          </a:prstGeom>
          <a:noFill/>
        </p:spPr>
        <p:txBody>
          <a:bodyPr wrap="square">
            <a:spAutoFit/>
          </a:bodyPr>
          <a:lstStyle/>
          <a:p>
            <a:pPr marL="285750" indent="-285750">
              <a:spcAft>
                <a:spcPts val="600"/>
              </a:spcAft>
              <a:buFont typeface="Wingdings" panose="05000000000000000000" pitchFamily="2" charset="2"/>
              <a:buChar char="§"/>
              <a:defRPr sz="1700">
                <a:solidFill>
                  <a:srgbClr val="232323"/>
                </a:solidFill>
                <a:latin typeface="Ubuntu"/>
              </a:defRPr>
            </a:pPr>
            <a:r>
              <a:rPr dirty="0"/>
              <a:t>Unit Testing focuses on internal logic, data structures, boundary conditions, and independent paths.</a:t>
            </a:r>
          </a:p>
          <a:p>
            <a:pPr marL="285750" indent="-285750">
              <a:spcAft>
                <a:spcPts val="600"/>
              </a:spcAft>
              <a:buFont typeface="Wingdings" panose="05000000000000000000" pitchFamily="2" charset="2"/>
              <a:buChar char="§"/>
              <a:defRPr sz="1700">
                <a:solidFill>
                  <a:srgbClr val="232323"/>
                </a:solidFill>
                <a:latin typeface="Ubuntu"/>
              </a:defRPr>
            </a:pPr>
            <a:r>
              <a:rPr dirty="0"/>
              <a:t>Cyclomatic Complexity helps us decide which module is risky and how many independent paths should be tested.</a:t>
            </a:r>
          </a:p>
          <a:p>
            <a:pPr marL="285750" indent="-285750">
              <a:spcAft>
                <a:spcPts val="600"/>
              </a:spcAft>
              <a:buFont typeface="Wingdings" panose="05000000000000000000" pitchFamily="2" charset="2"/>
              <a:buChar char="§"/>
              <a:defRPr sz="1700">
                <a:solidFill>
                  <a:srgbClr val="232323"/>
                </a:solidFill>
                <a:latin typeface="Ubuntu"/>
              </a:defRPr>
            </a:pPr>
            <a:r>
              <a:rPr dirty="0"/>
              <a:t>It is most useful when a function has many if, else, loop, switch, &amp;&amp; or || decisions.</a:t>
            </a:r>
          </a:p>
        </p:txBody>
      </p:sp>
      <p:cxnSp>
        <p:nvCxnSpPr>
          <p:cNvPr id="9" name="Connector 8"/>
          <p:cNvCxnSpPr/>
          <p:nvPr/>
        </p:nvCxnSpPr>
        <p:spPr>
          <a:xfrm>
            <a:off x="4249928" y="3290316"/>
            <a:ext cx="1051560"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850128" y="3290316"/>
            <a:ext cx="1097280"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2688" y="3061716"/>
            <a:ext cx="822960" cy="50292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Code</a:t>
            </a:r>
          </a:p>
        </p:txBody>
      </p:sp>
      <p:sp>
        <p:nvSpPr>
          <p:cNvPr id="12" name="Rounded Rectangle 11"/>
          <p:cNvSpPr/>
          <p:nvPr/>
        </p:nvSpPr>
        <p:spPr>
          <a:xfrm>
            <a:off x="5301488" y="3061716"/>
            <a:ext cx="822960" cy="50292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CFG</a:t>
            </a:r>
          </a:p>
        </p:txBody>
      </p:sp>
      <p:sp>
        <p:nvSpPr>
          <p:cNvPr id="13" name="Rounded Rectangle 12"/>
          <p:cNvSpPr/>
          <p:nvPr/>
        </p:nvSpPr>
        <p:spPr>
          <a:xfrm>
            <a:off x="6947408" y="3061716"/>
            <a:ext cx="822960" cy="50292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V(G)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Why Cyclomatic Complexity is Used</a:t>
            </a:r>
          </a:p>
        </p:txBody>
      </p:sp>
      <p:sp>
        <p:nvSpPr>
          <p:cNvPr id="5" name="TextBox 4"/>
          <p:cNvSpPr txBox="1"/>
          <p:nvPr/>
        </p:nvSpPr>
        <p:spPr>
          <a:xfrm>
            <a:off x="868680" y="1051560"/>
            <a:ext cx="2194560" cy="274320"/>
          </a:xfrm>
          <a:prstGeom prst="rect">
            <a:avLst/>
          </a:prstGeom>
          <a:noFill/>
        </p:spPr>
        <p:txBody>
          <a:bodyPr wrap="square">
            <a:spAutoFit/>
          </a:bodyPr>
          <a:lstStyle/>
          <a:p>
            <a:r>
              <a:rPr sz="1800" b="1">
                <a:solidFill>
                  <a:srgbClr val="6850C1"/>
                </a:solidFill>
                <a:latin typeface="Ubuntu"/>
              </a:rPr>
              <a:t>Definition</a:t>
            </a:r>
          </a:p>
        </p:txBody>
      </p:sp>
      <p:sp>
        <p:nvSpPr>
          <p:cNvPr id="6" name="TextBox 5"/>
          <p:cNvSpPr txBox="1"/>
          <p:nvPr/>
        </p:nvSpPr>
        <p:spPr>
          <a:xfrm>
            <a:off x="868680" y="1417320"/>
            <a:ext cx="5166360" cy="777240"/>
          </a:xfrm>
          <a:prstGeom prst="rect">
            <a:avLst/>
          </a:prstGeom>
          <a:noFill/>
        </p:spPr>
        <p:txBody>
          <a:bodyPr wrap="square">
            <a:spAutoFit/>
          </a:bodyPr>
          <a:lstStyle/>
          <a:p>
            <a:r>
              <a:rPr sz="1800" b="0">
                <a:solidFill>
                  <a:srgbClr val="232323"/>
                </a:solidFill>
                <a:latin typeface="Ubuntu"/>
              </a:rPr>
              <a:t>Cyclomatic Complexity is a software metric that counts the number of linearly independent paths through a program module.</a:t>
            </a:r>
          </a:p>
        </p:txBody>
      </p:sp>
      <p:sp>
        <p:nvSpPr>
          <p:cNvPr id="7" name="TextBox 6"/>
          <p:cNvSpPr txBox="1"/>
          <p:nvPr/>
        </p:nvSpPr>
        <p:spPr>
          <a:xfrm>
            <a:off x="868680" y="2249424"/>
            <a:ext cx="5166360" cy="685800"/>
          </a:xfrm>
          <a:prstGeom prst="rect">
            <a:avLst/>
          </a:prstGeom>
          <a:noFill/>
        </p:spPr>
        <p:txBody>
          <a:bodyPr wrap="square">
            <a:spAutoFit/>
          </a:bodyPr>
          <a:lstStyle/>
          <a:p>
            <a:r>
              <a:rPr sz="1800" b="1">
                <a:solidFill>
                  <a:srgbClr val="162B49"/>
                </a:solidFill>
                <a:latin typeface="Ubuntu"/>
              </a:rPr>
              <a:t>In testing, it gives the minimum number of basis-path test cases needed to cover all independent logical paths.</a:t>
            </a:r>
          </a:p>
        </p:txBody>
      </p:sp>
      <p:sp>
        <p:nvSpPr>
          <p:cNvPr id="8" name="TextBox 7"/>
          <p:cNvSpPr txBox="1"/>
          <p:nvPr/>
        </p:nvSpPr>
        <p:spPr>
          <a:xfrm>
            <a:off x="6400800" y="1051560"/>
            <a:ext cx="2194560" cy="274320"/>
          </a:xfrm>
          <a:prstGeom prst="rect">
            <a:avLst/>
          </a:prstGeom>
          <a:noFill/>
        </p:spPr>
        <p:txBody>
          <a:bodyPr wrap="square">
            <a:spAutoFit/>
          </a:bodyPr>
          <a:lstStyle/>
          <a:p>
            <a:r>
              <a:rPr sz="1800" b="1">
                <a:solidFill>
                  <a:srgbClr val="6850C1"/>
                </a:solidFill>
                <a:latin typeface="Ubuntu"/>
              </a:rPr>
              <a:t>Testing use</a:t>
            </a:r>
          </a:p>
        </p:txBody>
      </p:sp>
      <p:sp>
        <p:nvSpPr>
          <p:cNvPr id="9" name="TextBox 8"/>
          <p:cNvSpPr txBox="1"/>
          <p:nvPr/>
        </p:nvSpPr>
        <p:spPr>
          <a:xfrm>
            <a:off x="6400800" y="1417320"/>
            <a:ext cx="4663440" cy="2148840"/>
          </a:xfrm>
          <a:prstGeom prst="rect">
            <a:avLst/>
          </a:prstGeom>
          <a:noFill/>
        </p:spPr>
        <p:txBody>
          <a:bodyPr wrap="square">
            <a:spAutoFit/>
          </a:bodyPr>
          <a:lstStyle/>
          <a:p>
            <a:pPr>
              <a:spcAft>
                <a:spcPts val="600"/>
              </a:spcAft>
              <a:defRPr sz="1700">
                <a:solidFill>
                  <a:srgbClr val="232323"/>
                </a:solidFill>
                <a:latin typeface="Ubuntu"/>
              </a:defRPr>
            </a:pPr>
            <a:r>
              <a:t>Find complex and risky modules early.</a:t>
            </a:r>
          </a:p>
          <a:p>
            <a:pPr>
              <a:spcAft>
                <a:spcPts val="600"/>
              </a:spcAft>
              <a:defRPr sz="1700">
                <a:solidFill>
                  <a:srgbClr val="232323"/>
                </a:solidFill>
                <a:latin typeface="Ubuntu"/>
              </a:defRPr>
            </a:pPr>
            <a:r>
              <a:t>Estimate minimum basis-path test cases.</a:t>
            </a:r>
          </a:p>
          <a:p>
            <a:pPr>
              <a:spcAft>
                <a:spcPts val="600"/>
              </a:spcAft>
              <a:defRPr sz="1700">
                <a:solidFill>
                  <a:srgbClr val="232323"/>
                </a:solidFill>
                <a:latin typeface="Ubuntu"/>
              </a:defRPr>
            </a:pPr>
            <a:r>
              <a:t>Guide white-box / structural testing.</a:t>
            </a:r>
          </a:p>
          <a:p>
            <a:pPr>
              <a:spcAft>
                <a:spcPts val="600"/>
              </a:spcAft>
              <a:defRPr sz="1700">
                <a:solidFill>
                  <a:srgbClr val="232323"/>
                </a:solidFill>
                <a:latin typeface="Ubuntu"/>
              </a:defRPr>
            </a:pPr>
            <a:r>
              <a:t>Prioritize testing when time is limited.</a:t>
            </a:r>
          </a:p>
          <a:p>
            <a:pPr>
              <a:spcAft>
                <a:spcPts val="600"/>
              </a:spcAft>
              <a:defRPr sz="1700">
                <a:solidFill>
                  <a:srgbClr val="232323"/>
                </a:solidFill>
                <a:latin typeface="Ubuntu"/>
              </a:defRPr>
            </a:pPr>
            <a:r>
              <a:t>Improve maintainability by detecting overly complex code.</a:t>
            </a:r>
          </a:p>
        </p:txBody>
      </p:sp>
      <p:sp>
        <p:nvSpPr>
          <p:cNvPr id="10" name="Rounded Rectangle 9"/>
          <p:cNvSpPr/>
          <p:nvPr/>
        </p:nvSpPr>
        <p:spPr>
          <a:xfrm>
            <a:off x="1143000" y="4572000"/>
            <a:ext cx="9784080" cy="685800"/>
          </a:xfrm>
          <a:prstGeom prst="roundRect">
            <a:avLst/>
          </a:prstGeom>
          <a:solidFill>
            <a:srgbClr val="FFF8ED"/>
          </a:solidFill>
          <a:ln w="12700">
            <a:solidFill>
              <a:srgbClr val="F79A4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dirty="0">
                <a:solidFill>
                  <a:srgbClr val="232323"/>
                </a:solidFill>
                <a:latin typeface="Ubuntu"/>
              </a:rPr>
              <a:t> Cyclomatic Complexity does not prove the software is correct.</a:t>
            </a:r>
            <a:br>
              <a:rPr dirty="0"/>
            </a:br>
            <a:r>
              <a:rPr sz="1700" b="1" dirty="0">
                <a:solidFill>
                  <a:srgbClr val="232323"/>
                </a:solidFill>
                <a:latin typeface="Ubuntu"/>
              </a:rPr>
              <a:t>It only tells us how many independent control paths should be tested.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Control Flow Graph (CFG): Basic Concepts</a:t>
            </a:r>
          </a:p>
        </p:txBody>
      </p:sp>
      <p:sp>
        <p:nvSpPr>
          <p:cNvPr id="5" name="TextBox 4"/>
          <p:cNvSpPr txBox="1"/>
          <p:nvPr/>
        </p:nvSpPr>
        <p:spPr>
          <a:xfrm>
            <a:off x="868680" y="1005840"/>
            <a:ext cx="5486400" cy="2377440"/>
          </a:xfrm>
          <a:prstGeom prst="rect">
            <a:avLst/>
          </a:prstGeom>
          <a:noFill/>
        </p:spPr>
        <p:txBody>
          <a:bodyPr wrap="square">
            <a:spAutoFit/>
          </a:bodyPr>
          <a:lstStyle/>
          <a:p>
            <a:pPr>
              <a:spcAft>
                <a:spcPts val="600"/>
              </a:spcAft>
              <a:defRPr sz="1650">
                <a:solidFill>
                  <a:srgbClr val="232323"/>
                </a:solidFill>
                <a:latin typeface="Ubuntu"/>
              </a:defRPr>
            </a:pPr>
            <a:r>
              <a:rPr dirty="0"/>
              <a:t>A Control Flow Graph shows how control moves through a program.</a:t>
            </a:r>
          </a:p>
          <a:p>
            <a:pPr>
              <a:spcAft>
                <a:spcPts val="600"/>
              </a:spcAft>
              <a:defRPr sz="1650">
                <a:solidFill>
                  <a:srgbClr val="232323"/>
                </a:solidFill>
                <a:latin typeface="Ubuntu"/>
              </a:defRPr>
            </a:pPr>
            <a:r>
              <a:rPr dirty="0"/>
              <a:t>Node: one statement or a group of sequential statements.</a:t>
            </a:r>
          </a:p>
          <a:p>
            <a:pPr>
              <a:spcAft>
                <a:spcPts val="600"/>
              </a:spcAft>
              <a:defRPr sz="1650">
                <a:solidFill>
                  <a:srgbClr val="232323"/>
                </a:solidFill>
                <a:latin typeface="Ubuntu"/>
              </a:defRPr>
            </a:pPr>
            <a:r>
              <a:rPr dirty="0"/>
              <a:t>Edge: possible transfer of control from one node to another.</a:t>
            </a:r>
          </a:p>
          <a:p>
            <a:pPr>
              <a:spcAft>
                <a:spcPts val="600"/>
              </a:spcAft>
              <a:defRPr sz="1650">
                <a:solidFill>
                  <a:srgbClr val="232323"/>
                </a:solidFill>
                <a:latin typeface="Ubuntu"/>
              </a:defRPr>
            </a:pPr>
            <a:r>
              <a:rPr dirty="0"/>
              <a:t>Decision / Predicate node: a condition that creates alternative branches.</a:t>
            </a:r>
          </a:p>
          <a:p>
            <a:pPr>
              <a:spcAft>
                <a:spcPts val="600"/>
              </a:spcAft>
              <a:defRPr sz="1650">
                <a:solidFill>
                  <a:srgbClr val="232323"/>
                </a:solidFill>
                <a:latin typeface="Ubuntu"/>
              </a:defRPr>
            </a:pPr>
            <a:r>
              <a:rPr dirty="0"/>
              <a:t>Independent path: a path that introduces at least one new edge not included in previous paths.</a:t>
            </a:r>
          </a:p>
        </p:txBody>
      </p:sp>
      <p:cxnSp>
        <p:nvCxnSpPr>
          <p:cNvPr id="6" name="Connector 5"/>
          <p:cNvCxnSpPr>
            <a:cxnSpLocks/>
          </p:cNvCxnSpPr>
          <p:nvPr/>
        </p:nvCxnSpPr>
        <p:spPr>
          <a:xfrm>
            <a:off x="9641840" y="1485392"/>
            <a:ext cx="0" cy="672806"/>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a:cxnSpLocks/>
          </p:cNvCxnSpPr>
          <p:nvPr/>
        </p:nvCxnSpPr>
        <p:spPr>
          <a:xfrm flipH="1">
            <a:off x="8841740" y="2619248"/>
            <a:ext cx="800100" cy="552304"/>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a:cxnSpLocks/>
          </p:cNvCxnSpPr>
          <p:nvPr/>
        </p:nvCxnSpPr>
        <p:spPr>
          <a:xfrm>
            <a:off x="9641840" y="2619248"/>
            <a:ext cx="1120140" cy="632639"/>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a:cxnSpLocks/>
          </p:cNvCxnSpPr>
          <p:nvPr/>
        </p:nvCxnSpPr>
        <p:spPr>
          <a:xfrm>
            <a:off x="8681720" y="3652520"/>
            <a:ext cx="960119" cy="753141"/>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a:endCxn id="17" idx="0"/>
          </p:cNvCxnSpPr>
          <p:nvPr/>
        </p:nvCxnSpPr>
        <p:spPr>
          <a:xfrm flipH="1">
            <a:off x="9801860" y="3652520"/>
            <a:ext cx="800100" cy="73151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276079" y="1229359"/>
            <a:ext cx="906780" cy="431801"/>
          </a:xfrm>
          <a:prstGeom prst="ellipse">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232323"/>
                </a:solidFill>
                <a:latin typeface="Ubuntu"/>
              </a:rPr>
              <a:t>Start</a:t>
            </a:r>
          </a:p>
        </p:txBody>
      </p:sp>
      <p:sp>
        <p:nvSpPr>
          <p:cNvPr id="12" name="Rounded Rectangle 11"/>
          <p:cNvSpPr/>
          <p:nvPr/>
        </p:nvSpPr>
        <p:spPr>
          <a:xfrm>
            <a:off x="9230360" y="2143760"/>
            <a:ext cx="960120" cy="552304"/>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1">
                <a:solidFill>
                  <a:srgbClr val="232323"/>
                </a:solidFill>
                <a:latin typeface="Ubuntu"/>
              </a:rPr>
              <a:t>x &gt; 0?</a:t>
            </a:r>
          </a:p>
        </p:txBody>
      </p:sp>
      <p:sp>
        <p:nvSpPr>
          <p:cNvPr id="13" name="TextBox 12"/>
          <p:cNvSpPr txBox="1"/>
          <p:nvPr/>
        </p:nvSpPr>
        <p:spPr>
          <a:xfrm>
            <a:off x="8796020" y="2747264"/>
            <a:ext cx="373380" cy="253916"/>
          </a:xfrm>
          <a:prstGeom prst="rect">
            <a:avLst/>
          </a:prstGeom>
          <a:noFill/>
        </p:spPr>
        <p:txBody>
          <a:bodyPr wrap="square">
            <a:spAutoFit/>
          </a:bodyPr>
          <a:lstStyle/>
          <a:p>
            <a:pPr algn="ctr"/>
            <a:r>
              <a:rPr sz="1050" b="0" dirty="0">
                <a:solidFill>
                  <a:srgbClr val="646464"/>
                </a:solidFill>
                <a:latin typeface="Ubuntu"/>
              </a:rPr>
              <a:t>T</a:t>
            </a:r>
          </a:p>
        </p:txBody>
      </p:sp>
      <p:sp>
        <p:nvSpPr>
          <p:cNvPr id="14" name="TextBox 13"/>
          <p:cNvSpPr txBox="1"/>
          <p:nvPr/>
        </p:nvSpPr>
        <p:spPr>
          <a:xfrm>
            <a:off x="10236200" y="2765552"/>
            <a:ext cx="373380" cy="253916"/>
          </a:xfrm>
          <a:prstGeom prst="rect">
            <a:avLst/>
          </a:prstGeom>
          <a:noFill/>
        </p:spPr>
        <p:txBody>
          <a:bodyPr wrap="square">
            <a:spAutoFit/>
          </a:bodyPr>
          <a:lstStyle/>
          <a:p>
            <a:pPr algn="ctr"/>
            <a:r>
              <a:rPr sz="1050" b="0" dirty="0">
                <a:solidFill>
                  <a:srgbClr val="646464"/>
                </a:solidFill>
                <a:latin typeface="Ubuntu"/>
              </a:rPr>
              <a:t>F</a:t>
            </a:r>
          </a:p>
        </p:txBody>
      </p:sp>
      <p:sp>
        <p:nvSpPr>
          <p:cNvPr id="15" name="Rounded Rectangle 14"/>
          <p:cNvSpPr/>
          <p:nvPr/>
        </p:nvSpPr>
        <p:spPr>
          <a:xfrm>
            <a:off x="8315960" y="3195319"/>
            <a:ext cx="800100" cy="461927"/>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232323"/>
                </a:solidFill>
                <a:latin typeface="Ubuntu"/>
              </a:rPr>
              <a:t>A</a:t>
            </a:r>
          </a:p>
        </p:txBody>
      </p:sp>
      <p:sp>
        <p:nvSpPr>
          <p:cNvPr id="16" name="Rounded Rectangle 15"/>
          <p:cNvSpPr/>
          <p:nvPr/>
        </p:nvSpPr>
        <p:spPr>
          <a:xfrm>
            <a:off x="10236200" y="3195319"/>
            <a:ext cx="800100" cy="461927"/>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232323"/>
                </a:solidFill>
                <a:latin typeface="Ubuntu"/>
              </a:rPr>
              <a:t>B</a:t>
            </a:r>
          </a:p>
        </p:txBody>
      </p:sp>
      <p:sp>
        <p:nvSpPr>
          <p:cNvPr id="17" name="Oval 16"/>
          <p:cNvSpPr/>
          <p:nvPr/>
        </p:nvSpPr>
        <p:spPr>
          <a:xfrm>
            <a:off x="9321800" y="4384038"/>
            <a:ext cx="960120" cy="431801"/>
          </a:xfrm>
          <a:prstGeom prst="ellipse">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200" b="0">
                <a:solidFill>
                  <a:srgbClr val="232323"/>
                </a:solidFill>
                <a:latin typeface="Ubuntu"/>
              </a:rPr>
              <a:t>End</a:t>
            </a:r>
          </a:p>
        </p:txBody>
      </p:sp>
      <p:sp>
        <p:nvSpPr>
          <p:cNvPr id="18" name="Rounded Rectangle 17"/>
          <p:cNvSpPr/>
          <p:nvPr/>
        </p:nvSpPr>
        <p:spPr>
          <a:xfrm>
            <a:off x="1513840" y="4699000"/>
            <a:ext cx="5486400" cy="1005840"/>
          </a:xfrm>
          <a:prstGeom prst="roundRect">
            <a:avLst/>
          </a:prstGeom>
          <a:solidFill>
            <a:srgbClr val="FCF9FF"/>
          </a:solidFill>
          <a:ln w="15240">
            <a:solidFill>
              <a:srgbClr val="6850C1"/>
            </a:solidFill>
          </a:ln>
        </p:spPr>
        <p:style>
          <a:lnRef idx="1">
            <a:schemeClr val="accent1"/>
          </a:lnRef>
          <a:fillRef idx="3">
            <a:schemeClr val="accent1"/>
          </a:fillRef>
          <a:effectRef idx="2">
            <a:schemeClr val="accent1"/>
          </a:effectRef>
          <a:fontRef idx="minor">
            <a:schemeClr val="lt1"/>
          </a:fontRef>
        </p:style>
        <p:txBody>
          <a:bodyPr wrap="square" lIns="118872" tIns="73152" bIns="54864" rtlCol="0" anchor="ctr"/>
          <a:lstStyle/>
          <a:p>
            <a:pPr algn="ctr">
              <a:spcAft>
                <a:spcPts val="200"/>
              </a:spcAft>
            </a:pPr>
            <a:r>
              <a:rPr sz="1500" b="1" dirty="0">
                <a:solidFill>
                  <a:srgbClr val="6850C1"/>
                </a:solidFill>
                <a:latin typeface="Ubuntu"/>
              </a:rPr>
              <a:t>Reading the CFG</a:t>
            </a:r>
          </a:p>
          <a:p>
            <a:pPr>
              <a:spcAft>
                <a:spcPts val="200"/>
              </a:spcAft>
            </a:pPr>
            <a:r>
              <a:rPr sz="1400" b="0" dirty="0">
                <a:solidFill>
                  <a:srgbClr val="232323"/>
                </a:solidFill>
                <a:latin typeface="Ubuntu"/>
              </a:rPr>
              <a:t>One decision node creates two branches.</a:t>
            </a:r>
          </a:p>
          <a:p>
            <a:pPr>
              <a:spcAft>
                <a:spcPts val="200"/>
              </a:spcAft>
            </a:pPr>
            <a:r>
              <a:rPr sz="1400" b="0" dirty="0">
                <a:solidFill>
                  <a:srgbClr val="232323"/>
                </a:solidFill>
                <a:latin typeface="Ubuntu"/>
              </a:rPr>
              <a:t>The paths are: Start → decision → A → End </a:t>
            </a:r>
            <a:endParaRPr lang="en-US" sz="1400" dirty="0">
              <a:solidFill>
                <a:srgbClr val="232323"/>
              </a:solidFill>
              <a:latin typeface="Ubuntu"/>
            </a:endParaRPr>
          </a:p>
          <a:p>
            <a:pPr>
              <a:spcAft>
                <a:spcPts val="200"/>
              </a:spcAft>
            </a:pPr>
            <a:r>
              <a:rPr lang="en-US" sz="1400" b="0" dirty="0">
                <a:solidFill>
                  <a:srgbClr val="232323"/>
                </a:solidFill>
                <a:latin typeface="Ubuntu"/>
              </a:rPr>
              <a:t>                   and </a:t>
            </a:r>
            <a:r>
              <a:rPr sz="1400" b="0" dirty="0">
                <a:solidFill>
                  <a:srgbClr val="232323"/>
                </a:solidFill>
                <a:latin typeface="Ubuntu"/>
              </a:rPr>
              <a:t> Start → decision → B → 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Cyclomatic Complexity Formulas</a:t>
            </a:r>
          </a:p>
        </p:txBody>
      </p:sp>
      <p:sp>
        <p:nvSpPr>
          <p:cNvPr id="5" name="TextBox 4"/>
          <p:cNvSpPr txBox="1"/>
          <p:nvPr/>
        </p:nvSpPr>
        <p:spPr>
          <a:xfrm>
            <a:off x="868680" y="1005840"/>
            <a:ext cx="9601200" cy="365760"/>
          </a:xfrm>
          <a:prstGeom prst="rect">
            <a:avLst/>
          </a:prstGeom>
          <a:noFill/>
        </p:spPr>
        <p:txBody>
          <a:bodyPr wrap="square">
            <a:spAutoFit/>
          </a:bodyPr>
          <a:lstStyle/>
          <a:p>
            <a:r>
              <a:rPr sz="1700" b="0">
                <a:solidFill>
                  <a:srgbClr val="646464"/>
                </a:solidFill>
                <a:latin typeface="Ubuntu"/>
              </a:rPr>
              <a:t>Use any one formula that matches the information you have.</a:t>
            </a:r>
          </a:p>
        </p:txBody>
      </p:sp>
      <p:sp>
        <p:nvSpPr>
          <p:cNvPr id="6" name="Rounded Rectangle 5"/>
          <p:cNvSpPr/>
          <p:nvPr/>
        </p:nvSpPr>
        <p:spPr>
          <a:xfrm>
            <a:off x="868680" y="1600200"/>
            <a:ext cx="5074920" cy="1325880"/>
          </a:xfrm>
          <a:prstGeom prst="roundRect">
            <a:avLst/>
          </a:prstGeom>
          <a:solidFill>
            <a:srgbClr val="FCF9FF"/>
          </a:solidFill>
          <a:ln w="15240">
            <a:solidFill>
              <a:srgbClr val="6850C1"/>
            </a:solidFill>
          </a:ln>
        </p:spPr>
        <p:style>
          <a:lnRef idx="1">
            <a:schemeClr val="accent1"/>
          </a:lnRef>
          <a:fillRef idx="3">
            <a:schemeClr val="accent1"/>
          </a:fillRef>
          <a:effectRef idx="2">
            <a:schemeClr val="accent1"/>
          </a:effectRef>
          <a:fontRef idx="minor">
            <a:schemeClr val="lt1"/>
          </a:fontRef>
        </p:style>
        <p:txBody>
          <a:bodyPr wrap="square" lIns="118872" tIns="73152" bIns="54864" rtlCol="0" anchor="ctr"/>
          <a:lstStyle/>
          <a:p>
            <a:pPr algn="ctr">
              <a:spcAft>
                <a:spcPts val="200"/>
              </a:spcAft>
            </a:pPr>
            <a:r>
              <a:rPr sz="1500" b="1" dirty="0">
                <a:solidFill>
                  <a:srgbClr val="6850C1"/>
                </a:solidFill>
                <a:latin typeface="Ubuntu"/>
              </a:rPr>
              <a:t>1) Graph formula</a:t>
            </a:r>
          </a:p>
          <a:p>
            <a:pPr>
              <a:spcAft>
                <a:spcPts val="200"/>
              </a:spcAft>
            </a:pPr>
            <a:r>
              <a:rPr sz="1400" b="0" dirty="0">
                <a:solidFill>
                  <a:srgbClr val="232323"/>
                </a:solidFill>
                <a:latin typeface="Ubuntu"/>
              </a:rPr>
              <a:t>V(G) = E − N + 2P</a:t>
            </a:r>
          </a:p>
          <a:p>
            <a:pPr>
              <a:spcAft>
                <a:spcPts val="200"/>
              </a:spcAft>
            </a:pPr>
            <a:r>
              <a:rPr sz="1400" b="0" dirty="0">
                <a:solidFill>
                  <a:srgbClr val="232323"/>
                </a:solidFill>
                <a:latin typeface="Ubuntu"/>
              </a:rPr>
              <a:t>E = number of edges, N = number of nodes</a:t>
            </a:r>
          </a:p>
          <a:p>
            <a:pPr>
              <a:spcAft>
                <a:spcPts val="200"/>
              </a:spcAft>
            </a:pPr>
            <a:endParaRPr sz="1400" b="0" dirty="0">
              <a:solidFill>
                <a:srgbClr val="232323"/>
              </a:solidFill>
              <a:latin typeface="Ubuntu"/>
            </a:endParaRPr>
          </a:p>
        </p:txBody>
      </p:sp>
      <p:sp>
        <p:nvSpPr>
          <p:cNvPr id="7" name="Rounded Rectangle 6"/>
          <p:cNvSpPr/>
          <p:nvPr/>
        </p:nvSpPr>
        <p:spPr>
          <a:xfrm>
            <a:off x="6217920" y="1600200"/>
            <a:ext cx="4983480" cy="1325880"/>
          </a:xfrm>
          <a:prstGeom prst="roundRect">
            <a:avLst/>
          </a:prstGeom>
          <a:solidFill>
            <a:srgbClr val="FCF9FF"/>
          </a:solidFill>
          <a:ln w="15240">
            <a:solidFill>
              <a:srgbClr val="6850C1"/>
            </a:solidFill>
          </a:ln>
        </p:spPr>
        <p:style>
          <a:lnRef idx="1">
            <a:schemeClr val="accent1"/>
          </a:lnRef>
          <a:fillRef idx="3">
            <a:schemeClr val="accent1"/>
          </a:fillRef>
          <a:effectRef idx="2">
            <a:schemeClr val="accent1"/>
          </a:effectRef>
          <a:fontRef idx="minor">
            <a:schemeClr val="lt1"/>
          </a:fontRef>
        </p:style>
        <p:txBody>
          <a:bodyPr wrap="square" lIns="118872" tIns="73152" bIns="54864" rtlCol="0" anchor="ctr"/>
          <a:lstStyle/>
          <a:p>
            <a:pPr algn="ctr">
              <a:spcAft>
                <a:spcPts val="200"/>
              </a:spcAft>
            </a:pPr>
            <a:r>
              <a:rPr sz="1500" b="1" dirty="0">
                <a:solidFill>
                  <a:srgbClr val="6850C1"/>
                </a:solidFill>
                <a:latin typeface="Ubuntu"/>
              </a:rPr>
              <a:t>2) Decision formula</a:t>
            </a:r>
          </a:p>
          <a:p>
            <a:pPr>
              <a:spcAft>
                <a:spcPts val="200"/>
              </a:spcAft>
            </a:pPr>
            <a:r>
              <a:rPr sz="1400" b="0" dirty="0">
                <a:solidFill>
                  <a:srgbClr val="232323"/>
                </a:solidFill>
                <a:latin typeface="Ubuntu"/>
              </a:rPr>
              <a:t>V(G) = D + 1</a:t>
            </a:r>
          </a:p>
          <a:p>
            <a:pPr>
              <a:spcAft>
                <a:spcPts val="200"/>
              </a:spcAft>
            </a:pPr>
            <a:r>
              <a:rPr sz="1400" b="0" dirty="0">
                <a:solidFill>
                  <a:srgbClr val="232323"/>
                </a:solidFill>
                <a:latin typeface="Ubuntu"/>
              </a:rPr>
              <a:t>D = number of decision / predicate nodes</a:t>
            </a:r>
          </a:p>
        </p:txBody>
      </p:sp>
      <p:sp>
        <p:nvSpPr>
          <p:cNvPr id="8" name="Rounded Rectangle 7"/>
          <p:cNvSpPr/>
          <p:nvPr/>
        </p:nvSpPr>
        <p:spPr>
          <a:xfrm>
            <a:off x="868680" y="3337560"/>
            <a:ext cx="5074920" cy="1325880"/>
          </a:xfrm>
          <a:prstGeom prst="roundRect">
            <a:avLst/>
          </a:prstGeom>
          <a:solidFill>
            <a:srgbClr val="FCF9FF"/>
          </a:solidFill>
          <a:ln w="15240">
            <a:solidFill>
              <a:srgbClr val="6850C1"/>
            </a:solidFill>
          </a:ln>
        </p:spPr>
        <p:style>
          <a:lnRef idx="1">
            <a:schemeClr val="accent1"/>
          </a:lnRef>
          <a:fillRef idx="3">
            <a:schemeClr val="accent1"/>
          </a:fillRef>
          <a:effectRef idx="2">
            <a:schemeClr val="accent1"/>
          </a:effectRef>
          <a:fontRef idx="minor">
            <a:schemeClr val="lt1"/>
          </a:fontRef>
        </p:style>
        <p:txBody>
          <a:bodyPr wrap="square" lIns="118872" tIns="73152" bIns="54864" rtlCol="0" anchor="ctr"/>
          <a:lstStyle/>
          <a:p>
            <a:pPr algn="ctr">
              <a:spcAft>
                <a:spcPts val="200"/>
              </a:spcAft>
            </a:pPr>
            <a:r>
              <a:rPr sz="1500" b="1" dirty="0">
                <a:solidFill>
                  <a:srgbClr val="6850C1"/>
                </a:solidFill>
                <a:latin typeface="Ubuntu"/>
              </a:rPr>
              <a:t>3) Region formula</a:t>
            </a:r>
          </a:p>
          <a:p>
            <a:pPr>
              <a:spcAft>
                <a:spcPts val="200"/>
              </a:spcAft>
            </a:pPr>
            <a:r>
              <a:rPr sz="1400" b="0" dirty="0">
                <a:solidFill>
                  <a:srgbClr val="232323"/>
                </a:solidFill>
                <a:latin typeface="Ubuntu"/>
              </a:rPr>
              <a:t>V(G) = number of regions in CFG</a:t>
            </a:r>
          </a:p>
          <a:p>
            <a:pPr>
              <a:spcAft>
                <a:spcPts val="200"/>
              </a:spcAft>
            </a:pPr>
            <a:r>
              <a:rPr sz="1400" b="0" dirty="0">
                <a:solidFill>
                  <a:srgbClr val="232323"/>
                </a:solidFill>
                <a:latin typeface="Ubuntu"/>
              </a:rPr>
              <a:t>Includes the outside region.</a:t>
            </a:r>
          </a:p>
        </p:txBody>
      </p:sp>
      <p:sp>
        <p:nvSpPr>
          <p:cNvPr id="9" name="Rounded Rectangle 8"/>
          <p:cNvSpPr/>
          <p:nvPr/>
        </p:nvSpPr>
        <p:spPr>
          <a:xfrm>
            <a:off x="6217920" y="3337560"/>
            <a:ext cx="4983480" cy="1325880"/>
          </a:xfrm>
          <a:prstGeom prst="roundRect">
            <a:avLst/>
          </a:prstGeom>
          <a:solidFill>
            <a:srgbClr val="FCF9FF"/>
          </a:solidFill>
          <a:ln w="15240">
            <a:solidFill>
              <a:srgbClr val="6850C1"/>
            </a:solidFill>
          </a:ln>
        </p:spPr>
        <p:style>
          <a:lnRef idx="1">
            <a:schemeClr val="accent1"/>
          </a:lnRef>
          <a:fillRef idx="3">
            <a:schemeClr val="accent1"/>
          </a:fillRef>
          <a:effectRef idx="2">
            <a:schemeClr val="accent1"/>
          </a:effectRef>
          <a:fontRef idx="minor">
            <a:schemeClr val="lt1"/>
          </a:fontRef>
        </p:style>
        <p:txBody>
          <a:bodyPr wrap="square" lIns="118872" tIns="73152" bIns="54864" rtlCol="0" anchor="ctr"/>
          <a:lstStyle/>
          <a:p>
            <a:pPr algn="ctr">
              <a:spcAft>
                <a:spcPts val="200"/>
              </a:spcAft>
            </a:pPr>
            <a:r>
              <a:rPr lang="en-US" sz="1500" b="1" dirty="0">
                <a:solidFill>
                  <a:srgbClr val="6850C1"/>
                </a:solidFill>
                <a:latin typeface="Ubuntu"/>
              </a:rPr>
              <a:t>4) S</a:t>
            </a:r>
            <a:r>
              <a:rPr sz="1500" b="1" dirty="0">
                <a:solidFill>
                  <a:srgbClr val="6850C1"/>
                </a:solidFill>
                <a:latin typeface="Ubuntu"/>
              </a:rPr>
              <a:t>hortcut</a:t>
            </a:r>
          </a:p>
          <a:p>
            <a:pPr>
              <a:spcAft>
                <a:spcPts val="200"/>
              </a:spcAft>
            </a:pPr>
            <a:r>
              <a:rPr sz="1400" b="0" dirty="0">
                <a:solidFill>
                  <a:srgbClr val="232323"/>
                </a:solidFill>
                <a:latin typeface="Ubuntu"/>
              </a:rPr>
              <a:t>For most exam examples:</a:t>
            </a:r>
          </a:p>
          <a:p>
            <a:pPr>
              <a:spcAft>
                <a:spcPts val="200"/>
              </a:spcAft>
            </a:pPr>
            <a:r>
              <a:rPr sz="1400" b="0" dirty="0">
                <a:solidFill>
                  <a:srgbClr val="232323"/>
                </a:solidFill>
                <a:latin typeface="Ubuntu"/>
              </a:rPr>
              <a:t>count if, else-if, loop, switch cases carefully;</a:t>
            </a:r>
          </a:p>
          <a:p>
            <a:pPr>
              <a:spcAft>
                <a:spcPts val="200"/>
              </a:spcAft>
            </a:pPr>
            <a:r>
              <a:rPr sz="1400" b="0" dirty="0">
                <a:solidFill>
                  <a:srgbClr val="232323"/>
                </a:solidFill>
                <a:latin typeface="Ubuntu"/>
              </a:rPr>
              <a:t>then apply V(G)=D+1.</a:t>
            </a:r>
          </a:p>
        </p:txBody>
      </p:sp>
      <p:sp>
        <p:nvSpPr>
          <p:cNvPr id="10" name="Rounded Rectangle 9"/>
          <p:cNvSpPr/>
          <p:nvPr/>
        </p:nvSpPr>
        <p:spPr>
          <a:xfrm>
            <a:off x="1234440" y="5212080"/>
            <a:ext cx="9509760" cy="502920"/>
          </a:xfrm>
          <a:prstGeom prst="roundRect">
            <a:avLst/>
          </a:prstGeom>
          <a:solidFill>
            <a:srgbClr val="E8E2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50" b="1">
                <a:solidFill>
                  <a:srgbClr val="232323"/>
                </a:solidFill>
                <a:latin typeface="Ubuntu"/>
              </a:rPr>
              <a:t>Result meaning: If V(G)=4, at least 4 independent paths should be tested for basis-path testing.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5280" y="146304"/>
            <a:ext cx="3872214" cy="553998"/>
          </a:xfrm>
          <a:prstGeom prst="rect">
            <a:avLst/>
          </a:prstGeom>
          <a:noFill/>
        </p:spPr>
        <p:txBody>
          <a:bodyPr wrap="none">
            <a:spAutoFit/>
          </a:bodyPr>
          <a:lstStyle/>
          <a:p>
            <a:pPr algn="l"/>
            <a:r>
              <a:rPr sz="3000" b="0" dirty="0">
                <a:solidFill>
                  <a:srgbClr val="232323"/>
                </a:solidFill>
                <a:latin typeface="Aptos Display"/>
              </a:rPr>
              <a:t>Example 1: if Statement</a:t>
            </a:r>
          </a:p>
        </p:txBody>
      </p:sp>
      <p:sp>
        <p:nvSpPr>
          <p:cNvPr id="5" name="Rounded Rectangle 4"/>
          <p:cNvSpPr/>
          <p:nvPr/>
        </p:nvSpPr>
        <p:spPr>
          <a:xfrm>
            <a:off x="685800" y="960120"/>
            <a:ext cx="3886200" cy="192024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250" dirty="0">
                <a:solidFill>
                  <a:srgbClr val="1E1E1E"/>
                </a:solidFill>
                <a:latin typeface="Consolas"/>
              </a:rPr>
              <a:t>int </a:t>
            </a:r>
            <a:r>
              <a:rPr sz="1250" dirty="0" err="1">
                <a:solidFill>
                  <a:srgbClr val="1E1E1E"/>
                </a:solidFill>
                <a:latin typeface="Consolas"/>
              </a:rPr>
              <a:t>signValue</a:t>
            </a:r>
            <a:r>
              <a:rPr sz="1250" dirty="0">
                <a:solidFill>
                  <a:srgbClr val="1E1E1E"/>
                </a:solidFill>
                <a:latin typeface="Consolas"/>
              </a:rPr>
              <a:t>(int x) {</a:t>
            </a:r>
          </a:p>
          <a:p>
            <a:pPr>
              <a:spcAft>
                <a:spcPts val="0"/>
              </a:spcAft>
            </a:pPr>
            <a:r>
              <a:rPr sz="1250" dirty="0">
                <a:solidFill>
                  <a:srgbClr val="1E1E1E"/>
                </a:solidFill>
                <a:latin typeface="Consolas"/>
              </a:rPr>
              <a:t>    int sign = 0;</a:t>
            </a:r>
          </a:p>
          <a:p>
            <a:pPr>
              <a:spcAft>
                <a:spcPts val="0"/>
              </a:spcAft>
            </a:pPr>
            <a:r>
              <a:rPr sz="1250" dirty="0">
                <a:solidFill>
                  <a:srgbClr val="1E1E1E"/>
                </a:solidFill>
                <a:latin typeface="Consolas"/>
              </a:rPr>
              <a:t>    if (x &lt; 0)</a:t>
            </a:r>
          </a:p>
          <a:p>
            <a:pPr>
              <a:spcAft>
                <a:spcPts val="0"/>
              </a:spcAft>
            </a:pPr>
            <a:r>
              <a:rPr sz="1250" dirty="0">
                <a:solidFill>
                  <a:srgbClr val="1E1E1E"/>
                </a:solidFill>
                <a:latin typeface="Consolas"/>
              </a:rPr>
              <a:t>        sign = -1;</a:t>
            </a:r>
          </a:p>
          <a:p>
            <a:pPr>
              <a:spcAft>
                <a:spcPts val="0"/>
              </a:spcAft>
            </a:pPr>
            <a:r>
              <a:rPr sz="1250" dirty="0">
                <a:solidFill>
                  <a:srgbClr val="1E1E1E"/>
                </a:solidFill>
                <a:latin typeface="Consolas"/>
              </a:rPr>
              <a:t>    return sign;</a:t>
            </a:r>
          </a:p>
          <a:p>
            <a:pPr>
              <a:spcAft>
                <a:spcPts val="0"/>
              </a:spcAft>
            </a:pPr>
            <a:r>
              <a:rPr sz="1250" dirty="0">
                <a:solidFill>
                  <a:srgbClr val="1E1E1E"/>
                </a:solidFill>
                <a:latin typeface="Consolas"/>
              </a:rPr>
              <a:t>}</a:t>
            </a:r>
          </a:p>
        </p:txBody>
      </p:sp>
      <p:cxnSp>
        <p:nvCxnSpPr>
          <p:cNvPr id="6" name="Connector 5"/>
          <p:cNvCxnSpPr>
            <a:cxnSpLocks/>
          </p:cNvCxnSpPr>
          <p:nvPr/>
        </p:nvCxnSpPr>
        <p:spPr>
          <a:xfrm>
            <a:off x="8277500" y="990567"/>
            <a:ext cx="0" cy="266733"/>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a:cxnSpLocks/>
            <a:stCxn id="14" idx="2"/>
            <a:endCxn id="17" idx="0"/>
          </p:cNvCxnSpPr>
          <p:nvPr/>
        </p:nvCxnSpPr>
        <p:spPr>
          <a:xfrm flipH="1">
            <a:off x="7124792" y="2918527"/>
            <a:ext cx="1161585" cy="47221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679982" y="329086"/>
            <a:ext cx="1172176" cy="661481"/>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dirty="0">
                <a:solidFill>
                  <a:srgbClr val="232323"/>
                </a:solidFill>
                <a:latin typeface="Ubuntu"/>
              </a:rPr>
              <a:t>1</a:t>
            </a:r>
            <a:br>
              <a:rPr sz="2800" dirty="0"/>
            </a:br>
            <a:r>
              <a:rPr sz="1400" b="0" dirty="0">
                <a:solidFill>
                  <a:srgbClr val="232323"/>
                </a:solidFill>
                <a:latin typeface="Ubuntu"/>
              </a:rPr>
              <a:t>Start</a:t>
            </a:r>
          </a:p>
        </p:txBody>
      </p:sp>
      <p:sp>
        <p:nvSpPr>
          <p:cNvPr id="13" name="Rounded Rectangle 12"/>
          <p:cNvSpPr/>
          <p:nvPr/>
        </p:nvSpPr>
        <p:spPr>
          <a:xfrm>
            <a:off x="7656936" y="1272863"/>
            <a:ext cx="1241127" cy="661481"/>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dirty="0">
                <a:solidFill>
                  <a:srgbClr val="232323"/>
                </a:solidFill>
                <a:latin typeface="Ubuntu"/>
              </a:rPr>
              <a:t>2</a:t>
            </a:r>
            <a:br>
              <a:rPr sz="2800" dirty="0"/>
            </a:br>
            <a:r>
              <a:rPr sz="1400" b="0" dirty="0">
                <a:solidFill>
                  <a:srgbClr val="232323"/>
                </a:solidFill>
                <a:latin typeface="Ubuntu"/>
              </a:rPr>
              <a:t>sign=0</a:t>
            </a:r>
          </a:p>
        </p:txBody>
      </p:sp>
      <p:sp>
        <p:nvSpPr>
          <p:cNvPr id="14" name="Rounded Rectangle 13"/>
          <p:cNvSpPr/>
          <p:nvPr/>
        </p:nvSpPr>
        <p:spPr>
          <a:xfrm>
            <a:off x="7665813" y="2190898"/>
            <a:ext cx="1241127" cy="727629"/>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232323"/>
                </a:solidFill>
                <a:latin typeface="Ubuntu"/>
              </a:rPr>
              <a:t>3</a:t>
            </a:r>
            <a:br>
              <a:rPr sz="2800"/>
            </a:br>
            <a:r>
              <a:rPr sz="1400" b="1">
                <a:solidFill>
                  <a:srgbClr val="232323"/>
                </a:solidFill>
                <a:latin typeface="Ubuntu"/>
              </a:rPr>
              <a:t>x&lt;0?</a:t>
            </a:r>
          </a:p>
        </p:txBody>
      </p:sp>
      <p:sp>
        <p:nvSpPr>
          <p:cNvPr id="15" name="TextBox 14"/>
          <p:cNvSpPr txBox="1"/>
          <p:nvPr/>
        </p:nvSpPr>
        <p:spPr>
          <a:xfrm>
            <a:off x="7124791" y="2946153"/>
            <a:ext cx="482661" cy="261610"/>
          </a:xfrm>
          <a:prstGeom prst="rect">
            <a:avLst/>
          </a:prstGeom>
          <a:noFill/>
        </p:spPr>
        <p:txBody>
          <a:bodyPr wrap="square">
            <a:spAutoFit/>
          </a:bodyPr>
          <a:lstStyle/>
          <a:p>
            <a:pPr algn="ctr"/>
            <a:r>
              <a:rPr sz="1100" b="0" dirty="0">
                <a:solidFill>
                  <a:srgbClr val="646464"/>
                </a:solidFill>
                <a:latin typeface="Ubuntu"/>
              </a:rPr>
              <a:t>T</a:t>
            </a:r>
          </a:p>
        </p:txBody>
      </p:sp>
      <p:sp>
        <p:nvSpPr>
          <p:cNvPr id="16" name="TextBox 15"/>
          <p:cNvSpPr txBox="1"/>
          <p:nvPr/>
        </p:nvSpPr>
        <p:spPr>
          <a:xfrm>
            <a:off x="8415402" y="3554358"/>
            <a:ext cx="482661" cy="261610"/>
          </a:xfrm>
          <a:prstGeom prst="rect">
            <a:avLst/>
          </a:prstGeom>
          <a:noFill/>
        </p:spPr>
        <p:txBody>
          <a:bodyPr wrap="square">
            <a:spAutoFit/>
          </a:bodyPr>
          <a:lstStyle/>
          <a:p>
            <a:pPr algn="ctr"/>
            <a:r>
              <a:rPr sz="1100" b="0" dirty="0">
                <a:solidFill>
                  <a:srgbClr val="646464"/>
                </a:solidFill>
                <a:latin typeface="Ubuntu"/>
              </a:rPr>
              <a:t>F</a:t>
            </a:r>
          </a:p>
        </p:txBody>
      </p:sp>
      <p:sp>
        <p:nvSpPr>
          <p:cNvPr id="17" name="Rounded Rectangle 16"/>
          <p:cNvSpPr/>
          <p:nvPr/>
        </p:nvSpPr>
        <p:spPr>
          <a:xfrm>
            <a:off x="6469752" y="3390739"/>
            <a:ext cx="1310079" cy="661481"/>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232323"/>
                </a:solidFill>
                <a:latin typeface="Ubuntu"/>
              </a:rPr>
              <a:t>4</a:t>
            </a:r>
            <a:br>
              <a:rPr sz="2800"/>
            </a:br>
            <a:r>
              <a:rPr sz="1400" b="0">
                <a:solidFill>
                  <a:srgbClr val="232323"/>
                </a:solidFill>
                <a:latin typeface="Ubuntu"/>
              </a:rPr>
              <a:t>sign=-1</a:t>
            </a:r>
          </a:p>
        </p:txBody>
      </p:sp>
      <p:sp>
        <p:nvSpPr>
          <p:cNvPr id="18" name="Rounded Rectangle 17"/>
          <p:cNvSpPr/>
          <p:nvPr/>
        </p:nvSpPr>
        <p:spPr>
          <a:xfrm>
            <a:off x="7779831" y="4383093"/>
            <a:ext cx="1310079" cy="661481"/>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dirty="0">
                <a:solidFill>
                  <a:srgbClr val="232323"/>
                </a:solidFill>
                <a:latin typeface="Ubuntu"/>
              </a:rPr>
              <a:t>5</a:t>
            </a:r>
            <a:br>
              <a:rPr sz="2800" dirty="0"/>
            </a:br>
            <a:r>
              <a:rPr sz="1400" b="0" dirty="0">
                <a:solidFill>
                  <a:srgbClr val="232323"/>
                </a:solidFill>
                <a:latin typeface="Ubuntu"/>
              </a:rPr>
              <a:t>return</a:t>
            </a:r>
          </a:p>
        </p:txBody>
      </p:sp>
      <p:sp>
        <p:nvSpPr>
          <p:cNvPr id="19" name="TextBox 18"/>
          <p:cNvSpPr txBox="1"/>
          <p:nvPr/>
        </p:nvSpPr>
        <p:spPr>
          <a:xfrm>
            <a:off x="7799346" y="5086394"/>
            <a:ext cx="1379030" cy="369332"/>
          </a:xfrm>
          <a:prstGeom prst="rect">
            <a:avLst/>
          </a:prstGeom>
          <a:noFill/>
        </p:spPr>
        <p:txBody>
          <a:bodyPr wrap="square">
            <a:spAutoFit/>
          </a:bodyPr>
          <a:lstStyle/>
          <a:p>
            <a:pPr algn="ctr"/>
            <a:r>
              <a:rPr b="0" dirty="0">
                <a:solidFill>
                  <a:srgbClr val="646464"/>
                </a:solidFill>
                <a:latin typeface="Ubuntu"/>
              </a:rPr>
              <a:t>CFG</a:t>
            </a:r>
          </a:p>
        </p:txBody>
      </p:sp>
      <p:sp>
        <p:nvSpPr>
          <p:cNvPr id="20" name="TextBox 19"/>
          <p:cNvSpPr txBox="1"/>
          <p:nvPr/>
        </p:nvSpPr>
        <p:spPr>
          <a:xfrm>
            <a:off x="685800" y="3108960"/>
            <a:ext cx="4434840" cy="1051560"/>
          </a:xfrm>
          <a:prstGeom prst="rect">
            <a:avLst/>
          </a:prstGeom>
          <a:noFill/>
        </p:spPr>
        <p:txBody>
          <a:bodyPr wrap="square">
            <a:spAutoFit/>
          </a:bodyPr>
          <a:lstStyle/>
          <a:p>
            <a:r>
              <a:rPr sz="1420" b="0">
                <a:solidFill>
                  <a:srgbClr val="232323"/>
                </a:solidFill>
                <a:latin typeface="Ubuntu"/>
              </a:rPr>
              <a:t>Nodes: 1,2,3,4,5  → N=5</a:t>
            </a:r>
          </a:p>
          <a:p>
            <a:r>
              <a:rPr sz="1420" b="0">
                <a:solidFill>
                  <a:srgbClr val="232323"/>
                </a:solidFill>
                <a:latin typeface="Ubuntu"/>
              </a:rPr>
              <a:t>Edges: 1→2, 2→3, 3T→4, 4→5, 3F→5  → E=5</a:t>
            </a:r>
          </a:p>
          <a:p>
            <a:r>
              <a:rPr sz="1420" b="0">
                <a:solidFill>
                  <a:srgbClr val="232323"/>
                </a:solidFill>
                <a:latin typeface="Ubuntu"/>
              </a:rPr>
              <a:t>Decision points: x&lt;0  → D=1</a:t>
            </a:r>
          </a:p>
        </p:txBody>
      </p:sp>
      <p:sp>
        <p:nvSpPr>
          <p:cNvPr id="21" name="Rounded Rectangle 20"/>
          <p:cNvSpPr/>
          <p:nvPr/>
        </p:nvSpPr>
        <p:spPr>
          <a:xfrm>
            <a:off x="929640" y="5672137"/>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20" b="0">
                <a:solidFill>
                  <a:srgbClr val="232323"/>
                </a:solidFill>
                <a:latin typeface="Ubuntu"/>
              </a:rPr>
              <a:t>Calculation: V(G)=E−N+2 = 5−5+2 = 2  OR  V(G)=D+1 = 1+1 = 2     Independent paths: P1: 1-2-3T-4-5,  P2: 1-2-3F-5</a:t>
            </a:r>
          </a:p>
        </p:txBody>
      </p:sp>
      <p:sp>
        <p:nvSpPr>
          <p:cNvPr id="41" name="Freeform: Shape 40">
            <a:extLst>
              <a:ext uri="{FF2B5EF4-FFF2-40B4-BE49-F238E27FC236}">
                <a16:creationId xmlns:a16="http://schemas.microsoft.com/office/drawing/2014/main" id="{83F61ED4-5E05-38BB-4C66-F11BD8E05B67}"/>
              </a:ext>
            </a:extLst>
          </p:cNvPr>
          <p:cNvSpPr/>
          <p:nvPr/>
        </p:nvSpPr>
        <p:spPr>
          <a:xfrm>
            <a:off x="8272632" y="2936838"/>
            <a:ext cx="162240" cy="1404435"/>
          </a:xfrm>
          <a:custGeom>
            <a:avLst/>
            <a:gdLst>
              <a:gd name="csX0" fmla="*/ 0 w 232631"/>
              <a:gd name="csY0" fmla="*/ 0 h 1568442"/>
              <a:gd name="csX1" fmla="*/ 215153 w 232631"/>
              <a:gd name="csY1" fmla="*/ 1430767 h 1568442"/>
              <a:gd name="csX2" fmla="*/ 204395 w 232631"/>
              <a:gd name="csY2" fmla="*/ 1430767 h 1568442"/>
            </a:gdLst>
            <a:ahLst/>
            <a:cxnLst>
              <a:cxn ang="0">
                <a:pos x="csX0" y="csY0"/>
              </a:cxn>
              <a:cxn ang="0">
                <a:pos x="csX1" y="csY1"/>
              </a:cxn>
              <a:cxn ang="0">
                <a:pos x="csX2" y="csY2"/>
              </a:cxn>
            </a:cxnLst>
            <a:rect l="l" t="t" r="r" b="b"/>
            <a:pathLst>
              <a:path w="232631" h="1568442">
                <a:moveTo>
                  <a:pt x="0" y="0"/>
                </a:moveTo>
                <a:cubicBezTo>
                  <a:pt x="90543" y="596153"/>
                  <a:pt x="181087" y="1192306"/>
                  <a:pt x="215153" y="1430767"/>
                </a:cubicBezTo>
                <a:cubicBezTo>
                  <a:pt x="249219" y="1669228"/>
                  <a:pt x="226807" y="1549997"/>
                  <a:pt x="204395" y="143076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Connector 6">
            <a:extLst>
              <a:ext uri="{FF2B5EF4-FFF2-40B4-BE49-F238E27FC236}">
                <a16:creationId xmlns:a16="http://schemas.microsoft.com/office/drawing/2014/main" id="{AAEE306D-F12A-C7AD-E7A8-423123AEBA4C}"/>
              </a:ext>
            </a:extLst>
          </p:cNvPr>
          <p:cNvCxnSpPr>
            <a:cxnSpLocks/>
            <a:stCxn id="17" idx="2"/>
            <a:endCxn id="18" idx="1"/>
          </p:cNvCxnSpPr>
          <p:nvPr/>
        </p:nvCxnSpPr>
        <p:spPr>
          <a:xfrm>
            <a:off x="7124792" y="4052220"/>
            <a:ext cx="655039" cy="661614"/>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45" name="Connector 6">
            <a:extLst>
              <a:ext uri="{FF2B5EF4-FFF2-40B4-BE49-F238E27FC236}">
                <a16:creationId xmlns:a16="http://schemas.microsoft.com/office/drawing/2014/main" id="{D85AB117-2942-0461-9DB1-B00388AFEA34}"/>
              </a:ext>
            </a:extLst>
          </p:cNvPr>
          <p:cNvCxnSpPr>
            <a:cxnSpLocks/>
            <a:endCxn id="14" idx="0"/>
          </p:cNvCxnSpPr>
          <p:nvPr/>
        </p:nvCxnSpPr>
        <p:spPr>
          <a:xfrm flipH="1">
            <a:off x="8286377" y="1914502"/>
            <a:ext cx="18454" cy="276396"/>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5212080" cy="548640"/>
          </a:xfrm>
          <a:prstGeom prst="rect">
            <a:avLst/>
          </a:prstGeom>
          <a:noFill/>
        </p:spPr>
        <p:txBody>
          <a:bodyPr wrap="none">
            <a:spAutoFit/>
          </a:bodyPr>
          <a:lstStyle/>
          <a:p>
            <a:pPr algn="l"/>
            <a:r>
              <a:rPr sz="3000" b="0">
                <a:solidFill>
                  <a:srgbClr val="232323"/>
                </a:solidFill>
                <a:latin typeface="Aptos Display"/>
              </a:rPr>
              <a:t>Example 2: if-else Statement</a:t>
            </a:r>
          </a:p>
        </p:txBody>
      </p:sp>
      <p:sp>
        <p:nvSpPr>
          <p:cNvPr id="5" name="Rounded Rectangle 4"/>
          <p:cNvSpPr/>
          <p:nvPr/>
        </p:nvSpPr>
        <p:spPr>
          <a:xfrm>
            <a:off x="685800" y="960120"/>
            <a:ext cx="3886200" cy="182880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250">
                <a:solidFill>
                  <a:srgbClr val="1E1E1E"/>
                </a:solidFill>
                <a:latin typeface="Consolas"/>
              </a:rPr>
              <a:t>int max2(int a, int b) {</a:t>
            </a:r>
          </a:p>
          <a:p>
            <a:pPr>
              <a:spcAft>
                <a:spcPts val="0"/>
              </a:spcAft>
            </a:pPr>
            <a:r>
              <a:rPr sz="1250">
                <a:solidFill>
                  <a:srgbClr val="1E1E1E"/>
                </a:solidFill>
                <a:latin typeface="Consolas"/>
              </a:rPr>
              <a:t>    if (a &gt; b)</a:t>
            </a:r>
          </a:p>
          <a:p>
            <a:pPr>
              <a:spcAft>
                <a:spcPts val="0"/>
              </a:spcAft>
            </a:pPr>
            <a:r>
              <a:rPr sz="1250">
                <a:solidFill>
                  <a:srgbClr val="1E1E1E"/>
                </a:solidFill>
                <a:latin typeface="Consolas"/>
              </a:rPr>
              <a:t>        return a;</a:t>
            </a:r>
          </a:p>
          <a:p>
            <a:pPr>
              <a:spcAft>
                <a:spcPts val="0"/>
              </a:spcAft>
            </a:pPr>
            <a:r>
              <a:rPr sz="1250">
                <a:solidFill>
                  <a:srgbClr val="1E1E1E"/>
                </a:solidFill>
                <a:latin typeface="Consolas"/>
              </a:rPr>
              <a:t>    else</a:t>
            </a:r>
          </a:p>
          <a:p>
            <a:pPr>
              <a:spcAft>
                <a:spcPts val="0"/>
              </a:spcAft>
            </a:pPr>
            <a:r>
              <a:rPr sz="1250">
                <a:solidFill>
                  <a:srgbClr val="1E1E1E"/>
                </a:solidFill>
                <a:latin typeface="Consolas"/>
              </a:rPr>
              <a:t>        return b;</a:t>
            </a:r>
          </a:p>
          <a:p>
            <a:pPr>
              <a:spcAft>
                <a:spcPts val="0"/>
              </a:spcAft>
            </a:pPr>
            <a:r>
              <a:rPr sz="1250">
                <a:solidFill>
                  <a:srgbClr val="1E1E1E"/>
                </a:solidFill>
                <a:latin typeface="Consolas"/>
              </a:rPr>
              <a:t>}</a:t>
            </a:r>
          </a:p>
        </p:txBody>
      </p:sp>
      <p:cxnSp>
        <p:nvCxnSpPr>
          <p:cNvPr id="6" name="Connector 5"/>
          <p:cNvCxnSpPr/>
          <p:nvPr/>
        </p:nvCxnSpPr>
        <p:spPr>
          <a:xfrm>
            <a:off x="6949440" y="914400"/>
            <a:ext cx="0" cy="56692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5989320" y="1965960"/>
            <a:ext cx="960120" cy="82296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49440" y="1965960"/>
            <a:ext cx="960120" cy="82296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89320" y="3246120"/>
            <a:ext cx="822960" cy="71323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086600" y="3246120"/>
            <a:ext cx="822960" cy="71323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65392" y="658368"/>
            <a:ext cx="77724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1</a:t>
            </a:r>
            <a:br/>
            <a:r>
              <a:rPr sz="1050" b="0">
                <a:solidFill>
                  <a:srgbClr val="232323"/>
                </a:solidFill>
                <a:latin typeface="Ubuntu"/>
              </a:rPr>
              <a:t>Start</a:t>
            </a:r>
          </a:p>
        </p:txBody>
      </p:sp>
      <p:sp>
        <p:nvSpPr>
          <p:cNvPr id="12" name="Rounded Rectangle 11"/>
          <p:cNvSpPr/>
          <p:nvPr/>
        </p:nvSpPr>
        <p:spPr>
          <a:xfrm>
            <a:off x="6519672" y="1508760"/>
            <a:ext cx="86868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2</a:t>
            </a:r>
            <a:br/>
            <a:r>
              <a:rPr sz="1050" b="1">
                <a:solidFill>
                  <a:srgbClr val="232323"/>
                </a:solidFill>
                <a:latin typeface="Ubuntu"/>
              </a:rPr>
              <a:t>a&gt;b?</a:t>
            </a:r>
          </a:p>
        </p:txBody>
      </p:sp>
      <p:sp>
        <p:nvSpPr>
          <p:cNvPr id="13" name="TextBox 12"/>
          <p:cNvSpPr txBox="1"/>
          <p:nvPr/>
        </p:nvSpPr>
        <p:spPr>
          <a:xfrm>
            <a:off x="6336792" y="2395728"/>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14" name="TextBox 13"/>
          <p:cNvSpPr txBox="1"/>
          <p:nvPr/>
        </p:nvSpPr>
        <p:spPr>
          <a:xfrm>
            <a:off x="7516368" y="2395728"/>
            <a:ext cx="320040" cy="182880"/>
          </a:xfrm>
          <a:prstGeom prst="rect">
            <a:avLst/>
          </a:prstGeom>
          <a:noFill/>
        </p:spPr>
        <p:txBody>
          <a:bodyPr wrap="square">
            <a:spAutoFit/>
          </a:bodyPr>
          <a:lstStyle/>
          <a:p>
            <a:pPr algn="ctr"/>
            <a:r>
              <a:rPr sz="950" b="0">
                <a:solidFill>
                  <a:srgbClr val="646464"/>
                </a:solidFill>
                <a:latin typeface="Ubuntu"/>
              </a:rPr>
              <a:t>F</a:t>
            </a:r>
          </a:p>
        </p:txBody>
      </p:sp>
      <p:sp>
        <p:nvSpPr>
          <p:cNvPr id="15" name="Rounded Rectangle 14"/>
          <p:cNvSpPr/>
          <p:nvPr/>
        </p:nvSpPr>
        <p:spPr>
          <a:xfrm>
            <a:off x="5550408" y="2788920"/>
            <a:ext cx="91440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3</a:t>
            </a:r>
            <a:br/>
            <a:r>
              <a:rPr sz="1050" b="0">
                <a:solidFill>
                  <a:srgbClr val="232323"/>
                </a:solidFill>
                <a:latin typeface="Ubuntu"/>
              </a:rPr>
              <a:t>return a</a:t>
            </a:r>
          </a:p>
        </p:txBody>
      </p:sp>
      <p:sp>
        <p:nvSpPr>
          <p:cNvPr id="16" name="Rounded Rectangle 15"/>
          <p:cNvSpPr/>
          <p:nvPr/>
        </p:nvSpPr>
        <p:spPr>
          <a:xfrm>
            <a:off x="7452360" y="2788920"/>
            <a:ext cx="91440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4</a:t>
            </a:r>
            <a:br/>
            <a:r>
              <a:rPr sz="1050" b="0">
                <a:solidFill>
                  <a:srgbClr val="232323"/>
                </a:solidFill>
                <a:latin typeface="Ubuntu"/>
              </a:rPr>
              <a:t>return b</a:t>
            </a:r>
          </a:p>
        </p:txBody>
      </p:sp>
      <p:sp>
        <p:nvSpPr>
          <p:cNvPr id="17" name="Rounded Rectangle 16"/>
          <p:cNvSpPr/>
          <p:nvPr/>
        </p:nvSpPr>
        <p:spPr>
          <a:xfrm>
            <a:off x="6629400" y="3986784"/>
            <a:ext cx="8686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5</a:t>
            </a:r>
            <a:br/>
            <a:r>
              <a:rPr sz="1050" b="0">
                <a:solidFill>
                  <a:srgbClr val="232323"/>
                </a:solidFill>
                <a:latin typeface="Ubuntu"/>
              </a:rPr>
              <a:t>End</a:t>
            </a:r>
          </a:p>
        </p:txBody>
      </p:sp>
      <p:sp>
        <p:nvSpPr>
          <p:cNvPr id="18" name="TextBox 17"/>
          <p:cNvSpPr txBox="1"/>
          <p:nvPr/>
        </p:nvSpPr>
        <p:spPr>
          <a:xfrm>
            <a:off x="685800" y="2971800"/>
            <a:ext cx="4526280" cy="1097280"/>
          </a:xfrm>
          <a:prstGeom prst="rect">
            <a:avLst/>
          </a:prstGeom>
          <a:noFill/>
        </p:spPr>
        <p:txBody>
          <a:bodyPr wrap="square">
            <a:spAutoFit/>
          </a:bodyPr>
          <a:lstStyle/>
          <a:p>
            <a:r>
              <a:rPr sz="1420" b="0">
                <a:solidFill>
                  <a:srgbClr val="232323"/>
                </a:solidFill>
                <a:latin typeface="Ubuntu"/>
              </a:rPr>
              <a:t>Nodes: 1,2,3,4,5  → N=5</a:t>
            </a:r>
          </a:p>
          <a:p>
            <a:r>
              <a:rPr sz="1420" b="0">
                <a:solidFill>
                  <a:srgbClr val="232323"/>
                </a:solidFill>
                <a:latin typeface="Ubuntu"/>
              </a:rPr>
              <a:t>Edges: 1→2, 2T→3, 2F→4, 3→5, 4→5  → E=5</a:t>
            </a:r>
          </a:p>
          <a:p>
            <a:r>
              <a:rPr sz="1420" b="0">
                <a:solidFill>
                  <a:srgbClr val="232323"/>
                </a:solidFill>
                <a:latin typeface="Ubuntu"/>
              </a:rPr>
              <a:t>Decision points: a&gt;b  → D=1</a:t>
            </a:r>
          </a:p>
        </p:txBody>
      </p:sp>
      <p:sp>
        <p:nvSpPr>
          <p:cNvPr id="19" name="Rounded Rectangle 18"/>
          <p:cNvSpPr/>
          <p:nvPr/>
        </p:nvSpPr>
        <p:spPr>
          <a:xfrm>
            <a:off x="868680" y="5074920"/>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70" b="0">
                <a:solidFill>
                  <a:srgbClr val="232323"/>
                </a:solidFill>
                <a:latin typeface="Ubuntu"/>
              </a:rPr>
              <a:t>Calculation: V(G)=5−5+2=2.  Meaning: the function has two independent branches.  Paths: P1: 1-2T-3-5,  P2: 1-2F-4-5.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5394960" cy="548640"/>
          </a:xfrm>
          <a:prstGeom prst="rect">
            <a:avLst/>
          </a:prstGeom>
          <a:noFill/>
        </p:spPr>
        <p:txBody>
          <a:bodyPr wrap="none">
            <a:spAutoFit/>
          </a:bodyPr>
          <a:lstStyle/>
          <a:p>
            <a:pPr algn="l"/>
            <a:r>
              <a:rPr sz="3000" b="0">
                <a:solidFill>
                  <a:srgbClr val="232323"/>
                </a:solidFill>
                <a:latin typeface="Aptos Display"/>
              </a:rPr>
              <a:t>Example 3: Nested Conditions</a:t>
            </a:r>
          </a:p>
        </p:txBody>
      </p:sp>
      <p:sp>
        <p:nvSpPr>
          <p:cNvPr id="5" name="Rounded Rectangle 4"/>
          <p:cNvSpPr/>
          <p:nvPr/>
        </p:nvSpPr>
        <p:spPr>
          <a:xfrm>
            <a:off x="548640" y="960120"/>
            <a:ext cx="4480560" cy="269748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050">
                <a:solidFill>
                  <a:srgbClr val="1E1E1E"/>
                </a:solidFill>
                <a:latin typeface="Consolas"/>
              </a:rPr>
              <a:t>int ticketPrice(int age, bool student) {</a:t>
            </a:r>
          </a:p>
          <a:p>
            <a:pPr>
              <a:spcAft>
                <a:spcPts val="0"/>
              </a:spcAft>
            </a:pPr>
            <a:r>
              <a:rPr sz="1050">
                <a:solidFill>
                  <a:srgbClr val="1E1E1E"/>
                </a:solidFill>
                <a:latin typeface="Consolas"/>
              </a:rPr>
              <a:t>    int price = 100;</a:t>
            </a:r>
          </a:p>
          <a:p>
            <a:pPr>
              <a:spcAft>
                <a:spcPts val="0"/>
              </a:spcAft>
            </a:pPr>
            <a:r>
              <a:rPr sz="1050">
                <a:solidFill>
                  <a:srgbClr val="1E1E1E"/>
                </a:solidFill>
                <a:latin typeface="Consolas"/>
              </a:rPr>
              <a:t>    if (age &lt; 12)</a:t>
            </a:r>
          </a:p>
          <a:p>
            <a:pPr>
              <a:spcAft>
                <a:spcPts val="0"/>
              </a:spcAft>
            </a:pPr>
            <a:r>
              <a:rPr sz="1050">
                <a:solidFill>
                  <a:srgbClr val="1E1E1E"/>
                </a:solidFill>
                <a:latin typeface="Consolas"/>
              </a:rPr>
              <a:t>        price = 50;</a:t>
            </a:r>
          </a:p>
          <a:p>
            <a:pPr>
              <a:spcAft>
                <a:spcPts val="0"/>
              </a:spcAft>
            </a:pPr>
            <a:r>
              <a:rPr sz="1050">
                <a:solidFill>
                  <a:srgbClr val="1E1E1E"/>
                </a:solidFill>
                <a:latin typeface="Consolas"/>
              </a:rPr>
              <a:t>    else {</a:t>
            </a:r>
          </a:p>
          <a:p>
            <a:pPr>
              <a:spcAft>
                <a:spcPts val="0"/>
              </a:spcAft>
            </a:pPr>
            <a:r>
              <a:rPr sz="1050">
                <a:solidFill>
                  <a:srgbClr val="1E1E1E"/>
                </a:solidFill>
                <a:latin typeface="Consolas"/>
              </a:rPr>
              <a:t>        if (student)</a:t>
            </a:r>
          </a:p>
          <a:p>
            <a:pPr>
              <a:spcAft>
                <a:spcPts val="0"/>
              </a:spcAft>
            </a:pPr>
            <a:r>
              <a:rPr sz="1050">
                <a:solidFill>
                  <a:srgbClr val="1E1E1E"/>
                </a:solidFill>
                <a:latin typeface="Consolas"/>
              </a:rPr>
              <a:t>            price = 70;</a:t>
            </a:r>
          </a:p>
          <a:p>
            <a:pPr>
              <a:spcAft>
                <a:spcPts val="0"/>
              </a:spcAft>
            </a:pPr>
            <a:r>
              <a:rPr sz="1050">
                <a:solidFill>
                  <a:srgbClr val="1E1E1E"/>
                </a:solidFill>
                <a:latin typeface="Consolas"/>
              </a:rPr>
              <a:t>    }</a:t>
            </a:r>
          </a:p>
          <a:p>
            <a:pPr>
              <a:spcAft>
                <a:spcPts val="0"/>
              </a:spcAft>
            </a:pPr>
            <a:r>
              <a:rPr sz="1050">
                <a:solidFill>
                  <a:srgbClr val="1E1E1E"/>
                </a:solidFill>
                <a:latin typeface="Consolas"/>
              </a:rPr>
              <a:t>    return price;</a:t>
            </a:r>
          </a:p>
          <a:p>
            <a:pPr>
              <a:spcAft>
                <a:spcPts val="0"/>
              </a:spcAft>
            </a:pPr>
            <a:r>
              <a:rPr sz="1050">
                <a:solidFill>
                  <a:srgbClr val="1E1E1E"/>
                </a:solidFill>
                <a:latin typeface="Consolas"/>
              </a:rPr>
              <a:t>}</a:t>
            </a:r>
          </a:p>
        </p:txBody>
      </p:sp>
      <p:cxnSp>
        <p:nvCxnSpPr>
          <p:cNvPr id="6" name="Connector 5"/>
          <p:cNvCxnSpPr/>
          <p:nvPr/>
        </p:nvCxnSpPr>
        <p:spPr>
          <a:xfrm>
            <a:off x="8750809" y="667512"/>
            <a:ext cx="0" cy="39319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750809" y="1481328"/>
            <a:ext cx="0" cy="402335"/>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836409" y="2386584"/>
            <a:ext cx="914400" cy="52120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750809" y="2386584"/>
            <a:ext cx="1005839" cy="52120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66761" y="438912"/>
            <a:ext cx="777240" cy="41148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1</a:t>
            </a:r>
            <a:br/>
            <a:r>
              <a:rPr sz="1050" b="0">
                <a:solidFill>
                  <a:srgbClr val="232323"/>
                </a:solidFill>
                <a:latin typeface="Ubuntu"/>
              </a:rPr>
              <a:t>Start</a:t>
            </a:r>
          </a:p>
        </p:txBody>
      </p:sp>
      <p:sp>
        <p:nvSpPr>
          <p:cNvPr id="15" name="Rounded Rectangle 14"/>
          <p:cNvSpPr/>
          <p:nvPr/>
        </p:nvSpPr>
        <p:spPr>
          <a:xfrm>
            <a:off x="8247889" y="1060704"/>
            <a:ext cx="1005840" cy="438912"/>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2</a:t>
            </a:r>
            <a:br/>
            <a:r>
              <a:rPr sz="1050" b="0">
                <a:solidFill>
                  <a:srgbClr val="232323"/>
                </a:solidFill>
                <a:latin typeface="Ubuntu"/>
              </a:rPr>
              <a:t>price=100</a:t>
            </a:r>
          </a:p>
        </p:txBody>
      </p:sp>
      <p:sp>
        <p:nvSpPr>
          <p:cNvPr id="16" name="Rounded Rectangle 15"/>
          <p:cNvSpPr/>
          <p:nvPr/>
        </p:nvSpPr>
        <p:spPr>
          <a:xfrm>
            <a:off x="8293609" y="1901952"/>
            <a:ext cx="96012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3</a:t>
            </a:r>
            <a:br/>
            <a:r>
              <a:rPr sz="1050" b="1">
                <a:solidFill>
                  <a:srgbClr val="232323"/>
                </a:solidFill>
                <a:latin typeface="Ubuntu"/>
              </a:rPr>
              <a:t>age&lt;12?</a:t>
            </a:r>
          </a:p>
        </p:txBody>
      </p:sp>
      <p:sp>
        <p:nvSpPr>
          <p:cNvPr id="17" name="TextBox 16"/>
          <p:cNvSpPr txBox="1"/>
          <p:nvPr/>
        </p:nvSpPr>
        <p:spPr>
          <a:xfrm>
            <a:off x="8247889" y="2656332"/>
            <a:ext cx="320040" cy="182880"/>
          </a:xfrm>
          <a:prstGeom prst="rect">
            <a:avLst/>
          </a:prstGeom>
          <a:noFill/>
        </p:spPr>
        <p:txBody>
          <a:bodyPr wrap="square">
            <a:spAutoFit/>
          </a:bodyPr>
          <a:lstStyle/>
          <a:p>
            <a:pPr algn="ctr"/>
            <a:r>
              <a:rPr sz="950" b="0" dirty="0">
                <a:solidFill>
                  <a:srgbClr val="646464"/>
                </a:solidFill>
                <a:latin typeface="Ubuntu"/>
              </a:rPr>
              <a:t>T</a:t>
            </a:r>
          </a:p>
        </p:txBody>
      </p:sp>
      <p:sp>
        <p:nvSpPr>
          <p:cNvPr id="18" name="TextBox 17"/>
          <p:cNvSpPr txBox="1"/>
          <p:nvPr/>
        </p:nvSpPr>
        <p:spPr>
          <a:xfrm>
            <a:off x="9345169" y="2560320"/>
            <a:ext cx="320040" cy="182880"/>
          </a:xfrm>
          <a:prstGeom prst="rect">
            <a:avLst/>
          </a:prstGeom>
          <a:noFill/>
        </p:spPr>
        <p:txBody>
          <a:bodyPr wrap="square">
            <a:spAutoFit/>
          </a:bodyPr>
          <a:lstStyle/>
          <a:p>
            <a:pPr algn="ctr"/>
            <a:r>
              <a:rPr sz="950" b="0">
                <a:solidFill>
                  <a:srgbClr val="646464"/>
                </a:solidFill>
                <a:latin typeface="Ubuntu"/>
              </a:rPr>
              <a:t>F</a:t>
            </a:r>
          </a:p>
        </p:txBody>
      </p:sp>
      <p:sp>
        <p:nvSpPr>
          <p:cNvPr id="19" name="Rounded Rectangle 18"/>
          <p:cNvSpPr/>
          <p:nvPr/>
        </p:nvSpPr>
        <p:spPr>
          <a:xfrm>
            <a:off x="7397497" y="2926080"/>
            <a:ext cx="91440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4</a:t>
            </a:r>
            <a:br/>
            <a:r>
              <a:rPr sz="1050" b="0">
                <a:solidFill>
                  <a:srgbClr val="232323"/>
                </a:solidFill>
                <a:latin typeface="Ubuntu"/>
              </a:rPr>
              <a:t>price=50</a:t>
            </a:r>
          </a:p>
        </p:txBody>
      </p:sp>
      <p:sp>
        <p:nvSpPr>
          <p:cNvPr id="20" name="Rounded Rectangle 19"/>
          <p:cNvSpPr/>
          <p:nvPr/>
        </p:nvSpPr>
        <p:spPr>
          <a:xfrm>
            <a:off x="9317737" y="2926080"/>
            <a:ext cx="96012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5</a:t>
            </a:r>
            <a:br/>
            <a:r>
              <a:rPr sz="1050" b="1">
                <a:solidFill>
                  <a:srgbClr val="232323"/>
                </a:solidFill>
                <a:latin typeface="Ubuntu"/>
              </a:rPr>
              <a:t>student?</a:t>
            </a:r>
          </a:p>
        </p:txBody>
      </p:sp>
      <p:sp>
        <p:nvSpPr>
          <p:cNvPr id="21" name="TextBox 20"/>
          <p:cNvSpPr txBox="1"/>
          <p:nvPr/>
        </p:nvSpPr>
        <p:spPr>
          <a:xfrm>
            <a:off x="10213848" y="3474719"/>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22" name="TextBox 21"/>
          <p:cNvSpPr txBox="1"/>
          <p:nvPr/>
        </p:nvSpPr>
        <p:spPr>
          <a:xfrm>
            <a:off x="9047989" y="3767328"/>
            <a:ext cx="320040" cy="182880"/>
          </a:xfrm>
          <a:prstGeom prst="rect">
            <a:avLst/>
          </a:prstGeom>
          <a:noFill/>
        </p:spPr>
        <p:txBody>
          <a:bodyPr wrap="square">
            <a:spAutoFit/>
          </a:bodyPr>
          <a:lstStyle/>
          <a:p>
            <a:pPr algn="ctr"/>
            <a:r>
              <a:rPr sz="950" b="0" dirty="0">
                <a:solidFill>
                  <a:srgbClr val="646464"/>
                </a:solidFill>
                <a:latin typeface="Ubuntu"/>
              </a:rPr>
              <a:t>F</a:t>
            </a:r>
          </a:p>
        </p:txBody>
      </p:sp>
      <p:sp>
        <p:nvSpPr>
          <p:cNvPr id="23" name="Rounded Rectangle 22"/>
          <p:cNvSpPr/>
          <p:nvPr/>
        </p:nvSpPr>
        <p:spPr>
          <a:xfrm>
            <a:off x="10287000" y="3776471"/>
            <a:ext cx="91440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6</a:t>
            </a:r>
            <a:br/>
            <a:r>
              <a:rPr sz="1050" b="0">
                <a:solidFill>
                  <a:srgbClr val="232323"/>
                </a:solidFill>
                <a:latin typeface="Ubuntu"/>
              </a:rPr>
              <a:t>price=70</a:t>
            </a:r>
          </a:p>
        </p:txBody>
      </p:sp>
      <p:sp>
        <p:nvSpPr>
          <p:cNvPr id="24" name="Rounded Rectangle 23"/>
          <p:cNvSpPr/>
          <p:nvPr/>
        </p:nvSpPr>
        <p:spPr>
          <a:xfrm>
            <a:off x="8814817" y="4389120"/>
            <a:ext cx="8686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7</a:t>
            </a:r>
            <a:br/>
            <a:r>
              <a:rPr sz="1050" b="0">
                <a:solidFill>
                  <a:srgbClr val="232323"/>
                </a:solidFill>
                <a:latin typeface="Ubuntu"/>
              </a:rPr>
              <a:t>return</a:t>
            </a:r>
          </a:p>
        </p:txBody>
      </p:sp>
      <p:sp>
        <p:nvSpPr>
          <p:cNvPr id="25" name="TextBox 24"/>
          <p:cNvSpPr txBox="1"/>
          <p:nvPr/>
        </p:nvSpPr>
        <p:spPr>
          <a:xfrm>
            <a:off x="378937" y="4233671"/>
            <a:ext cx="6607080" cy="517065"/>
          </a:xfrm>
          <a:prstGeom prst="rect">
            <a:avLst/>
          </a:prstGeom>
          <a:noFill/>
        </p:spPr>
        <p:txBody>
          <a:bodyPr wrap="square">
            <a:spAutoFit/>
          </a:bodyPr>
          <a:lstStyle/>
          <a:p>
            <a:r>
              <a:rPr sz="1380" b="0" dirty="0">
                <a:solidFill>
                  <a:srgbClr val="232323"/>
                </a:solidFill>
                <a:latin typeface="Ubuntu"/>
              </a:rPr>
              <a:t>Decision points: age&lt;12 and student → D=2</a:t>
            </a:r>
          </a:p>
          <a:p>
            <a:r>
              <a:rPr sz="1380" b="0" dirty="0">
                <a:solidFill>
                  <a:srgbClr val="232323"/>
                </a:solidFill>
                <a:latin typeface="Ubuntu"/>
              </a:rPr>
              <a:t>So V(G)=D+1=3.  The CFG also gives E−N+2 = 8−7+2 = 3.</a:t>
            </a:r>
          </a:p>
        </p:txBody>
      </p:sp>
      <p:sp>
        <p:nvSpPr>
          <p:cNvPr id="26" name="Rounded Rectangle 25"/>
          <p:cNvSpPr/>
          <p:nvPr/>
        </p:nvSpPr>
        <p:spPr>
          <a:xfrm>
            <a:off x="1191409" y="5285232"/>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r>
              <a:rPr sz="1280" b="0" dirty="0">
                <a:solidFill>
                  <a:srgbClr val="232323"/>
                </a:solidFill>
                <a:latin typeface="Ubuntu"/>
              </a:rPr>
              <a:t>Independent paths: P1: age&lt;12 → price=50 → return.  </a:t>
            </a:r>
            <a:endParaRPr lang="en-US" sz="1280" b="0" dirty="0">
              <a:solidFill>
                <a:srgbClr val="232323"/>
              </a:solidFill>
              <a:latin typeface="Ubuntu"/>
            </a:endParaRPr>
          </a:p>
          <a:p>
            <a:r>
              <a:rPr lang="en-US" sz="1280" dirty="0">
                <a:solidFill>
                  <a:srgbClr val="232323"/>
                </a:solidFill>
                <a:latin typeface="Ubuntu"/>
              </a:rPr>
              <a:t>                                     </a:t>
            </a:r>
            <a:r>
              <a:rPr sz="1280" b="0" dirty="0">
                <a:solidFill>
                  <a:srgbClr val="232323"/>
                </a:solidFill>
                <a:latin typeface="Ubuntu"/>
              </a:rPr>
              <a:t> </a:t>
            </a:r>
            <a:r>
              <a:rPr lang="en-US" sz="1280" b="0" dirty="0">
                <a:solidFill>
                  <a:srgbClr val="232323"/>
                </a:solidFill>
                <a:latin typeface="Ubuntu"/>
              </a:rPr>
              <a:t> </a:t>
            </a:r>
            <a:r>
              <a:rPr sz="1280" b="0" dirty="0">
                <a:solidFill>
                  <a:srgbClr val="232323"/>
                </a:solidFill>
                <a:latin typeface="Ubuntu"/>
              </a:rPr>
              <a:t>P2: age≥12 and student=true → price=70 → return.   </a:t>
            </a:r>
            <a:endParaRPr lang="en-US" sz="1280" b="0" dirty="0">
              <a:solidFill>
                <a:srgbClr val="232323"/>
              </a:solidFill>
              <a:latin typeface="Ubuntu"/>
            </a:endParaRPr>
          </a:p>
          <a:p>
            <a:r>
              <a:rPr lang="en-US" sz="1280" b="0" dirty="0">
                <a:solidFill>
                  <a:srgbClr val="232323"/>
                </a:solidFill>
                <a:latin typeface="Ubuntu"/>
              </a:rPr>
              <a:t>                                       </a:t>
            </a:r>
            <a:r>
              <a:rPr sz="1280" b="0" dirty="0">
                <a:solidFill>
                  <a:srgbClr val="232323"/>
                </a:solidFill>
                <a:latin typeface="Ubuntu"/>
              </a:rPr>
              <a:t>P3: age≥12 and student=false → return original price.</a:t>
            </a:r>
          </a:p>
        </p:txBody>
      </p:sp>
      <p:cxnSp>
        <p:nvCxnSpPr>
          <p:cNvPr id="3" name="Straight Arrow Connector 2">
            <a:extLst>
              <a:ext uri="{FF2B5EF4-FFF2-40B4-BE49-F238E27FC236}">
                <a16:creationId xmlns:a16="http://schemas.microsoft.com/office/drawing/2014/main" id="{E8490E81-93C3-ECF0-1BBF-4251C46046D0}"/>
              </a:ext>
            </a:extLst>
          </p:cNvPr>
          <p:cNvCxnSpPr>
            <a:cxnSpLocks/>
            <a:stCxn id="19" idx="2"/>
            <a:endCxn id="24" idx="1"/>
          </p:cNvCxnSpPr>
          <p:nvPr/>
        </p:nvCxnSpPr>
        <p:spPr>
          <a:xfrm>
            <a:off x="7854697" y="3383280"/>
            <a:ext cx="960120" cy="1234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BE7E982-4A45-B560-0BB3-25738E53EC30}"/>
              </a:ext>
            </a:extLst>
          </p:cNvPr>
          <p:cNvCxnSpPr>
            <a:cxnSpLocks/>
            <a:stCxn id="20" idx="2"/>
            <a:endCxn id="24" idx="0"/>
          </p:cNvCxnSpPr>
          <p:nvPr/>
        </p:nvCxnSpPr>
        <p:spPr>
          <a:xfrm flipH="1">
            <a:off x="9249157" y="3429000"/>
            <a:ext cx="548640" cy="96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D4DB9D1-6397-B431-4C95-B9DF2A087BF9}"/>
              </a:ext>
            </a:extLst>
          </p:cNvPr>
          <p:cNvCxnSpPr>
            <a:cxnSpLocks/>
            <a:stCxn id="23" idx="2"/>
            <a:endCxn id="24" idx="3"/>
          </p:cNvCxnSpPr>
          <p:nvPr/>
        </p:nvCxnSpPr>
        <p:spPr>
          <a:xfrm flipH="1">
            <a:off x="9683497" y="4233671"/>
            <a:ext cx="1060703" cy="384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859A93A-E58A-74DB-8F6D-C78D0F1E6656}"/>
              </a:ext>
            </a:extLst>
          </p:cNvPr>
          <p:cNvCxnSpPr>
            <a:cxnSpLocks/>
            <a:stCxn id="20" idx="2"/>
            <a:endCxn id="23" idx="0"/>
          </p:cNvCxnSpPr>
          <p:nvPr/>
        </p:nvCxnSpPr>
        <p:spPr>
          <a:xfrm>
            <a:off x="9797797" y="3429000"/>
            <a:ext cx="946403" cy="347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5303520" cy="548640"/>
          </a:xfrm>
          <a:prstGeom prst="rect">
            <a:avLst/>
          </a:prstGeom>
          <a:noFill/>
        </p:spPr>
        <p:txBody>
          <a:bodyPr wrap="none">
            <a:spAutoFit/>
          </a:bodyPr>
          <a:lstStyle/>
          <a:p>
            <a:pPr algn="l"/>
            <a:r>
              <a:rPr sz="3000" b="0">
                <a:solidFill>
                  <a:srgbClr val="232323"/>
                </a:solidFill>
                <a:latin typeface="Aptos Display"/>
              </a:rPr>
              <a:t>Example 4: Loop Structure</a:t>
            </a:r>
          </a:p>
        </p:txBody>
      </p:sp>
      <p:sp>
        <p:nvSpPr>
          <p:cNvPr id="5" name="Rounded Rectangle 4"/>
          <p:cNvSpPr/>
          <p:nvPr/>
        </p:nvSpPr>
        <p:spPr>
          <a:xfrm>
            <a:off x="594360" y="960120"/>
            <a:ext cx="4343400" cy="205740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120">
                <a:solidFill>
                  <a:srgbClr val="1E1E1E"/>
                </a:solidFill>
                <a:latin typeface="Consolas"/>
              </a:rPr>
              <a:t>int sumN(int n) {</a:t>
            </a:r>
          </a:p>
          <a:p>
            <a:pPr>
              <a:spcAft>
                <a:spcPts val="0"/>
              </a:spcAft>
            </a:pPr>
            <a:r>
              <a:rPr sz="1120">
                <a:solidFill>
                  <a:srgbClr val="1E1E1E"/>
                </a:solidFill>
                <a:latin typeface="Consolas"/>
              </a:rPr>
              <a:t>    int sum = 0;</a:t>
            </a:r>
          </a:p>
          <a:p>
            <a:pPr>
              <a:spcAft>
                <a:spcPts val="0"/>
              </a:spcAft>
            </a:pPr>
            <a:r>
              <a:rPr sz="1120">
                <a:solidFill>
                  <a:srgbClr val="1E1E1E"/>
                </a:solidFill>
                <a:latin typeface="Consolas"/>
              </a:rPr>
              <a:t>    for (int i = 1; i &lt;= n; i++) {</a:t>
            </a:r>
          </a:p>
          <a:p>
            <a:pPr>
              <a:spcAft>
                <a:spcPts val="0"/>
              </a:spcAft>
            </a:pPr>
            <a:r>
              <a:rPr sz="1120">
                <a:solidFill>
                  <a:srgbClr val="1E1E1E"/>
                </a:solidFill>
                <a:latin typeface="Consolas"/>
              </a:rPr>
              <a:t>        sum += i;</a:t>
            </a:r>
          </a:p>
          <a:p>
            <a:pPr>
              <a:spcAft>
                <a:spcPts val="0"/>
              </a:spcAft>
            </a:pPr>
            <a:r>
              <a:rPr sz="1120">
                <a:solidFill>
                  <a:srgbClr val="1E1E1E"/>
                </a:solidFill>
                <a:latin typeface="Consolas"/>
              </a:rPr>
              <a:t>    }</a:t>
            </a:r>
          </a:p>
          <a:p>
            <a:pPr>
              <a:spcAft>
                <a:spcPts val="0"/>
              </a:spcAft>
            </a:pPr>
            <a:r>
              <a:rPr sz="1120">
                <a:solidFill>
                  <a:srgbClr val="1E1E1E"/>
                </a:solidFill>
                <a:latin typeface="Consolas"/>
              </a:rPr>
              <a:t>    return sum;</a:t>
            </a:r>
          </a:p>
          <a:p>
            <a:pPr>
              <a:spcAft>
                <a:spcPts val="0"/>
              </a:spcAft>
            </a:pPr>
            <a:r>
              <a:rPr sz="1120">
                <a:solidFill>
                  <a:srgbClr val="1E1E1E"/>
                </a:solidFill>
                <a:latin typeface="Consolas"/>
              </a:rPr>
              <a:t>}</a:t>
            </a:r>
          </a:p>
        </p:txBody>
      </p:sp>
      <p:cxnSp>
        <p:nvCxnSpPr>
          <p:cNvPr id="6" name="Connector 5"/>
          <p:cNvCxnSpPr/>
          <p:nvPr/>
        </p:nvCxnSpPr>
        <p:spPr>
          <a:xfrm>
            <a:off x="6675120" y="777240"/>
            <a:ext cx="0" cy="36576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675120" y="1600200"/>
            <a:ext cx="0" cy="38404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75120" y="2487168"/>
            <a:ext cx="0" cy="30175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675120" y="3246120"/>
            <a:ext cx="0" cy="29260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5897880" y="3977639"/>
            <a:ext cx="777240"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897880" y="2240280"/>
            <a:ext cx="0" cy="1737359"/>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2240280"/>
            <a:ext cx="502920"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2240280"/>
            <a:ext cx="1097280"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1072" y="566928"/>
            <a:ext cx="777240" cy="41148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1</a:t>
            </a:r>
            <a:br/>
            <a:r>
              <a:rPr sz="1050" b="0">
                <a:solidFill>
                  <a:srgbClr val="232323"/>
                </a:solidFill>
                <a:latin typeface="Ubuntu"/>
              </a:rPr>
              <a:t>Start</a:t>
            </a:r>
          </a:p>
        </p:txBody>
      </p:sp>
      <p:sp>
        <p:nvSpPr>
          <p:cNvPr id="15" name="Rounded Rectangle 14"/>
          <p:cNvSpPr/>
          <p:nvPr/>
        </p:nvSpPr>
        <p:spPr>
          <a:xfrm>
            <a:off x="6126480" y="1143000"/>
            <a:ext cx="10972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2</a:t>
            </a:r>
            <a:br/>
            <a:r>
              <a:rPr sz="1050" b="0">
                <a:solidFill>
                  <a:srgbClr val="232323"/>
                </a:solidFill>
                <a:latin typeface="Ubuntu"/>
              </a:rPr>
              <a:t>sum=0, i=1</a:t>
            </a:r>
          </a:p>
        </p:txBody>
      </p:sp>
      <p:sp>
        <p:nvSpPr>
          <p:cNvPr id="16" name="Rounded Rectangle 15"/>
          <p:cNvSpPr/>
          <p:nvPr/>
        </p:nvSpPr>
        <p:spPr>
          <a:xfrm>
            <a:off x="6263640" y="1993392"/>
            <a:ext cx="86868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3</a:t>
            </a:r>
            <a:br/>
            <a:r>
              <a:rPr sz="1050" b="1">
                <a:solidFill>
                  <a:srgbClr val="232323"/>
                </a:solidFill>
                <a:latin typeface="Ubuntu"/>
              </a:rPr>
              <a:t>i&lt;=n?</a:t>
            </a:r>
          </a:p>
        </p:txBody>
      </p:sp>
      <p:sp>
        <p:nvSpPr>
          <p:cNvPr id="17" name="TextBox 16"/>
          <p:cNvSpPr txBox="1"/>
          <p:nvPr/>
        </p:nvSpPr>
        <p:spPr>
          <a:xfrm>
            <a:off x="6400800" y="2633472"/>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18" name="TextBox 17"/>
          <p:cNvSpPr txBox="1"/>
          <p:nvPr/>
        </p:nvSpPr>
        <p:spPr>
          <a:xfrm>
            <a:off x="7543800" y="1993392"/>
            <a:ext cx="320040" cy="182880"/>
          </a:xfrm>
          <a:prstGeom prst="rect">
            <a:avLst/>
          </a:prstGeom>
          <a:noFill/>
        </p:spPr>
        <p:txBody>
          <a:bodyPr wrap="square">
            <a:spAutoFit/>
          </a:bodyPr>
          <a:lstStyle/>
          <a:p>
            <a:pPr algn="ctr"/>
            <a:r>
              <a:rPr sz="950" b="0">
                <a:solidFill>
                  <a:srgbClr val="646464"/>
                </a:solidFill>
                <a:latin typeface="Ubuntu"/>
              </a:rPr>
              <a:t>F</a:t>
            </a:r>
          </a:p>
        </p:txBody>
      </p:sp>
      <p:sp>
        <p:nvSpPr>
          <p:cNvPr id="19" name="Rounded Rectangle 18"/>
          <p:cNvSpPr/>
          <p:nvPr/>
        </p:nvSpPr>
        <p:spPr>
          <a:xfrm>
            <a:off x="6254496" y="2788920"/>
            <a:ext cx="8686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4</a:t>
            </a:r>
            <a:br/>
            <a:r>
              <a:rPr sz="1050" b="0">
                <a:solidFill>
                  <a:srgbClr val="232323"/>
                </a:solidFill>
                <a:latin typeface="Ubuntu"/>
              </a:rPr>
              <a:t>sum+=i</a:t>
            </a:r>
          </a:p>
        </p:txBody>
      </p:sp>
      <p:sp>
        <p:nvSpPr>
          <p:cNvPr id="20" name="Rounded Rectangle 19"/>
          <p:cNvSpPr/>
          <p:nvPr/>
        </p:nvSpPr>
        <p:spPr>
          <a:xfrm>
            <a:off x="6336792" y="3547872"/>
            <a:ext cx="685800" cy="438912"/>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5</a:t>
            </a:r>
            <a:br/>
            <a:r>
              <a:rPr sz="1050" b="0">
                <a:solidFill>
                  <a:srgbClr val="232323"/>
                </a:solidFill>
                <a:latin typeface="Ubuntu"/>
              </a:rPr>
              <a:t>i++</a:t>
            </a:r>
          </a:p>
        </p:txBody>
      </p:sp>
      <p:sp>
        <p:nvSpPr>
          <p:cNvPr id="21" name="Rounded Rectangle 20"/>
          <p:cNvSpPr/>
          <p:nvPr/>
        </p:nvSpPr>
        <p:spPr>
          <a:xfrm>
            <a:off x="8229600" y="1993392"/>
            <a:ext cx="8686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6</a:t>
            </a:r>
            <a:br/>
            <a:r>
              <a:rPr sz="1050" b="0">
                <a:solidFill>
                  <a:srgbClr val="232323"/>
                </a:solidFill>
                <a:latin typeface="Ubuntu"/>
              </a:rPr>
              <a:t>return</a:t>
            </a:r>
          </a:p>
        </p:txBody>
      </p:sp>
      <p:sp>
        <p:nvSpPr>
          <p:cNvPr id="22" name="TextBox 21"/>
          <p:cNvSpPr txBox="1"/>
          <p:nvPr/>
        </p:nvSpPr>
        <p:spPr>
          <a:xfrm>
            <a:off x="594360" y="3218688"/>
            <a:ext cx="4434840" cy="594360"/>
          </a:xfrm>
          <a:prstGeom prst="rect">
            <a:avLst/>
          </a:prstGeom>
          <a:noFill/>
        </p:spPr>
        <p:txBody>
          <a:bodyPr wrap="square">
            <a:spAutoFit/>
          </a:bodyPr>
          <a:lstStyle/>
          <a:p>
            <a:r>
              <a:rPr sz="1400" b="0">
                <a:solidFill>
                  <a:srgbClr val="232323"/>
                </a:solidFill>
                <a:latin typeface="Ubuntu"/>
              </a:rPr>
              <a:t>Decision points: loop condition i&lt;=n → D=1</a:t>
            </a:r>
          </a:p>
          <a:p>
            <a:r>
              <a:rPr sz="1400" b="0">
                <a:solidFill>
                  <a:srgbClr val="232323"/>
                </a:solidFill>
                <a:latin typeface="Ubuntu"/>
              </a:rPr>
              <a:t>Nodes N=6; Edges E=6; V(G)=6−6+2=2.</a:t>
            </a:r>
          </a:p>
        </p:txBody>
      </p:sp>
      <p:sp>
        <p:nvSpPr>
          <p:cNvPr id="23" name="Rounded Rectangle 22"/>
          <p:cNvSpPr/>
          <p:nvPr/>
        </p:nvSpPr>
        <p:spPr>
          <a:xfrm>
            <a:off x="868680" y="5074920"/>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80" b="0">
                <a:solidFill>
                  <a:srgbClr val="232323"/>
                </a:solidFill>
                <a:latin typeface="Ubuntu"/>
              </a:rPr>
              <a:t>Independent paths: P1: loop skipped when n&lt;1.   P2: loop executes at least once and comes back to the condition.  More iterations do not create new independent paths; they repeat the same loop edge.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4389120" cy="548640"/>
          </a:xfrm>
          <a:prstGeom prst="rect">
            <a:avLst/>
          </a:prstGeom>
          <a:noFill/>
        </p:spPr>
        <p:txBody>
          <a:bodyPr wrap="none">
            <a:spAutoFit/>
          </a:bodyPr>
          <a:lstStyle/>
          <a:p>
            <a:pPr algn="l"/>
            <a:r>
              <a:rPr sz="3000">
                <a:solidFill>
                  <a:srgbClr val="232323"/>
                </a:solidFill>
                <a:latin typeface="Aptos Display"/>
              </a:rPr>
              <a:t>Example 5: Loop + if</a:t>
            </a:r>
          </a:p>
        </p:txBody>
      </p:sp>
      <p:sp>
        <p:nvSpPr>
          <p:cNvPr id="5" name="Rounded Rectangle 4"/>
          <p:cNvSpPr/>
          <p:nvPr/>
        </p:nvSpPr>
        <p:spPr>
          <a:xfrm>
            <a:off x="502920" y="941832"/>
            <a:ext cx="4617720" cy="233172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080">
                <a:solidFill>
                  <a:srgbClr val="1E1E1E"/>
                </a:solidFill>
                <a:latin typeface="Consolas"/>
              </a:rPr>
              <a:t>int countPositive(int arr[], int n) {</a:t>
            </a:r>
          </a:p>
          <a:p>
            <a:pPr>
              <a:spcAft>
                <a:spcPts val="0"/>
              </a:spcAft>
            </a:pPr>
            <a:r>
              <a:rPr sz="1080">
                <a:solidFill>
                  <a:srgbClr val="1E1E1E"/>
                </a:solidFill>
                <a:latin typeface="Consolas"/>
              </a:rPr>
              <a:t>    int count = 0;</a:t>
            </a:r>
          </a:p>
          <a:p>
            <a:pPr>
              <a:spcAft>
                <a:spcPts val="0"/>
              </a:spcAft>
            </a:pPr>
            <a:r>
              <a:rPr sz="1080">
                <a:solidFill>
                  <a:srgbClr val="1E1E1E"/>
                </a:solidFill>
                <a:latin typeface="Consolas"/>
              </a:rPr>
              <a:t>    for (int i = 0; i &lt; n; i++) {</a:t>
            </a:r>
          </a:p>
          <a:p>
            <a:pPr>
              <a:spcAft>
                <a:spcPts val="0"/>
              </a:spcAft>
            </a:pPr>
            <a:r>
              <a:rPr sz="1080">
                <a:solidFill>
                  <a:srgbClr val="1E1E1E"/>
                </a:solidFill>
                <a:latin typeface="Consolas"/>
              </a:rPr>
              <a:t>        if (arr[i] &gt; 0)</a:t>
            </a:r>
          </a:p>
          <a:p>
            <a:pPr>
              <a:spcAft>
                <a:spcPts val="0"/>
              </a:spcAft>
            </a:pPr>
            <a:r>
              <a:rPr sz="1080">
                <a:solidFill>
                  <a:srgbClr val="1E1E1E"/>
                </a:solidFill>
                <a:latin typeface="Consolas"/>
              </a:rPr>
              <a:t>            count++;</a:t>
            </a:r>
          </a:p>
          <a:p>
            <a:pPr>
              <a:spcAft>
                <a:spcPts val="0"/>
              </a:spcAft>
            </a:pPr>
            <a:r>
              <a:rPr sz="1080">
                <a:solidFill>
                  <a:srgbClr val="1E1E1E"/>
                </a:solidFill>
                <a:latin typeface="Consolas"/>
              </a:rPr>
              <a:t>    }</a:t>
            </a:r>
          </a:p>
          <a:p>
            <a:pPr>
              <a:spcAft>
                <a:spcPts val="0"/>
              </a:spcAft>
            </a:pPr>
            <a:r>
              <a:rPr sz="1080">
                <a:solidFill>
                  <a:srgbClr val="1E1E1E"/>
                </a:solidFill>
                <a:latin typeface="Consolas"/>
              </a:rPr>
              <a:t>    return count;</a:t>
            </a:r>
          </a:p>
          <a:p>
            <a:pPr>
              <a:spcAft>
                <a:spcPts val="0"/>
              </a:spcAft>
            </a:pPr>
            <a:r>
              <a:rPr sz="1080">
                <a:solidFill>
                  <a:srgbClr val="1E1E1E"/>
                </a:solidFill>
                <a:latin typeface="Consolas"/>
              </a:rPr>
              <a:t>}</a:t>
            </a:r>
          </a:p>
        </p:txBody>
      </p:sp>
      <p:cxnSp>
        <p:nvCxnSpPr>
          <p:cNvPr id="6" name="Connector 5"/>
          <p:cNvCxnSpPr/>
          <p:nvPr/>
        </p:nvCxnSpPr>
        <p:spPr>
          <a:xfrm>
            <a:off x="6492240" y="777240"/>
            <a:ext cx="0" cy="338328"/>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492240" y="1572768"/>
            <a:ext cx="0" cy="34747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492240" y="2423160"/>
            <a:ext cx="0" cy="347472"/>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5806440" y="3273552"/>
            <a:ext cx="685800" cy="493776"/>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92240" y="3273552"/>
            <a:ext cx="685800" cy="493776"/>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31152" y="2176272"/>
            <a:ext cx="1344168" cy="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08192" y="548640"/>
            <a:ext cx="777240" cy="41148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1</a:t>
            </a:r>
            <a:br/>
            <a:r>
              <a:rPr sz="1050" b="0">
                <a:solidFill>
                  <a:srgbClr val="232323"/>
                </a:solidFill>
                <a:latin typeface="Ubuntu"/>
              </a:rPr>
              <a:t>Start</a:t>
            </a:r>
          </a:p>
        </p:txBody>
      </p:sp>
      <p:sp>
        <p:nvSpPr>
          <p:cNvPr id="18" name="Rounded Rectangle 17"/>
          <p:cNvSpPr/>
          <p:nvPr/>
        </p:nvSpPr>
        <p:spPr>
          <a:xfrm>
            <a:off x="6044184" y="1115568"/>
            <a:ext cx="914400" cy="50292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2</a:t>
            </a:r>
            <a:br/>
            <a:r>
              <a:rPr sz="1050" b="0">
                <a:solidFill>
                  <a:srgbClr val="232323"/>
                </a:solidFill>
                <a:latin typeface="Ubuntu"/>
              </a:rPr>
              <a:t>count=0</a:t>
            </a:r>
            <a:br/>
            <a:r>
              <a:rPr sz="1050" b="0">
                <a:solidFill>
                  <a:srgbClr val="232323"/>
                </a:solidFill>
                <a:latin typeface="Ubuntu"/>
              </a:rPr>
              <a:t>i=0</a:t>
            </a:r>
          </a:p>
        </p:txBody>
      </p:sp>
      <p:sp>
        <p:nvSpPr>
          <p:cNvPr id="19" name="Rounded Rectangle 18"/>
          <p:cNvSpPr/>
          <p:nvPr/>
        </p:nvSpPr>
        <p:spPr>
          <a:xfrm>
            <a:off x="6099048" y="1929384"/>
            <a:ext cx="82296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3</a:t>
            </a:r>
            <a:br/>
            <a:r>
              <a:rPr sz="1050" b="1">
                <a:solidFill>
                  <a:srgbClr val="232323"/>
                </a:solidFill>
                <a:latin typeface="Ubuntu"/>
              </a:rPr>
              <a:t>i&lt;n?</a:t>
            </a:r>
          </a:p>
        </p:txBody>
      </p:sp>
      <p:sp>
        <p:nvSpPr>
          <p:cNvPr id="20" name="TextBox 19"/>
          <p:cNvSpPr txBox="1"/>
          <p:nvPr/>
        </p:nvSpPr>
        <p:spPr>
          <a:xfrm>
            <a:off x="6355080" y="2542032"/>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21" name="TextBox 20"/>
          <p:cNvSpPr txBox="1"/>
          <p:nvPr/>
        </p:nvSpPr>
        <p:spPr>
          <a:xfrm>
            <a:off x="7498079" y="1938528"/>
            <a:ext cx="320040" cy="182880"/>
          </a:xfrm>
          <a:prstGeom prst="rect">
            <a:avLst/>
          </a:prstGeom>
          <a:noFill/>
        </p:spPr>
        <p:txBody>
          <a:bodyPr wrap="square">
            <a:spAutoFit/>
          </a:bodyPr>
          <a:lstStyle/>
          <a:p>
            <a:pPr algn="ctr"/>
            <a:r>
              <a:rPr sz="950" b="0">
                <a:solidFill>
                  <a:srgbClr val="646464"/>
                </a:solidFill>
                <a:latin typeface="Ubuntu"/>
              </a:rPr>
              <a:t>F</a:t>
            </a:r>
          </a:p>
        </p:txBody>
      </p:sp>
      <p:sp>
        <p:nvSpPr>
          <p:cNvPr id="22" name="Rounded Rectangle 21"/>
          <p:cNvSpPr/>
          <p:nvPr/>
        </p:nvSpPr>
        <p:spPr>
          <a:xfrm>
            <a:off x="5989320" y="2788920"/>
            <a:ext cx="100584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4</a:t>
            </a:r>
            <a:br/>
            <a:r>
              <a:rPr sz="1050" b="1">
                <a:solidFill>
                  <a:srgbClr val="232323"/>
                </a:solidFill>
                <a:latin typeface="Ubuntu"/>
              </a:rPr>
              <a:t>arr[i]&gt;0?</a:t>
            </a:r>
          </a:p>
        </p:txBody>
      </p:sp>
      <p:sp>
        <p:nvSpPr>
          <p:cNvPr id="23" name="TextBox 22"/>
          <p:cNvSpPr txBox="1"/>
          <p:nvPr/>
        </p:nvSpPr>
        <p:spPr>
          <a:xfrm>
            <a:off x="6970140" y="3392425"/>
            <a:ext cx="320040" cy="182880"/>
          </a:xfrm>
          <a:prstGeom prst="rect">
            <a:avLst/>
          </a:prstGeom>
          <a:noFill/>
        </p:spPr>
        <p:txBody>
          <a:bodyPr wrap="square">
            <a:spAutoFit/>
          </a:bodyPr>
          <a:lstStyle/>
          <a:p>
            <a:pPr algn="ctr"/>
            <a:r>
              <a:rPr sz="950" b="0" dirty="0">
                <a:solidFill>
                  <a:srgbClr val="646464"/>
                </a:solidFill>
                <a:latin typeface="Ubuntu"/>
              </a:rPr>
              <a:t>T</a:t>
            </a:r>
          </a:p>
        </p:txBody>
      </p:sp>
      <p:sp>
        <p:nvSpPr>
          <p:cNvPr id="24" name="TextBox 23"/>
          <p:cNvSpPr txBox="1"/>
          <p:nvPr/>
        </p:nvSpPr>
        <p:spPr>
          <a:xfrm>
            <a:off x="5751576" y="3400464"/>
            <a:ext cx="320040" cy="182880"/>
          </a:xfrm>
          <a:prstGeom prst="rect">
            <a:avLst/>
          </a:prstGeom>
          <a:noFill/>
        </p:spPr>
        <p:txBody>
          <a:bodyPr wrap="square">
            <a:spAutoFit/>
          </a:bodyPr>
          <a:lstStyle/>
          <a:p>
            <a:pPr algn="ctr"/>
            <a:r>
              <a:rPr sz="950" b="0" dirty="0">
                <a:solidFill>
                  <a:srgbClr val="646464"/>
                </a:solidFill>
                <a:latin typeface="Ubuntu"/>
              </a:rPr>
              <a:t>F</a:t>
            </a:r>
          </a:p>
        </p:txBody>
      </p:sp>
      <p:sp>
        <p:nvSpPr>
          <p:cNvPr id="25" name="Rounded Rectangle 24"/>
          <p:cNvSpPr/>
          <p:nvPr/>
        </p:nvSpPr>
        <p:spPr>
          <a:xfrm>
            <a:off x="6743700" y="3767328"/>
            <a:ext cx="868680" cy="438912"/>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dirty="0">
                <a:solidFill>
                  <a:srgbClr val="232323"/>
                </a:solidFill>
                <a:latin typeface="Ubuntu"/>
              </a:rPr>
              <a:t>5</a:t>
            </a:r>
            <a:br>
              <a:rPr dirty="0"/>
            </a:br>
            <a:r>
              <a:rPr sz="1050" b="0" dirty="0">
                <a:solidFill>
                  <a:srgbClr val="232323"/>
                </a:solidFill>
                <a:latin typeface="Ubuntu"/>
              </a:rPr>
              <a:t>count++</a:t>
            </a:r>
          </a:p>
        </p:txBody>
      </p:sp>
      <p:sp>
        <p:nvSpPr>
          <p:cNvPr id="26" name="Rounded Rectangle 25"/>
          <p:cNvSpPr/>
          <p:nvPr/>
        </p:nvSpPr>
        <p:spPr>
          <a:xfrm>
            <a:off x="5278373" y="3767328"/>
            <a:ext cx="713232" cy="438912"/>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6</a:t>
            </a:r>
            <a:br/>
            <a:r>
              <a:rPr sz="1050" b="0">
                <a:solidFill>
                  <a:srgbClr val="232323"/>
                </a:solidFill>
                <a:latin typeface="Ubuntu"/>
              </a:rPr>
              <a:t>i++</a:t>
            </a:r>
          </a:p>
        </p:txBody>
      </p:sp>
      <p:sp>
        <p:nvSpPr>
          <p:cNvPr id="27" name="Rounded Rectangle 26"/>
          <p:cNvSpPr/>
          <p:nvPr/>
        </p:nvSpPr>
        <p:spPr>
          <a:xfrm>
            <a:off x="8257031" y="1947672"/>
            <a:ext cx="86868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7</a:t>
            </a:r>
            <a:br/>
            <a:r>
              <a:rPr sz="1050" b="0">
                <a:solidFill>
                  <a:srgbClr val="232323"/>
                </a:solidFill>
                <a:latin typeface="Ubuntu"/>
              </a:rPr>
              <a:t>return</a:t>
            </a:r>
          </a:p>
        </p:txBody>
      </p:sp>
      <p:sp>
        <p:nvSpPr>
          <p:cNvPr id="28" name="TextBox 27"/>
          <p:cNvSpPr txBox="1"/>
          <p:nvPr/>
        </p:nvSpPr>
        <p:spPr>
          <a:xfrm>
            <a:off x="530352" y="3474720"/>
            <a:ext cx="4663440" cy="777240"/>
          </a:xfrm>
          <a:prstGeom prst="rect">
            <a:avLst/>
          </a:prstGeom>
          <a:noFill/>
        </p:spPr>
        <p:txBody>
          <a:bodyPr wrap="square">
            <a:spAutoFit/>
          </a:bodyPr>
          <a:lstStyle/>
          <a:p>
            <a:r>
              <a:rPr sz="1320" b="0">
                <a:solidFill>
                  <a:srgbClr val="232323"/>
                </a:solidFill>
                <a:latin typeface="Ubuntu"/>
              </a:rPr>
              <a:t>Decision points: for condition + if condition → D=2</a:t>
            </a:r>
          </a:p>
          <a:p>
            <a:r>
              <a:rPr sz="1320" b="0">
                <a:solidFill>
                  <a:srgbClr val="232323"/>
                </a:solidFill>
                <a:latin typeface="Ubuntu"/>
              </a:rPr>
              <a:t>V(G)=D+1=3.  From the graph: N=7, E=8, so V(G)=8−7+2=3.</a:t>
            </a:r>
          </a:p>
        </p:txBody>
      </p:sp>
      <p:sp>
        <p:nvSpPr>
          <p:cNvPr id="29" name="Rounded Rectangle 28"/>
          <p:cNvSpPr/>
          <p:nvPr/>
        </p:nvSpPr>
        <p:spPr>
          <a:xfrm>
            <a:off x="868680" y="5074920"/>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80" b="0">
                <a:solidFill>
                  <a:srgbClr val="232323"/>
                </a:solidFill>
                <a:latin typeface="Ubuntu"/>
              </a:rPr>
              <a:t>Independent paths: P1: loop skipped.   P2: loop enters and arr[i]&gt;0 true.   P3: loop enters and arr[i]&gt;0 false.  These 3 tests cover the basis paths.</a:t>
            </a:r>
          </a:p>
        </p:txBody>
      </p:sp>
      <p:cxnSp>
        <p:nvCxnSpPr>
          <p:cNvPr id="33" name="Connector: Elbow 32">
            <a:extLst>
              <a:ext uri="{FF2B5EF4-FFF2-40B4-BE49-F238E27FC236}">
                <a16:creationId xmlns:a16="http://schemas.microsoft.com/office/drawing/2014/main" id="{99B30486-079C-8C0E-8B9D-4F62886F3C02}"/>
              </a:ext>
            </a:extLst>
          </p:cNvPr>
          <p:cNvCxnSpPr>
            <a:cxnSpLocks/>
            <a:stCxn id="26" idx="0"/>
            <a:endCxn id="18" idx="1"/>
          </p:cNvCxnSpPr>
          <p:nvPr/>
        </p:nvCxnSpPr>
        <p:spPr>
          <a:xfrm rot="5400000" flipH="1" flipV="1">
            <a:off x="4639436" y="2362581"/>
            <a:ext cx="2400300" cy="40919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593DE7D-6941-F06D-2154-579046F156F5}"/>
              </a:ext>
            </a:extLst>
          </p:cNvPr>
          <p:cNvCxnSpPr>
            <a:cxnSpLocks/>
            <a:stCxn id="25" idx="1"/>
            <a:endCxn id="26" idx="3"/>
          </p:cNvCxnSpPr>
          <p:nvPr/>
        </p:nvCxnSpPr>
        <p:spPr>
          <a:xfrm flipH="1">
            <a:off x="5991605" y="3986784"/>
            <a:ext cx="7520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5577840" cy="548640"/>
          </a:xfrm>
          <a:prstGeom prst="rect">
            <a:avLst/>
          </a:prstGeom>
          <a:noFill/>
        </p:spPr>
        <p:txBody>
          <a:bodyPr wrap="none">
            <a:spAutoFit/>
          </a:bodyPr>
          <a:lstStyle/>
          <a:p>
            <a:pPr algn="l"/>
            <a:r>
              <a:rPr sz="3000">
                <a:solidFill>
                  <a:srgbClr val="232323"/>
                </a:solidFill>
                <a:latin typeface="Aptos Display"/>
              </a:rPr>
              <a:t>Example 6: &amp;&amp; / || Conditions</a:t>
            </a:r>
          </a:p>
        </p:txBody>
      </p:sp>
      <p:sp>
        <p:nvSpPr>
          <p:cNvPr id="5" name="Rounded Rectangle 4"/>
          <p:cNvSpPr/>
          <p:nvPr/>
        </p:nvSpPr>
        <p:spPr>
          <a:xfrm>
            <a:off x="594360" y="960120"/>
            <a:ext cx="4434840" cy="160020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230">
                <a:solidFill>
                  <a:srgbClr val="1E1E1E"/>
                </a:solidFill>
                <a:latin typeface="Consolas"/>
              </a:rPr>
              <a:t>bool canAccess(int age, bool hasID) {</a:t>
            </a:r>
          </a:p>
          <a:p>
            <a:pPr>
              <a:spcAft>
                <a:spcPts val="0"/>
              </a:spcAft>
            </a:pPr>
            <a:r>
              <a:rPr sz="1230">
                <a:solidFill>
                  <a:srgbClr val="1E1E1E"/>
                </a:solidFill>
                <a:latin typeface="Consolas"/>
              </a:rPr>
              <a:t>    if (age &gt;= 18 &amp;&amp; hasID)</a:t>
            </a:r>
          </a:p>
          <a:p>
            <a:pPr>
              <a:spcAft>
                <a:spcPts val="0"/>
              </a:spcAft>
            </a:pPr>
            <a:r>
              <a:rPr sz="1230">
                <a:solidFill>
                  <a:srgbClr val="1E1E1E"/>
                </a:solidFill>
                <a:latin typeface="Consolas"/>
              </a:rPr>
              <a:t>        return true;</a:t>
            </a:r>
          </a:p>
          <a:p>
            <a:pPr>
              <a:spcAft>
                <a:spcPts val="0"/>
              </a:spcAft>
            </a:pPr>
            <a:r>
              <a:rPr sz="1230">
                <a:solidFill>
                  <a:srgbClr val="1E1E1E"/>
                </a:solidFill>
                <a:latin typeface="Consolas"/>
              </a:rPr>
              <a:t>    return false;</a:t>
            </a:r>
          </a:p>
          <a:p>
            <a:pPr>
              <a:spcAft>
                <a:spcPts val="0"/>
              </a:spcAft>
            </a:pPr>
            <a:r>
              <a:rPr sz="1230">
                <a:solidFill>
                  <a:srgbClr val="1E1E1E"/>
                </a:solidFill>
                <a:latin typeface="Consolas"/>
              </a:rPr>
              <a:t>}</a:t>
            </a:r>
          </a:p>
        </p:txBody>
      </p:sp>
      <p:sp>
        <p:nvSpPr>
          <p:cNvPr id="6" name="TextBox 5"/>
          <p:cNvSpPr txBox="1"/>
          <p:nvPr/>
        </p:nvSpPr>
        <p:spPr>
          <a:xfrm>
            <a:off x="685800" y="2816352"/>
            <a:ext cx="3474720" cy="256032"/>
          </a:xfrm>
          <a:prstGeom prst="rect">
            <a:avLst/>
          </a:prstGeom>
          <a:noFill/>
        </p:spPr>
        <p:txBody>
          <a:bodyPr wrap="square">
            <a:spAutoFit/>
          </a:bodyPr>
          <a:lstStyle/>
          <a:p>
            <a:r>
              <a:rPr sz="1700" b="1">
                <a:solidFill>
                  <a:srgbClr val="6850C1"/>
                </a:solidFill>
                <a:latin typeface="Ubuntu"/>
              </a:rPr>
              <a:t>Important teaching point</a:t>
            </a:r>
          </a:p>
        </p:txBody>
      </p:sp>
      <p:sp>
        <p:nvSpPr>
          <p:cNvPr id="7" name="TextBox 6"/>
          <p:cNvSpPr txBox="1"/>
          <p:nvPr/>
        </p:nvSpPr>
        <p:spPr>
          <a:xfrm>
            <a:off x="685800" y="3154680"/>
            <a:ext cx="4434840" cy="1018740"/>
          </a:xfrm>
          <a:prstGeom prst="rect">
            <a:avLst/>
          </a:prstGeom>
          <a:noFill/>
        </p:spPr>
        <p:txBody>
          <a:bodyPr wrap="square">
            <a:spAutoFit/>
          </a:bodyPr>
          <a:lstStyle/>
          <a:p>
            <a:pPr>
              <a:spcAft>
                <a:spcPts val="600"/>
              </a:spcAft>
              <a:defRPr sz="1380">
                <a:solidFill>
                  <a:srgbClr val="232323"/>
                </a:solidFill>
                <a:latin typeface="Ubuntu"/>
              </a:defRPr>
            </a:pPr>
            <a:r>
              <a:rPr dirty="0"/>
              <a:t>Basic shortcut may count the if statement as one decision.</a:t>
            </a:r>
          </a:p>
          <a:p>
            <a:pPr>
              <a:spcAft>
                <a:spcPts val="600"/>
              </a:spcAft>
              <a:defRPr sz="1380">
                <a:solidFill>
                  <a:srgbClr val="232323"/>
                </a:solidFill>
                <a:latin typeface="Ubuntu"/>
              </a:defRPr>
            </a:pPr>
            <a:r>
              <a:rPr dirty="0"/>
              <a:t>For path/condition testing, expand age&gt;=18 and </a:t>
            </a:r>
            <a:r>
              <a:rPr dirty="0" err="1"/>
              <a:t>hasID</a:t>
            </a:r>
            <a:r>
              <a:rPr dirty="0"/>
              <a:t> as separate condition checks.</a:t>
            </a:r>
          </a:p>
        </p:txBody>
      </p:sp>
      <p:cxnSp>
        <p:nvCxnSpPr>
          <p:cNvPr id="8" name="Connector 7"/>
          <p:cNvCxnSpPr/>
          <p:nvPr/>
        </p:nvCxnSpPr>
        <p:spPr>
          <a:xfrm>
            <a:off x="8415530" y="868680"/>
            <a:ext cx="0" cy="45720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415530" y="1828800"/>
            <a:ext cx="0" cy="50292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415530" y="1828800"/>
            <a:ext cx="1417320" cy="187452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501130" y="2834640"/>
            <a:ext cx="914400" cy="86868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415530" y="2834640"/>
            <a:ext cx="1417320" cy="86868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01130" y="4114800"/>
            <a:ext cx="1143000" cy="41148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918450" y="4114800"/>
            <a:ext cx="914400" cy="411480"/>
          </a:xfrm>
          <a:prstGeom prst="line">
            <a:avLst/>
          </a:prstGeom>
          <a:ln w="15240">
            <a:solidFill>
              <a:srgbClr val="64646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31482" y="640080"/>
            <a:ext cx="777240" cy="41148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1</a:t>
            </a:r>
            <a:br/>
            <a:r>
              <a:rPr sz="1050" b="0">
                <a:solidFill>
                  <a:srgbClr val="232323"/>
                </a:solidFill>
                <a:latin typeface="Ubuntu"/>
              </a:rPr>
              <a:t>Start</a:t>
            </a:r>
          </a:p>
        </p:txBody>
      </p:sp>
      <p:sp>
        <p:nvSpPr>
          <p:cNvPr id="16" name="Rounded Rectangle 15"/>
          <p:cNvSpPr/>
          <p:nvPr/>
        </p:nvSpPr>
        <p:spPr>
          <a:xfrm>
            <a:off x="7903466" y="1325880"/>
            <a:ext cx="100584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2</a:t>
            </a:r>
            <a:br/>
            <a:r>
              <a:rPr sz="1050" b="1">
                <a:solidFill>
                  <a:srgbClr val="232323"/>
                </a:solidFill>
                <a:latin typeface="Ubuntu"/>
              </a:rPr>
              <a:t>age&gt;=18?</a:t>
            </a:r>
          </a:p>
        </p:txBody>
      </p:sp>
      <p:sp>
        <p:nvSpPr>
          <p:cNvPr id="17" name="TextBox 16"/>
          <p:cNvSpPr txBox="1"/>
          <p:nvPr/>
        </p:nvSpPr>
        <p:spPr>
          <a:xfrm>
            <a:off x="8186930" y="2029968"/>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18" name="TextBox 17"/>
          <p:cNvSpPr txBox="1"/>
          <p:nvPr/>
        </p:nvSpPr>
        <p:spPr>
          <a:xfrm>
            <a:off x="9147050" y="2651760"/>
            <a:ext cx="320040" cy="182880"/>
          </a:xfrm>
          <a:prstGeom prst="rect">
            <a:avLst/>
          </a:prstGeom>
          <a:noFill/>
        </p:spPr>
        <p:txBody>
          <a:bodyPr wrap="square">
            <a:spAutoFit/>
          </a:bodyPr>
          <a:lstStyle/>
          <a:p>
            <a:pPr algn="ctr"/>
            <a:r>
              <a:rPr sz="950" b="0">
                <a:solidFill>
                  <a:srgbClr val="646464"/>
                </a:solidFill>
                <a:latin typeface="Ubuntu"/>
              </a:rPr>
              <a:t>F</a:t>
            </a:r>
          </a:p>
        </p:txBody>
      </p:sp>
      <p:sp>
        <p:nvSpPr>
          <p:cNvPr id="19" name="Rounded Rectangle 18"/>
          <p:cNvSpPr/>
          <p:nvPr/>
        </p:nvSpPr>
        <p:spPr>
          <a:xfrm>
            <a:off x="7985762" y="2340864"/>
            <a:ext cx="868680" cy="502920"/>
          </a:xfrm>
          <a:prstGeom prst="roundRect">
            <a:avLst/>
          </a:prstGeom>
          <a:solidFill>
            <a:srgbClr val="E8E2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1">
                <a:solidFill>
                  <a:srgbClr val="232323"/>
                </a:solidFill>
                <a:latin typeface="Ubuntu"/>
              </a:rPr>
              <a:t>3</a:t>
            </a:r>
            <a:br/>
            <a:r>
              <a:rPr sz="1050" b="1">
                <a:solidFill>
                  <a:srgbClr val="232323"/>
                </a:solidFill>
                <a:latin typeface="Ubuntu"/>
              </a:rPr>
              <a:t>hasID?</a:t>
            </a:r>
          </a:p>
        </p:txBody>
      </p:sp>
      <p:sp>
        <p:nvSpPr>
          <p:cNvPr id="20" name="TextBox 19"/>
          <p:cNvSpPr txBox="1"/>
          <p:nvPr/>
        </p:nvSpPr>
        <p:spPr>
          <a:xfrm>
            <a:off x="7641807" y="3114989"/>
            <a:ext cx="320040" cy="182880"/>
          </a:xfrm>
          <a:prstGeom prst="rect">
            <a:avLst/>
          </a:prstGeom>
          <a:noFill/>
        </p:spPr>
        <p:txBody>
          <a:bodyPr wrap="square">
            <a:spAutoFit/>
          </a:bodyPr>
          <a:lstStyle/>
          <a:p>
            <a:pPr algn="ctr"/>
            <a:r>
              <a:rPr sz="950" b="0">
                <a:solidFill>
                  <a:srgbClr val="646464"/>
                </a:solidFill>
                <a:latin typeface="Ubuntu"/>
              </a:rPr>
              <a:t>T</a:t>
            </a:r>
          </a:p>
        </p:txBody>
      </p:sp>
      <p:sp>
        <p:nvSpPr>
          <p:cNvPr id="21" name="TextBox 20"/>
          <p:cNvSpPr txBox="1"/>
          <p:nvPr/>
        </p:nvSpPr>
        <p:spPr>
          <a:xfrm>
            <a:off x="9009890" y="3337560"/>
            <a:ext cx="320040" cy="182880"/>
          </a:xfrm>
          <a:prstGeom prst="rect">
            <a:avLst/>
          </a:prstGeom>
          <a:noFill/>
        </p:spPr>
        <p:txBody>
          <a:bodyPr wrap="square">
            <a:spAutoFit/>
          </a:bodyPr>
          <a:lstStyle/>
          <a:p>
            <a:pPr algn="ctr"/>
            <a:r>
              <a:rPr sz="950" b="0" dirty="0">
                <a:solidFill>
                  <a:srgbClr val="646464"/>
                </a:solidFill>
                <a:latin typeface="Ubuntu"/>
              </a:rPr>
              <a:t>F</a:t>
            </a:r>
          </a:p>
        </p:txBody>
      </p:sp>
      <p:sp>
        <p:nvSpPr>
          <p:cNvPr id="22" name="Rounded Rectangle 21"/>
          <p:cNvSpPr/>
          <p:nvPr/>
        </p:nvSpPr>
        <p:spPr>
          <a:xfrm>
            <a:off x="7043930" y="3703320"/>
            <a:ext cx="96012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4</a:t>
            </a:r>
            <a:br/>
            <a:r>
              <a:rPr sz="1050" b="0">
                <a:solidFill>
                  <a:srgbClr val="232323"/>
                </a:solidFill>
                <a:latin typeface="Ubuntu"/>
              </a:rPr>
              <a:t>return true</a:t>
            </a:r>
          </a:p>
        </p:txBody>
      </p:sp>
      <p:sp>
        <p:nvSpPr>
          <p:cNvPr id="23" name="Rounded Rectangle 22"/>
          <p:cNvSpPr/>
          <p:nvPr/>
        </p:nvSpPr>
        <p:spPr>
          <a:xfrm>
            <a:off x="9375650" y="3703320"/>
            <a:ext cx="1051560" cy="45720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5</a:t>
            </a:r>
            <a:br/>
            <a:r>
              <a:rPr sz="1050" b="0">
                <a:solidFill>
                  <a:srgbClr val="232323"/>
                </a:solidFill>
                <a:latin typeface="Ubuntu"/>
              </a:rPr>
              <a:t>return false</a:t>
            </a:r>
          </a:p>
        </p:txBody>
      </p:sp>
      <p:sp>
        <p:nvSpPr>
          <p:cNvPr id="24" name="Rounded Rectangle 23"/>
          <p:cNvSpPr/>
          <p:nvPr/>
        </p:nvSpPr>
        <p:spPr>
          <a:xfrm>
            <a:off x="8461250" y="4498848"/>
            <a:ext cx="822960" cy="411480"/>
          </a:xfrm>
          <a:prstGeom prst="roundRect">
            <a:avLst/>
          </a:prstGeom>
          <a:solidFill>
            <a:srgbClr val="FFFFFF"/>
          </a:solidFill>
          <a:ln w="14604">
            <a:solidFill>
              <a:srgbClr val="6850C1"/>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050" b="0">
                <a:solidFill>
                  <a:srgbClr val="232323"/>
                </a:solidFill>
                <a:latin typeface="Ubuntu"/>
              </a:rPr>
              <a:t>6</a:t>
            </a:r>
            <a:br/>
            <a:r>
              <a:rPr sz="1050" b="0">
                <a:solidFill>
                  <a:srgbClr val="232323"/>
                </a:solidFill>
                <a:latin typeface="Ubuntu"/>
              </a:rPr>
              <a:t>End</a:t>
            </a:r>
          </a:p>
        </p:txBody>
      </p:sp>
      <p:sp>
        <p:nvSpPr>
          <p:cNvPr id="25" name="Rounded Rectangle 24"/>
          <p:cNvSpPr/>
          <p:nvPr/>
        </p:nvSpPr>
        <p:spPr>
          <a:xfrm>
            <a:off x="868680" y="5074920"/>
            <a:ext cx="10332720" cy="731520"/>
          </a:xfrm>
          <a:prstGeom prst="roundRect">
            <a:avLst/>
          </a:prstGeom>
          <a:solidFill>
            <a:srgbClr val="FCF9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Expanded CFG calculation: Decisions D=2, so V(G)=3. Independent paths: P1: age&lt;18 → false.  P2: age≥18 and hasID=true → true.  P3: age≥18 and hasID=false → false.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From Independent Paths to Test Cases</a:t>
            </a:r>
          </a:p>
        </p:txBody>
      </p:sp>
      <p:sp>
        <p:nvSpPr>
          <p:cNvPr id="5" name="TextBox 4"/>
          <p:cNvSpPr txBox="1"/>
          <p:nvPr/>
        </p:nvSpPr>
        <p:spPr>
          <a:xfrm>
            <a:off x="868680" y="960120"/>
            <a:ext cx="10058400" cy="384048"/>
          </a:xfrm>
          <a:prstGeom prst="rect">
            <a:avLst/>
          </a:prstGeom>
          <a:noFill/>
        </p:spPr>
        <p:txBody>
          <a:bodyPr wrap="square">
            <a:spAutoFit/>
          </a:bodyPr>
          <a:lstStyle/>
          <a:p>
            <a:r>
              <a:rPr sz="1700" b="0">
                <a:solidFill>
                  <a:srgbClr val="646464"/>
                </a:solidFill>
                <a:latin typeface="Ubuntu"/>
              </a:rPr>
              <a:t>After calculating V(G), convert each independent path into at least one concrete test case.</a:t>
            </a:r>
          </a:p>
        </p:txBody>
      </p:sp>
      <p:sp>
        <p:nvSpPr>
          <p:cNvPr id="6" name="Rectangle 5"/>
          <p:cNvSpPr/>
          <p:nvPr/>
        </p:nvSpPr>
        <p:spPr>
          <a:xfrm>
            <a:off x="868680" y="1600200"/>
            <a:ext cx="1417320" cy="384048"/>
          </a:xfrm>
          <a:prstGeom prst="rect">
            <a:avLst/>
          </a:prstGeom>
          <a:solidFill>
            <a:srgbClr val="162B49"/>
          </a:solidFill>
          <a:ln w="12700">
            <a:solidFill>
              <a:srgbClr val="162B4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FFFFFF"/>
                </a:solidFill>
                <a:latin typeface="Ubuntu"/>
              </a:rPr>
              <a:t>Path</a:t>
            </a:r>
          </a:p>
        </p:txBody>
      </p:sp>
      <p:sp>
        <p:nvSpPr>
          <p:cNvPr id="7" name="Rectangle 6"/>
          <p:cNvSpPr/>
          <p:nvPr/>
        </p:nvSpPr>
        <p:spPr>
          <a:xfrm>
            <a:off x="2468880" y="1600200"/>
            <a:ext cx="2926080" cy="384048"/>
          </a:xfrm>
          <a:prstGeom prst="rect">
            <a:avLst/>
          </a:prstGeom>
          <a:solidFill>
            <a:srgbClr val="162B49"/>
          </a:solidFill>
          <a:ln w="12700">
            <a:solidFill>
              <a:srgbClr val="162B4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FFFFFF"/>
                </a:solidFill>
                <a:latin typeface="Ubuntu"/>
              </a:rPr>
              <a:t>Condition idea</a:t>
            </a:r>
          </a:p>
        </p:txBody>
      </p:sp>
      <p:sp>
        <p:nvSpPr>
          <p:cNvPr id="8" name="Rectangle 7"/>
          <p:cNvSpPr/>
          <p:nvPr/>
        </p:nvSpPr>
        <p:spPr>
          <a:xfrm>
            <a:off x="5715000" y="1600200"/>
            <a:ext cx="1828800" cy="384048"/>
          </a:xfrm>
          <a:prstGeom prst="rect">
            <a:avLst/>
          </a:prstGeom>
          <a:solidFill>
            <a:srgbClr val="162B49"/>
          </a:solidFill>
          <a:ln w="12700">
            <a:solidFill>
              <a:srgbClr val="162B4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FFFFFF"/>
                </a:solidFill>
                <a:latin typeface="Ubuntu"/>
              </a:rPr>
              <a:t>Sample input</a:t>
            </a:r>
          </a:p>
        </p:txBody>
      </p:sp>
      <p:sp>
        <p:nvSpPr>
          <p:cNvPr id="9" name="Rectangle 8"/>
          <p:cNvSpPr/>
          <p:nvPr/>
        </p:nvSpPr>
        <p:spPr>
          <a:xfrm>
            <a:off x="7818120" y="1600200"/>
            <a:ext cx="1828800" cy="384048"/>
          </a:xfrm>
          <a:prstGeom prst="rect">
            <a:avLst/>
          </a:prstGeom>
          <a:solidFill>
            <a:srgbClr val="162B49"/>
          </a:solidFill>
          <a:ln w="12700">
            <a:solidFill>
              <a:srgbClr val="162B4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FFFFFF"/>
                </a:solidFill>
                <a:latin typeface="Ubuntu"/>
              </a:rPr>
              <a:t>Expected result</a:t>
            </a:r>
          </a:p>
        </p:txBody>
      </p:sp>
      <p:sp>
        <p:nvSpPr>
          <p:cNvPr id="10" name="Rectangle 9"/>
          <p:cNvSpPr/>
          <p:nvPr/>
        </p:nvSpPr>
        <p:spPr>
          <a:xfrm>
            <a:off x="868680" y="2029968"/>
            <a:ext cx="141732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232323"/>
                </a:solidFill>
                <a:latin typeface="Ubuntu"/>
              </a:rPr>
              <a:t>P1</a:t>
            </a:r>
          </a:p>
        </p:txBody>
      </p:sp>
      <p:sp>
        <p:nvSpPr>
          <p:cNvPr id="11" name="Rectangle 10"/>
          <p:cNvSpPr/>
          <p:nvPr/>
        </p:nvSpPr>
        <p:spPr>
          <a:xfrm>
            <a:off x="2468880" y="2029968"/>
            <a:ext cx="292608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 &lt; 18</a:t>
            </a:r>
          </a:p>
        </p:txBody>
      </p:sp>
      <p:sp>
        <p:nvSpPr>
          <p:cNvPr id="12" name="Rectangle 11"/>
          <p:cNvSpPr/>
          <p:nvPr/>
        </p:nvSpPr>
        <p:spPr>
          <a:xfrm>
            <a:off x="5715000" y="2029968"/>
            <a:ext cx="182880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age=16, hasID=true</a:t>
            </a:r>
          </a:p>
        </p:txBody>
      </p:sp>
      <p:sp>
        <p:nvSpPr>
          <p:cNvPr id="13" name="Rectangle 12"/>
          <p:cNvSpPr/>
          <p:nvPr/>
        </p:nvSpPr>
        <p:spPr>
          <a:xfrm>
            <a:off x="7818120" y="2029968"/>
            <a:ext cx="242316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false</a:t>
            </a:r>
          </a:p>
        </p:txBody>
      </p:sp>
      <p:sp>
        <p:nvSpPr>
          <p:cNvPr id="14" name="Rectangle 13"/>
          <p:cNvSpPr/>
          <p:nvPr/>
        </p:nvSpPr>
        <p:spPr>
          <a:xfrm>
            <a:off x="868680" y="2651760"/>
            <a:ext cx="141732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232323"/>
                </a:solidFill>
                <a:latin typeface="Ubuntu"/>
              </a:rPr>
              <a:t>P2</a:t>
            </a:r>
          </a:p>
        </p:txBody>
      </p:sp>
      <p:sp>
        <p:nvSpPr>
          <p:cNvPr id="15" name="Rectangle 14"/>
          <p:cNvSpPr/>
          <p:nvPr/>
        </p:nvSpPr>
        <p:spPr>
          <a:xfrm>
            <a:off x="2468880" y="2651760"/>
            <a:ext cx="292608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 &gt;= 18 and hasID=true</a:t>
            </a:r>
          </a:p>
        </p:txBody>
      </p:sp>
      <p:sp>
        <p:nvSpPr>
          <p:cNvPr id="16" name="Rectangle 15"/>
          <p:cNvSpPr/>
          <p:nvPr/>
        </p:nvSpPr>
        <p:spPr>
          <a:xfrm>
            <a:off x="5715000" y="2651760"/>
            <a:ext cx="182880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age=20, hasID=true</a:t>
            </a:r>
          </a:p>
        </p:txBody>
      </p:sp>
      <p:sp>
        <p:nvSpPr>
          <p:cNvPr id="17" name="Rectangle 16"/>
          <p:cNvSpPr/>
          <p:nvPr/>
        </p:nvSpPr>
        <p:spPr>
          <a:xfrm>
            <a:off x="7818120" y="2651760"/>
            <a:ext cx="242316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true</a:t>
            </a:r>
          </a:p>
        </p:txBody>
      </p:sp>
      <p:sp>
        <p:nvSpPr>
          <p:cNvPr id="18" name="Rectangle 17"/>
          <p:cNvSpPr/>
          <p:nvPr/>
        </p:nvSpPr>
        <p:spPr>
          <a:xfrm>
            <a:off x="868680" y="3273552"/>
            <a:ext cx="141732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1">
                <a:solidFill>
                  <a:srgbClr val="232323"/>
                </a:solidFill>
                <a:latin typeface="Ubuntu"/>
              </a:rPr>
              <a:t>P3</a:t>
            </a:r>
          </a:p>
        </p:txBody>
      </p:sp>
      <p:sp>
        <p:nvSpPr>
          <p:cNvPr id="19" name="Rectangle 18"/>
          <p:cNvSpPr/>
          <p:nvPr/>
        </p:nvSpPr>
        <p:spPr>
          <a:xfrm>
            <a:off x="2468880" y="3273552"/>
            <a:ext cx="292608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 &gt;= 18 and hasID=false</a:t>
            </a:r>
          </a:p>
        </p:txBody>
      </p:sp>
      <p:sp>
        <p:nvSpPr>
          <p:cNvPr id="20" name="Rectangle 19"/>
          <p:cNvSpPr/>
          <p:nvPr/>
        </p:nvSpPr>
        <p:spPr>
          <a:xfrm>
            <a:off x="5715000" y="3273552"/>
            <a:ext cx="182880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age=20, hasID=false</a:t>
            </a:r>
          </a:p>
        </p:txBody>
      </p:sp>
      <p:sp>
        <p:nvSpPr>
          <p:cNvPr id="21" name="Rectangle 20"/>
          <p:cNvSpPr/>
          <p:nvPr/>
        </p:nvSpPr>
        <p:spPr>
          <a:xfrm>
            <a:off x="7818120" y="3273552"/>
            <a:ext cx="2423160" cy="502920"/>
          </a:xfrm>
          <a:prstGeom prst="rect">
            <a:avLst/>
          </a:prstGeom>
          <a:solidFill>
            <a:srgbClr val="FFFFFF"/>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50" b="0">
                <a:solidFill>
                  <a:srgbClr val="232323"/>
                </a:solidFill>
                <a:latin typeface="Ubuntu"/>
              </a:rPr>
              <a:t>false</a:t>
            </a:r>
          </a:p>
        </p:txBody>
      </p:sp>
      <p:sp>
        <p:nvSpPr>
          <p:cNvPr id="22" name="TextBox 21"/>
          <p:cNvSpPr txBox="1"/>
          <p:nvPr/>
        </p:nvSpPr>
        <p:spPr>
          <a:xfrm>
            <a:off x="960120" y="4251960"/>
            <a:ext cx="9875520" cy="1280160"/>
          </a:xfrm>
          <a:prstGeom prst="rect">
            <a:avLst/>
          </a:prstGeom>
          <a:noFill/>
        </p:spPr>
        <p:txBody>
          <a:bodyPr wrap="square">
            <a:spAutoFit/>
          </a:bodyPr>
          <a:lstStyle/>
          <a:p>
            <a:pPr>
              <a:spcAft>
                <a:spcPts val="600"/>
              </a:spcAft>
              <a:defRPr sz="1550">
                <a:solidFill>
                  <a:srgbClr val="232323"/>
                </a:solidFill>
                <a:latin typeface="Ubuntu"/>
              </a:defRPr>
            </a:pPr>
            <a:r>
              <a:t>Do not stop at the number. The testing value comes from converting paths into real inputs.</a:t>
            </a:r>
          </a:p>
          <a:p>
            <a:pPr>
              <a:spcAft>
                <a:spcPts val="600"/>
              </a:spcAft>
              <a:defRPr sz="1550">
                <a:solidFill>
                  <a:srgbClr val="232323"/>
                </a:solidFill>
                <a:latin typeface="Ubuntu"/>
              </a:defRPr>
            </a:pPr>
            <a:r>
              <a:t>V(G) gives a minimum for basis-path testing; boundary testing and error handling may need extra test cases.</a:t>
            </a:r>
          </a:p>
          <a:p>
            <a:pPr>
              <a:spcAft>
                <a:spcPts val="600"/>
              </a:spcAft>
              <a:defRPr sz="1550">
                <a:solidFill>
                  <a:srgbClr val="232323"/>
                </a:solidFill>
                <a:latin typeface="Ubuntu"/>
              </a:defRPr>
            </a:pPr>
            <a:r>
              <a:t>For loops, test zero iteration, one iteration, and multiple iterations when meaningful.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3985899" cy="553998"/>
          </a:xfrm>
          <a:prstGeom prst="rect">
            <a:avLst/>
          </a:prstGeom>
          <a:noFill/>
        </p:spPr>
        <p:txBody>
          <a:bodyPr wrap="none">
            <a:spAutoFit/>
          </a:bodyPr>
          <a:lstStyle/>
          <a:p>
            <a:pPr algn="l"/>
            <a:r>
              <a:rPr sz="3000" b="0" dirty="0">
                <a:solidFill>
                  <a:srgbClr val="232323"/>
                </a:solidFill>
                <a:latin typeface="Aptos Display"/>
              </a:rPr>
              <a:t>Example: Calculate V(G)</a:t>
            </a:r>
          </a:p>
        </p:txBody>
      </p:sp>
      <p:sp>
        <p:nvSpPr>
          <p:cNvPr id="5" name="Rounded Rectangle 4"/>
          <p:cNvSpPr/>
          <p:nvPr/>
        </p:nvSpPr>
        <p:spPr>
          <a:xfrm>
            <a:off x="566928" y="941832"/>
            <a:ext cx="4617720" cy="251460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080">
                <a:solidFill>
                  <a:srgbClr val="1E1E1E"/>
                </a:solidFill>
                <a:latin typeface="Consolas"/>
              </a:rPr>
              <a:t>int classify(int mark) {</a:t>
            </a:r>
          </a:p>
          <a:p>
            <a:pPr>
              <a:spcAft>
                <a:spcPts val="0"/>
              </a:spcAft>
            </a:pPr>
            <a:r>
              <a:rPr sz="1080">
                <a:solidFill>
                  <a:srgbClr val="1E1E1E"/>
                </a:solidFill>
                <a:latin typeface="Consolas"/>
              </a:rPr>
              <a:t>    if (mark &lt; 0 || mark &gt; 100)</a:t>
            </a:r>
          </a:p>
          <a:p>
            <a:pPr>
              <a:spcAft>
                <a:spcPts val="0"/>
              </a:spcAft>
            </a:pPr>
            <a:r>
              <a:rPr sz="1080">
                <a:solidFill>
                  <a:srgbClr val="1E1E1E"/>
                </a:solidFill>
                <a:latin typeface="Consolas"/>
              </a:rPr>
              <a:t>        return -1;</a:t>
            </a:r>
          </a:p>
          <a:p>
            <a:pPr>
              <a:spcAft>
                <a:spcPts val="0"/>
              </a:spcAft>
            </a:pPr>
            <a:r>
              <a:rPr sz="1080">
                <a:solidFill>
                  <a:srgbClr val="1E1E1E"/>
                </a:solidFill>
                <a:latin typeface="Consolas"/>
              </a:rPr>
              <a:t>    if (mark &gt;= 80)</a:t>
            </a:r>
          </a:p>
          <a:p>
            <a:pPr>
              <a:spcAft>
                <a:spcPts val="0"/>
              </a:spcAft>
            </a:pPr>
            <a:r>
              <a:rPr sz="1080">
                <a:solidFill>
                  <a:srgbClr val="1E1E1E"/>
                </a:solidFill>
                <a:latin typeface="Consolas"/>
              </a:rPr>
              <a:t>        return 4;</a:t>
            </a:r>
          </a:p>
          <a:p>
            <a:pPr>
              <a:spcAft>
                <a:spcPts val="0"/>
              </a:spcAft>
            </a:pPr>
            <a:r>
              <a:rPr sz="1080">
                <a:solidFill>
                  <a:srgbClr val="1E1E1E"/>
                </a:solidFill>
                <a:latin typeface="Consolas"/>
              </a:rPr>
              <a:t>    else if (mark &gt;= 50)</a:t>
            </a:r>
          </a:p>
          <a:p>
            <a:pPr>
              <a:spcAft>
                <a:spcPts val="0"/>
              </a:spcAft>
            </a:pPr>
            <a:r>
              <a:rPr sz="1080">
                <a:solidFill>
                  <a:srgbClr val="1E1E1E"/>
                </a:solidFill>
                <a:latin typeface="Consolas"/>
              </a:rPr>
              <a:t>        return 2;</a:t>
            </a:r>
          </a:p>
          <a:p>
            <a:pPr>
              <a:spcAft>
                <a:spcPts val="0"/>
              </a:spcAft>
            </a:pPr>
            <a:r>
              <a:rPr sz="1080">
                <a:solidFill>
                  <a:srgbClr val="1E1E1E"/>
                </a:solidFill>
                <a:latin typeface="Consolas"/>
              </a:rPr>
              <a:t>    return 0;</a:t>
            </a:r>
          </a:p>
          <a:p>
            <a:pPr>
              <a:spcAft>
                <a:spcPts val="0"/>
              </a:spcAft>
            </a:pPr>
            <a:r>
              <a:rPr sz="1080">
                <a:solidFill>
                  <a:srgbClr val="1E1E1E"/>
                </a:solidFill>
                <a:latin typeface="Consolas"/>
              </a:rPr>
              <a:t>}</a:t>
            </a:r>
          </a:p>
        </p:txBody>
      </p:sp>
      <p:sp>
        <p:nvSpPr>
          <p:cNvPr id="7" name="TextBox 6"/>
          <p:cNvSpPr txBox="1"/>
          <p:nvPr/>
        </p:nvSpPr>
        <p:spPr>
          <a:xfrm>
            <a:off x="5577840" y="1325880"/>
            <a:ext cx="5029200" cy="2103120"/>
          </a:xfrm>
          <a:prstGeom prst="rect">
            <a:avLst/>
          </a:prstGeom>
          <a:noFill/>
        </p:spPr>
        <p:txBody>
          <a:bodyPr wrap="square">
            <a:spAutoFit/>
          </a:bodyPr>
          <a:lstStyle/>
          <a:p>
            <a:pPr>
              <a:spcAft>
                <a:spcPts val="600"/>
              </a:spcAft>
              <a:defRPr sz="1430">
                <a:solidFill>
                  <a:srgbClr val="232323"/>
                </a:solidFill>
                <a:latin typeface="Ubuntu"/>
              </a:defRPr>
            </a:pPr>
            <a:r>
              <a:t>First condition has OR: mark &lt; 0 OR mark &gt; 100.</a:t>
            </a:r>
          </a:p>
          <a:p>
            <a:pPr>
              <a:spcAft>
                <a:spcPts val="600"/>
              </a:spcAft>
              <a:defRPr sz="1430">
                <a:solidFill>
                  <a:srgbClr val="232323"/>
                </a:solidFill>
                <a:latin typeface="Ubuntu"/>
              </a:defRPr>
            </a:pPr>
            <a:r>
              <a:t>For basic class calculation, count decision statements: if, if, else-if → D=3, so V(G)=4.</a:t>
            </a:r>
          </a:p>
          <a:p>
            <a:pPr>
              <a:spcAft>
                <a:spcPts val="600"/>
              </a:spcAft>
              <a:defRPr sz="1430">
                <a:solidFill>
                  <a:srgbClr val="232323"/>
                </a:solidFill>
                <a:latin typeface="Ubuntu"/>
              </a:defRPr>
            </a:pPr>
            <a:r>
              <a:t>For short-circuit expanded CFG, the OR condition can be split into two condition checks, so path needs may be higher.</a:t>
            </a:r>
          </a:p>
          <a:p>
            <a:pPr>
              <a:spcAft>
                <a:spcPts val="600"/>
              </a:spcAft>
              <a:defRPr sz="1430">
                <a:solidFill>
                  <a:srgbClr val="232323"/>
                </a:solidFill>
                <a:latin typeface="Ubuntu"/>
              </a:defRPr>
            </a:pPr>
            <a:r>
              <a:t>Use this example to discuss why different tools may report different values.</a:t>
            </a:r>
          </a:p>
        </p:txBody>
      </p:sp>
      <p:sp>
        <p:nvSpPr>
          <p:cNvPr id="8" name="Rounded Rectangle 7"/>
          <p:cNvSpPr/>
          <p:nvPr/>
        </p:nvSpPr>
        <p:spPr>
          <a:xfrm>
            <a:off x="731520" y="4023360"/>
            <a:ext cx="4572000" cy="502920"/>
          </a:xfrm>
          <a:prstGeom prst="roundRect">
            <a:avLst/>
          </a:prstGeom>
          <a:solidFill>
            <a:srgbClr val="E8E2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232323"/>
                </a:solidFill>
                <a:latin typeface="Ubuntu"/>
              </a:rPr>
              <a:t>Basic calculation: V(G)=D+1 = 3+1 = 4</a:t>
            </a:r>
          </a:p>
        </p:txBody>
      </p:sp>
      <p:sp>
        <p:nvSpPr>
          <p:cNvPr id="9" name="Rounded Rectangle 8"/>
          <p:cNvSpPr/>
          <p:nvPr/>
        </p:nvSpPr>
        <p:spPr>
          <a:xfrm>
            <a:off x="5577840" y="4023360"/>
            <a:ext cx="5029200" cy="502920"/>
          </a:xfrm>
          <a:prstGeom prst="roundRect">
            <a:avLst/>
          </a:prstGeom>
          <a:solidFill>
            <a:srgbClr val="FFF8ED"/>
          </a:solidFill>
          <a:ln w="12700">
            <a:solidFill>
              <a:srgbClr val="F79A4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50" b="1">
                <a:solidFill>
                  <a:srgbClr val="232323"/>
                </a:solidFill>
                <a:latin typeface="Ubuntu"/>
              </a:rPr>
              <a:t>Independent path ideas: invalid mark, A grade, pass, fail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8017131" cy="553998"/>
          </a:xfrm>
          <a:prstGeom prst="rect">
            <a:avLst/>
          </a:prstGeom>
          <a:noFill/>
        </p:spPr>
        <p:txBody>
          <a:bodyPr wrap="none">
            <a:spAutoFit/>
          </a:bodyPr>
          <a:lstStyle/>
          <a:p>
            <a:pPr algn="l"/>
            <a:r>
              <a:rPr lang="en-US" sz="3000" dirty="0">
                <a:solidFill>
                  <a:srgbClr val="232323"/>
                </a:solidFill>
                <a:latin typeface="Aptos Display"/>
              </a:rPr>
              <a:t>Finding</a:t>
            </a:r>
            <a:r>
              <a:rPr sz="3000" b="0" dirty="0">
                <a:solidFill>
                  <a:srgbClr val="232323"/>
                </a:solidFill>
                <a:latin typeface="Aptos Display"/>
              </a:rPr>
              <a:t> Cyclomatic Complexity</a:t>
            </a:r>
            <a:r>
              <a:rPr lang="en-US" sz="3000" b="0" dirty="0">
                <a:solidFill>
                  <a:srgbClr val="232323"/>
                </a:solidFill>
                <a:latin typeface="Aptos Display"/>
              </a:rPr>
              <a:t> to test case design</a:t>
            </a:r>
            <a:r>
              <a:rPr sz="3000" b="0" dirty="0">
                <a:solidFill>
                  <a:srgbClr val="232323"/>
                </a:solidFill>
                <a:latin typeface="Aptos Display"/>
              </a:rPr>
              <a:t> </a:t>
            </a:r>
          </a:p>
        </p:txBody>
      </p:sp>
      <p:sp>
        <p:nvSpPr>
          <p:cNvPr id="5" name="TextBox 4"/>
          <p:cNvSpPr txBox="1"/>
          <p:nvPr/>
        </p:nvSpPr>
        <p:spPr>
          <a:xfrm>
            <a:off x="868680" y="960120"/>
            <a:ext cx="5852160" cy="3108960"/>
          </a:xfrm>
          <a:prstGeom prst="rect">
            <a:avLst/>
          </a:prstGeom>
          <a:noFill/>
        </p:spPr>
        <p:txBody>
          <a:bodyPr wrap="square">
            <a:spAutoFit/>
          </a:bodyPr>
          <a:lstStyle/>
          <a:p>
            <a:pPr>
              <a:spcAft>
                <a:spcPts val="600"/>
              </a:spcAft>
              <a:defRPr sz="1630">
                <a:solidFill>
                  <a:srgbClr val="232323"/>
                </a:solidFill>
                <a:latin typeface="Ubuntu"/>
              </a:defRPr>
            </a:pPr>
            <a:r>
              <a:t>Start with one simple function, not formula first.</a:t>
            </a:r>
          </a:p>
          <a:p>
            <a:pPr>
              <a:spcAft>
                <a:spcPts val="600"/>
              </a:spcAft>
              <a:defRPr sz="1630">
                <a:solidFill>
                  <a:srgbClr val="232323"/>
                </a:solidFill>
                <a:latin typeface="Ubuntu"/>
              </a:defRPr>
            </a:pPr>
            <a:r>
              <a:t>Ask students: How many different ways can control move through this code?</a:t>
            </a:r>
          </a:p>
          <a:p>
            <a:pPr>
              <a:spcAft>
                <a:spcPts val="600"/>
              </a:spcAft>
              <a:defRPr sz="1630">
                <a:solidFill>
                  <a:srgbClr val="232323"/>
                </a:solidFill>
                <a:latin typeface="Ubuntu"/>
              </a:defRPr>
            </a:pPr>
            <a:r>
              <a:t>Draw CFG step by step: Start → statements → decisions → return/end.</a:t>
            </a:r>
          </a:p>
          <a:p>
            <a:pPr>
              <a:spcAft>
                <a:spcPts val="600"/>
              </a:spcAft>
              <a:defRPr sz="1630">
                <a:solidFill>
                  <a:srgbClr val="232323"/>
                </a:solidFill>
                <a:latin typeface="Ubuntu"/>
              </a:defRPr>
            </a:pPr>
            <a:r>
              <a:t>Label nodes and edges clearly before applying formula.</a:t>
            </a:r>
          </a:p>
          <a:p>
            <a:pPr>
              <a:spcAft>
                <a:spcPts val="600"/>
              </a:spcAft>
              <a:defRPr sz="1630">
                <a:solidFill>
                  <a:srgbClr val="232323"/>
                </a:solidFill>
                <a:latin typeface="Ubuntu"/>
              </a:defRPr>
            </a:pPr>
            <a:r>
              <a:t>Calculate using both methods when possible: E−N+2 and D+1.</a:t>
            </a:r>
          </a:p>
          <a:p>
            <a:pPr>
              <a:spcAft>
                <a:spcPts val="600"/>
              </a:spcAft>
              <a:defRPr sz="1630">
                <a:solidFill>
                  <a:srgbClr val="232323"/>
                </a:solidFill>
                <a:latin typeface="Ubuntu"/>
              </a:defRPr>
            </a:pPr>
            <a:r>
              <a:t>Finally, convert independent paths into test cases.</a:t>
            </a:r>
          </a:p>
        </p:txBody>
      </p:sp>
      <p:sp>
        <p:nvSpPr>
          <p:cNvPr id="6" name="Rounded Rectangle 5"/>
          <p:cNvSpPr/>
          <p:nvPr/>
        </p:nvSpPr>
        <p:spPr>
          <a:xfrm>
            <a:off x="6995160" y="1078992"/>
            <a:ext cx="3520440" cy="457200"/>
          </a:xfrm>
          <a:prstGeom prst="roundRect">
            <a:avLst/>
          </a:prstGeom>
          <a:solidFill>
            <a:srgbClr val="E8E2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323"/>
                </a:solidFill>
                <a:latin typeface="Ubuntu"/>
              </a:rPr>
              <a:t>Recommended board sequence</a:t>
            </a:r>
          </a:p>
        </p:txBody>
      </p:sp>
      <p:sp>
        <p:nvSpPr>
          <p:cNvPr id="7" name="Rounded Rectangle 6"/>
          <p:cNvSpPr/>
          <p:nvPr/>
        </p:nvSpPr>
        <p:spPr>
          <a:xfrm>
            <a:off x="6995160" y="1783080"/>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1</a:t>
            </a:r>
          </a:p>
        </p:txBody>
      </p:sp>
      <p:sp>
        <p:nvSpPr>
          <p:cNvPr id="8" name="TextBox 7"/>
          <p:cNvSpPr txBox="1"/>
          <p:nvPr/>
        </p:nvSpPr>
        <p:spPr>
          <a:xfrm>
            <a:off x="7571231" y="1764792"/>
            <a:ext cx="2834640" cy="320040"/>
          </a:xfrm>
          <a:prstGeom prst="rect">
            <a:avLst/>
          </a:prstGeom>
          <a:noFill/>
        </p:spPr>
        <p:txBody>
          <a:bodyPr wrap="square">
            <a:spAutoFit/>
          </a:bodyPr>
          <a:lstStyle/>
          <a:p>
            <a:r>
              <a:rPr sz="1450" b="0">
                <a:solidFill>
                  <a:srgbClr val="232323"/>
                </a:solidFill>
                <a:latin typeface="Ubuntu"/>
              </a:rPr>
              <a:t>Code</a:t>
            </a:r>
          </a:p>
        </p:txBody>
      </p:sp>
      <p:sp>
        <p:nvSpPr>
          <p:cNvPr id="9" name="Rounded Rectangle 8"/>
          <p:cNvSpPr/>
          <p:nvPr/>
        </p:nvSpPr>
        <p:spPr>
          <a:xfrm>
            <a:off x="6995160" y="2304288"/>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2</a:t>
            </a:r>
          </a:p>
        </p:txBody>
      </p:sp>
      <p:sp>
        <p:nvSpPr>
          <p:cNvPr id="10" name="TextBox 9"/>
          <p:cNvSpPr txBox="1"/>
          <p:nvPr/>
        </p:nvSpPr>
        <p:spPr>
          <a:xfrm>
            <a:off x="7571231" y="2286000"/>
            <a:ext cx="2834640" cy="320040"/>
          </a:xfrm>
          <a:prstGeom prst="rect">
            <a:avLst/>
          </a:prstGeom>
          <a:noFill/>
        </p:spPr>
        <p:txBody>
          <a:bodyPr wrap="square">
            <a:spAutoFit/>
          </a:bodyPr>
          <a:lstStyle/>
          <a:p>
            <a:r>
              <a:rPr sz="1450" b="0">
                <a:solidFill>
                  <a:srgbClr val="232323"/>
                </a:solidFill>
                <a:latin typeface="Ubuntu"/>
              </a:rPr>
              <a:t>CFG</a:t>
            </a:r>
          </a:p>
        </p:txBody>
      </p:sp>
      <p:sp>
        <p:nvSpPr>
          <p:cNvPr id="11" name="Rounded Rectangle 10"/>
          <p:cNvSpPr/>
          <p:nvPr/>
        </p:nvSpPr>
        <p:spPr>
          <a:xfrm>
            <a:off x="6995160" y="2825496"/>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3</a:t>
            </a:r>
          </a:p>
        </p:txBody>
      </p:sp>
      <p:sp>
        <p:nvSpPr>
          <p:cNvPr id="12" name="TextBox 11"/>
          <p:cNvSpPr txBox="1"/>
          <p:nvPr/>
        </p:nvSpPr>
        <p:spPr>
          <a:xfrm>
            <a:off x="7571231" y="2807208"/>
            <a:ext cx="2834640" cy="320040"/>
          </a:xfrm>
          <a:prstGeom prst="rect">
            <a:avLst/>
          </a:prstGeom>
          <a:noFill/>
        </p:spPr>
        <p:txBody>
          <a:bodyPr wrap="square">
            <a:spAutoFit/>
          </a:bodyPr>
          <a:lstStyle/>
          <a:p>
            <a:r>
              <a:rPr sz="1450" b="0">
                <a:solidFill>
                  <a:srgbClr val="232323"/>
                </a:solidFill>
                <a:latin typeface="Ubuntu"/>
              </a:rPr>
              <a:t>N, E, D</a:t>
            </a:r>
          </a:p>
        </p:txBody>
      </p:sp>
      <p:sp>
        <p:nvSpPr>
          <p:cNvPr id="13" name="Rounded Rectangle 12"/>
          <p:cNvSpPr/>
          <p:nvPr/>
        </p:nvSpPr>
        <p:spPr>
          <a:xfrm>
            <a:off x="6995160" y="3346703"/>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4</a:t>
            </a:r>
          </a:p>
        </p:txBody>
      </p:sp>
      <p:sp>
        <p:nvSpPr>
          <p:cNvPr id="14" name="TextBox 13"/>
          <p:cNvSpPr txBox="1"/>
          <p:nvPr/>
        </p:nvSpPr>
        <p:spPr>
          <a:xfrm>
            <a:off x="7571231" y="3328415"/>
            <a:ext cx="2834640" cy="320040"/>
          </a:xfrm>
          <a:prstGeom prst="rect">
            <a:avLst/>
          </a:prstGeom>
          <a:noFill/>
        </p:spPr>
        <p:txBody>
          <a:bodyPr wrap="square">
            <a:spAutoFit/>
          </a:bodyPr>
          <a:lstStyle/>
          <a:p>
            <a:r>
              <a:rPr sz="1450" b="0">
                <a:solidFill>
                  <a:srgbClr val="232323"/>
                </a:solidFill>
                <a:latin typeface="Ubuntu"/>
              </a:rPr>
              <a:t>V(G)</a:t>
            </a:r>
          </a:p>
        </p:txBody>
      </p:sp>
      <p:sp>
        <p:nvSpPr>
          <p:cNvPr id="15" name="Rounded Rectangle 14"/>
          <p:cNvSpPr/>
          <p:nvPr/>
        </p:nvSpPr>
        <p:spPr>
          <a:xfrm>
            <a:off x="6995160" y="3867911"/>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5</a:t>
            </a:r>
          </a:p>
        </p:txBody>
      </p:sp>
      <p:sp>
        <p:nvSpPr>
          <p:cNvPr id="16" name="TextBox 15"/>
          <p:cNvSpPr txBox="1"/>
          <p:nvPr/>
        </p:nvSpPr>
        <p:spPr>
          <a:xfrm>
            <a:off x="7571231" y="3849624"/>
            <a:ext cx="2834640" cy="320040"/>
          </a:xfrm>
          <a:prstGeom prst="rect">
            <a:avLst/>
          </a:prstGeom>
          <a:noFill/>
        </p:spPr>
        <p:txBody>
          <a:bodyPr wrap="square">
            <a:spAutoFit/>
          </a:bodyPr>
          <a:lstStyle/>
          <a:p>
            <a:r>
              <a:rPr sz="1450" b="0">
                <a:solidFill>
                  <a:srgbClr val="232323"/>
                </a:solidFill>
                <a:latin typeface="Ubuntu"/>
              </a:rPr>
              <a:t>Independent paths</a:t>
            </a:r>
          </a:p>
        </p:txBody>
      </p:sp>
      <p:sp>
        <p:nvSpPr>
          <p:cNvPr id="17" name="Rounded Rectangle 16"/>
          <p:cNvSpPr/>
          <p:nvPr/>
        </p:nvSpPr>
        <p:spPr>
          <a:xfrm>
            <a:off x="6995160" y="4389120"/>
            <a:ext cx="457200" cy="347472"/>
          </a:xfrm>
          <a:prstGeom prst="roundRect">
            <a:avLst/>
          </a:prstGeom>
          <a:solidFill>
            <a:srgbClr val="6850C1"/>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a:solidFill>
                  <a:srgbClr val="FFFFFF"/>
                </a:solidFill>
                <a:latin typeface="Ubuntu"/>
              </a:rPr>
              <a:t>6</a:t>
            </a:r>
          </a:p>
        </p:txBody>
      </p:sp>
      <p:sp>
        <p:nvSpPr>
          <p:cNvPr id="18" name="TextBox 17"/>
          <p:cNvSpPr txBox="1"/>
          <p:nvPr/>
        </p:nvSpPr>
        <p:spPr>
          <a:xfrm>
            <a:off x="7571231" y="4370832"/>
            <a:ext cx="2834640" cy="320040"/>
          </a:xfrm>
          <a:prstGeom prst="rect">
            <a:avLst/>
          </a:prstGeom>
          <a:noFill/>
        </p:spPr>
        <p:txBody>
          <a:bodyPr wrap="square">
            <a:spAutoFit/>
          </a:bodyPr>
          <a:lstStyle/>
          <a:p>
            <a:r>
              <a:rPr sz="1450" b="0">
                <a:solidFill>
                  <a:srgbClr val="232323"/>
                </a:solidFill>
                <a:latin typeface="Ubuntu"/>
              </a:rPr>
              <a:t>Test cases</a:t>
            </a:r>
          </a:p>
        </p:txBody>
      </p:sp>
      <p:sp>
        <p:nvSpPr>
          <p:cNvPr id="19" name="Rounded Rectangle 18"/>
          <p:cNvSpPr/>
          <p:nvPr/>
        </p:nvSpPr>
        <p:spPr>
          <a:xfrm>
            <a:off x="1005840" y="5074920"/>
            <a:ext cx="9966960" cy="685800"/>
          </a:xfrm>
          <a:prstGeom prst="roundRect">
            <a:avLst/>
          </a:prstGeom>
          <a:solidFill>
            <a:srgbClr val="FFF8ED"/>
          </a:solidFill>
          <a:ln w="12700">
            <a:solidFill>
              <a:srgbClr val="F79A4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50" b="1">
                <a:solidFill>
                  <a:srgbClr val="232323"/>
                </a:solidFill>
                <a:latin typeface="Ubuntu"/>
              </a:rPr>
              <a:t>Simple sentence for students:</a:t>
            </a:r>
            <a:br/>
            <a:r>
              <a:rPr sz="1650" b="1">
                <a:solidFill>
                  <a:srgbClr val="232323"/>
                </a:solidFill>
                <a:latin typeface="Ubuntu"/>
              </a:rPr>
              <a:t>“Cyclomatic Complexity tells us the minimum number of independent logical paths we should test.”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3128549" cy="553998"/>
          </a:xfrm>
          <a:prstGeom prst="rect">
            <a:avLst/>
          </a:prstGeom>
          <a:noFill/>
        </p:spPr>
        <p:txBody>
          <a:bodyPr wrap="none">
            <a:spAutoFit/>
          </a:bodyPr>
          <a:lstStyle/>
          <a:p>
            <a:pPr algn="l"/>
            <a:r>
              <a:rPr sz="3000" b="0" dirty="0">
                <a:solidFill>
                  <a:srgbClr val="232323"/>
                </a:solidFill>
                <a:latin typeface="Aptos Display"/>
              </a:rPr>
              <a:t>Practice Questions</a:t>
            </a:r>
          </a:p>
        </p:txBody>
      </p:sp>
      <p:sp>
        <p:nvSpPr>
          <p:cNvPr id="5" name="TextBox 4"/>
          <p:cNvSpPr txBox="1"/>
          <p:nvPr/>
        </p:nvSpPr>
        <p:spPr>
          <a:xfrm>
            <a:off x="456698" y="1408779"/>
            <a:ext cx="10058400" cy="346249"/>
          </a:xfrm>
          <a:prstGeom prst="rect">
            <a:avLst/>
          </a:prstGeom>
          <a:noFill/>
        </p:spPr>
        <p:txBody>
          <a:bodyPr wrap="square">
            <a:spAutoFit/>
          </a:bodyPr>
          <a:lstStyle/>
          <a:p>
            <a:r>
              <a:rPr lang="en-US" sz="1650" dirty="0">
                <a:solidFill>
                  <a:srgbClr val="646464"/>
                </a:solidFill>
                <a:latin typeface="Ubuntu"/>
              </a:rPr>
              <a:t>Calculate </a:t>
            </a:r>
            <a:r>
              <a:rPr sz="1650" b="0" dirty="0">
                <a:solidFill>
                  <a:srgbClr val="646464"/>
                </a:solidFill>
                <a:latin typeface="Ubuntu"/>
              </a:rPr>
              <a:t> V(G), list independent paths, and suggest test inputs.</a:t>
            </a:r>
          </a:p>
        </p:txBody>
      </p:sp>
      <p:sp>
        <p:nvSpPr>
          <p:cNvPr id="6" name="Rounded Rectangle 5"/>
          <p:cNvSpPr/>
          <p:nvPr/>
        </p:nvSpPr>
        <p:spPr>
          <a:xfrm>
            <a:off x="676657" y="2021226"/>
            <a:ext cx="3429000" cy="132588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600">
                <a:solidFill>
                  <a:srgbClr val="1E1E1E"/>
                </a:solidFill>
                <a:latin typeface="Consolas"/>
              </a:rPr>
              <a:t>int f1(int x) {</a:t>
            </a:r>
          </a:p>
          <a:p>
            <a:pPr>
              <a:spcAft>
                <a:spcPts val="0"/>
              </a:spcAft>
            </a:pPr>
            <a:r>
              <a:rPr sz="1600">
                <a:solidFill>
                  <a:srgbClr val="1E1E1E"/>
                </a:solidFill>
                <a:latin typeface="Consolas"/>
              </a:rPr>
              <a:t>    if (x &gt; 10) x++;</a:t>
            </a:r>
          </a:p>
          <a:p>
            <a:pPr>
              <a:spcAft>
                <a:spcPts val="0"/>
              </a:spcAft>
            </a:pPr>
            <a:r>
              <a:rPr sz="1600">
                <a:solidFill>
                  <a:srgbClr val="1E1E1E"/>
                </a:solidFill>
                <a:latin typeface="Consolas"/>
              </a:rPr>
              <a:t>    return x;</a:t>
            </a:r>
          </a:p>
          <a:p>
            <a:pPr>
              <a:spcAft>
                <a:spcPts val="0"/>
              </a:spcAft>
            </a:pPr>
            <a:r>
              <a:rPr sz="1600">
                <a:solidFill>
                  <a:srgbClr val="1E1E1E"/>
                </a:solidFill>
                <a:latin typeface="Consolas"/>
              </a:rPr>
              <a:t>}</a:t>
            </a:r>
          </a:p>
        </p:txBody>
      </p:sp>
      <p:sp>
        <p:nvSpPr>
          <p:cNvPr id="7" name="Rounded Rectangle 6"/>
          <p:cNvSpPr/>
          <p:nvPr/>
        </p:nvSpPr>
        <p:spPr>
          <a:xfrm>
            <a:off x="4334257" y="2021226"/>
            <a:ext cx="3474720" cy="2240280"/>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400">
                <a:solidFill>
                  <a:srgbClr val="1E1E1E"/>
                </a:solidFill>
                <a:latin typeface="Consolas"/>
              </a:rPr>
              <a:t>int f2(int n) {</a:t>
            </a:r>
          </a:p>
          <a:p>
            <a:pPr>
              <a:spcAft>
                <a:spcPts val="0"/>
              </a:spcAft>
            </a:pPr>
            <a:r>
              <a:rPr sz="1400">
                <a:solidFill>
                  <a:srgbClr val="1E1E1E"/>
                </a:solidFill>
                <a:latin typeface="Consolas"/>
              </a:rPr>
              <a:t>    int s = 0;</a:t>
            </a:r>
          </a:p>
          <a:p>
            <a:pPr>
              <a:spcAft>
                <a:spcPts val="0"/>
              </a:spcAft>
            </a:pPr>
            <a:r>
              <a:rPr sz="1400">
                <a:solidFill>
                  <a:srgbClr val="1E1E1E"/>
                </a:solidFill>
                <a:latin typeface="Consolas"/>
              </a:rPr>
              <a:t>    while (n &gt; 0) {</a:t>
            </a:r>
          </a:p>
          <a:p>
            <a:pPr>
              <a:spcAft>
                <a:spcPts val="0"/>
              </a:spcAft>
            </a:pPr>
            <a:r>
              <a:rPr sz="1400">
                <a:solidFill>
                  <a:srgbClr val="1E1E1E"/>
                </a:solidFill>
                <a:latin typeface="Consolas"/>
              </a:rPr>
              <a:t>        if (n % 2 == 0) s += n;</a:t>
            </a:r>
          </a:p>
          <a:p>
            <a:pPr>
              <a:spcAft>
                <a:spcPts val="0"/>
              </a:spcAft>
            </a:pPr>
            <a:r>
              <a:rPr sz="1400">
                <a:solidFill>
                  <a:srgbClr val="1E1E1E"/>
                </a:solidFill>
                <a:latin typeface="Consolas"/>
              </a:rPr>
              <a:t>        n--;</a:t>
            </a:r>
          </a:p>
          <a:p>
            <a:pPr>
              <a:spcAft>
                <a:spcPts val="0"/>
              </a:spcAft>
            </a:pPr>
            <a:r>
              <a:rPr sz="1400">
                <a:solidFill>
                  <a:srgbClr val="1E1E1E"/>
                </a:solidFill>
                <a:latin typeface="Consolas"/>
              </a:rPr>
              <a:t>    }</a:t>
            </a:r>
          </a:p>
          <a:p>
            <a:pPr>
              <a:spcAft>
                <a:spcPts val="0"/>
              </a:spcAft>
            </a:pPr>
            <a:r>
              <a:rPr sz="1400">
                <a:solidFill>
                  <a:srgbClr val="1E1E1E"/>
                </a:solidFill>
                <a:latin typeface="Consolas"/>
              </a:rPr>
              <a:t>    return s;</a:t>
            </a:r>
          </a:p>
          <a:p>
            <a:pPr>
              <a:spcAft>
                <a:spcPts val="0"/>
              </a:spcAft>
            </a:pPr>
            <a:r>
              <a:rPr sz="1400">
                <a:solidFill>
                  <a:srgbClr val="1E1E1E"/>
                </a:solidFill>
                <a:latin typeface="Consolas"/>
              </a:rPr>
              <a:t>}</a:t>
            </a:r>
          </a:p>
        </p:txBody>
      </p:sp>
      <p:sp>
        <p:nvSpPr>
          <p:cNvPr id="8" name="Rounded Rectangle 7"/>
          <p:cNvSpPr/>
          <p:nvPr/>
        </p:nvSpPr>
        <p:spPr>
          <a:xfrm>
            <a:off x="8019287" y="2021226"/>
            <a:ext cx="3566461" cy="1553056"/>
          </a:xfrm>
          <a:prstGeom prst="roundRect">
            <a:avLst/>
          </a:prstGeom>
          <a:solidFill>
            <a:srgbClr val="FAFAFA"/>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wrap="none" lIns="109728" tIns="73152" rIns="73152" bIns="73152" rtlCol="0" anchor="ctr"/>
          <a:lstStyle/>
          <a:p>
            <a:pPr algn="ctr">
              <a:spcAft>
                <a:spcPts val="0"/>
              </a:spcAft>
            </a:pPr>
            <a:r>
              <a:rPr sz="1400">
                <a:solidFill>
                  <a:srgbClr val="1E1E1E"/>
                </a:solidFill>
                <a:latin typeface="Consolas"/>
              </a:rPr>
              <a:t>int f3(int a, int b) {</a:t>
            </a:r>
          </a:p>
          <a:p>
            <a:pPr>
              <a:spcAft>
                <a:spcPts val="0"/>
              </a:spcAft>
            </a:pPr>
            <a:r>
              <a:rPr sz="1400">
                <a:solidFill>
                  <a:srgbClr val="1E1E1E"/>
                </a:solidFill>
                <a:latin typeface="Consolas"/>
              </a:rPr>
              <a:t>    if (a &gt; 0 &amp;&amp; b &gt; 0) return 1;</a:t>
            </a:r>
          </a:p>
          <a:p>
            <a:pPr>
              <a:spcAft>
                <a:spcPts val="0"/>
              </a:spcAft>
            </a:pPr>
            <a:r>
              <a:rPr sz="1400">
                <a:solidFill>
                  <a:srgbClr val="1E1E1E"/>
                </a:solidFill>
                <a:latin typeface="Consolas"/>
              </a:rPr>
              <a:t>    else return 0;</a:t>
            </a:r>
          </a:p>
          <a:p>
            <a:pPr>
              <a:spcAft>
                <a:spcPts val="0"/>
              </a:spcAft>
            </a:pPr>
            <a:r>
              <a:rPr sz="1400">
                <a:solidFill>
                  <a:srgbClr val="1E1E1E"/>
                </a:solidFill>
                <a:latin typeface="Consolas"/>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41248" y="292608"/>
            <a:ext cx="10424160" cy="548640"/>
          </a:xfrm>
          <a:prstGeom prst="rect">
            <a:avLst/>
          </a:prstGeom>
          <a:noFill/>
        </p:spPr>
        <p:txBody>
          <a:bodyPr wrap="none">
            <a:spAutoFit/>
          </a:bodyPr>
          <a:lstStyle/>
          <a:p>
            <a:pPr algn="l"/>
            <a:r>
              <a:rPr sz="3000" b="0">
                <a:solidFill>
                  <a:srgbClr val="232323"/>
                </a:solidFill>
                <a:latin typeface="Aptos Display"/>
              </a:rPr>
              <a:t>Common Mistakes and Corrections</a:t>
            </a:r>
          </a:p>
        </p:txBody>
      </p:sp>
      <p:sp>
        <p:nvSpPr>
          <p:cNvPr id="5" name="Rounded Rectangle 4"/>
          <p:cNvSpPr/>
          <p:nvPr/>
        </p:nvSpPr>
        <p:spPr>
          <a:xfrm>
            <a:off x="868680" y="1051560"/>
            <a:ext cx="5029200" cy="502920"/>
          </a:xfrm>
          <a:prstGeom prst="roundRect">
            <a:avLst/>
          </a:prstGeom>
          <a:solidFill>
            <a:srgbClr val="FFEEEE"/>
          </a:solidFill>
          <a:ln w="12700">
            <a:solidFill>
              <a:srgbClr val="BE3C3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Mistake 1: Counting lines of code instead of decisions.</a:t>
            </a:r>
          </a:p>
        </p:txBody>
      </p:sp>
      <p:sp>
        <p:nvSpPr>
          <p:cNvPr id="6" name="Rounded Rectangle 5"/>
          <p:cNvSpPr/>
          <p:nvPr/>
        </p:nvSpPr>
        <p:spPr>
          <a:xfrm>
            <a:off x="6263640" y="1051560"/>
            <a:ext cx="4800600" cy="502920"/>
          </a:xfrm>
          <a:prstGeom prst="roundRect">
            <a:avLst/>
          </a:prstGeom>
          <a:solidFill>
            <a:srgbClr val="EEFFF6"/>
          </a:solidFill>
          <a:ln w="12700">
            <a:solidFill>
              <a:srgbClr val="28915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Correction: Count branches/decision logic, not statements.</a:t>
            </a:r>
          </a:p>
        </p:txBody>
      </p:sp>
      <p:sp>
        <p:nvSpPr>
          <p:cNvPr id="7" name="Rounded Rectangle 6"/>
          <p:cNvSpPr/>
          <p:nvPr/>
        </p:nvSpPr>
        <p:spPr>
          <a:xfrm>
            <a:off x="868680" y="1837943"/>
            <a:ext cx="5029200" cy="502920"/>
          </a:xfrm>
          <a:prstGeom prst="roundRect">
            <a:avLst/>
          </a:prstGeom>
          <a:solidFill>
            <a:srgbClr val="FFEEEE"/>
          </a:solidFill>
          <a:ln w="12700">
            <a:solidFill>
              <a:srgbClr val="BE3C3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Mistake 2: Thinking V(G)=total possible inputs.</a:t>
            </a:r>
          </a:p>
        </p:txBody>
      </p:sp>
      <p:sp>
        <p:nvSpPr>
          <p:cNvPr id="8" name="Rounded Rectangle 7"/>
          <p:cNvSpPr/>
          <p:nvPr/>
        </p:nvSpPr>
        <p:spPr>
          <a:xfrm>
            <a:off x="6263640" y="1837943"/>
            <a:ext cx="4800600" cy="502920"/>
          </a:xfrm>
          <a:prstGeom prst="roundRect">
            <a:avLst/>
          </a:prstGeom>
          <a:solidFill>
            <a:srgbClr val="EEFFF6"/>
          </a:solidFill>
          <a:ln w="12700">
            <a:solidFill>
              <a:srgbClr val="28915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Correction: V(G) counts independent paths, not all input combinations.</a:t>
            </a:r>
          </a:p>
        </p:txBody>
      </p:sp>
      <p:sp>
        <p:nvSpPr>
          <p:cNvPr id="9" name="Rounded Rectangle 8"/>
          <p:cNvSpPr/>
          <p:nvPr/>
        </p:nvSpPr>
        <p:spPr>
          <a:xfrm>
            <a:off x="868680" y="2624327"/>
            <a:ext cx="5029200" cy="502920"/>
          </a:xfrm>
          <a:prstGeom prst="roundRect">
            <a:avLst/>
          </a:prstGeom>
          <a:solidFill>
            <a:srgbClr val="FFEEEE"/>
          </a:solidFill>
          <a:ln w="12700">
            <a:solidFill>
              <a:srgbClr val="BE3C3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Mistake 3: Ignoring loop false path.</a:t>
            </a:r>
          </a:p>
        </p:txBody>
      </p:sp>
      <p:sp>
        <p:nvSpPr>
          <p:cNvPr id="10" name="Rounded Rectangle 9"/>
          <p:cNvSpPr/>
          <p:nvPr/>
        </p:nvSpPr>
        <p:spPr>
          <a:xfrm>
            <a:off x="6263640" y="2624327"/>
            <a:ext cx="4800600" cy="502920"/>
          </a:xfrm>
          <a:prstGeom prst="roundRect">
            <a:avLst/>
          </a:prstGeom>
          <a:solidFill>
            <a:srgbClr val="EEFFF6"/>
          </a:solidFill>
          <a:ln w="12700">
            <a:solidFill>
              <a:srgbClr val="28915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Correction: Every loop has a path where the condition becomes false.</a:t>
            </a:r>
          </a:p>
        </p:txBody>
      </p:sp>
      <p:sp>
        <p:nvSpPr>
          <p:cNvPr id="11" name="Rounded Rectangle 10"/>
          <p:cNvSpPr/>
          <p:nvPr/>
        </p:nvSpPr>
        <p:spPr>
          <a:xfrm>
            <a:off x="868680" y="3410711"/>
            <a:ext cx="5029200" cy="502920"/>
          </a:xfrm>
          <a:prstGeom prst="roundRect">
            <a:avLst/>
          </a:prstGeom>
          <a:solidFill>
            <a:srgbClr val="FFEEEE"/>
          </a:solidFill>
          <a:ln w="12700">
            <a:solidFill>
              <a:srgbClr val="BE3C3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Mistake 4: Reporting only the number.</a:t>
            </a:r>
          </a:p>
        </p:txBody>
      </p:sp>
      <p:sp>
        <p:nvSpPr>
          <p:cNvPr id="12" name="Rounded Rectangle 11"/>
          <p:cNvSpPr/>
          <p:nvPr/>
        </p:nvSpPr>
        <p:spPr>
          <a:xfrm>
            <a:off x="6263640" y="3410711"/>
            <a:ext cx="4800600" cy="502920"/>
          </a:xfrm>
          <a:prstGeom prst="roundRect">
            <a:avLst/>
          </a:prstGeom>
          <a:solidFill>
            <a:srgbClr val="EEFFF6"/>
          </a:solidFill>
          <a:ln w="12700">
            <a:solidFill>
              <a:srgbClr val="28915F"/>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50" b="1">
                <a:solidFill>
                  <a:srgbClr val="232323"/>
                </a:solidFill>
                <a:latin typeface="Ubuntu"/>
              </a:rPr>
              <a:t>Correction: Also list independent paths and convert them into test cases.</a:t>
            </a:r>
          </a:p>
        </p:txBody>
      </p:sp>
      <p:sp>
        <p:nvSpPr>
          <p:cNvPr id="13" name="Rounded Rectangle 12"/>
          <p:cNvSpPr/>
          <p:nvPr/>
        </p:nvSpPr>
        <p:spPr>
          <a:xfrm>
            <a:off x="1249680" y="4197098"/>
            <a:ext cx="9692640" cy="640080"/>
          </a:xfrm>
          <a:prstGeom prst="roundRect">
            <a:avLst/>
          </a:prstGeom>
          <a:solidFill>
            <a:srgbClr val="E8E2FF"/>
          </a:solidFill>
          <a:ln w="12700">
            <a:solidFill>
              <a:srgbClr val="6850C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dirty="0">
                <a:solidFill>
                  <a:srgbClr val="232323"/>
                </a:solidFill>
                <a:latin typeface="Ubuntu"/>
              </a:rPr>
              <a:t>Complex code is not only hard to understand; it also requires more basis-path tests.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A08E-F414-8874-6189-C36D30EF09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A67D3A8-13B2-6444-6DC1-59E92C215229}"/>
              </a:ext>
            </a:extLst>
          </p:cNvPr>
          <p:cNvSpPr>
            <a:spLocks noGrp="1"/>
          </p:cNvSpPr>
          <p:nvPr>
            <p:ph type="title"/>
          </p:nvPr>
        </p:nvSpPr>
        <p:spPr>
          <a:xfrm>
            <a:off x="838200" y="365126"/>
            <a:ext cx="10515600" cy="749572"/>
          </a:xfrm>
        </p:spPr>
        <p:txBody>
          <a:bodyPr/>
          <a:lstStyle/>
          <a:p>
            <a:r>
              <a:rPr lang="en-US" sz="3600" dirty="0"/>
              <a:t>Unit Test Environment</a:t>
            </a:r>
          </a:p>
        </p:txBody>
      </p:sp>
      <p:pic>
        <p:nvPicPr>
          <p:cNvPr id="5" name="Picture 4">
            <a:extLst>
              <a:ext uri="{FF2B5EF4-FFF2-40B4-BE49-F238E27FC236}">
                <a16:creationId xmlns:a16="http://schemas.microsoft.com/office/drawing/2014/main" id="{5438CBB8-07A5-F9DE-7478-BAA22AA97CF4}"/>
              </a:ext>
            </a:extLst>
          </p:cNvPr>
          <p:cNvPicPr>
            <a:picLocks noChangeAspect="1"/>
          </p:cNvPicPr>
          <p:nvPr/>
        </p:nvPicPr>
        <p:blipFill>
          <a:blip r:embed="rId3"/>
          <a:stretch>
            <a:fillRect/>
          </a:stretch>
        </p:blipFill>
        <p:spPr>
          <a:xfrm>
            <a:off x="3071048" y="1266453"/>
            <a:ext cx="6049904" cy="4325094"/>
          </a:xfrm>
          <a:prstGeom prst="rect">
            <a:avLst/>
          </a:prstGeom>
        </p:spPr>
      </p:pic>
    </p:spTree>
    <p:extLst>
      <p:ext uri="{BB962C8B-B14F-4D97-AF65-F5344CB8AC3E}">
        <p14:creationId xmlns:p14="http://schemas.microsoft.com/office/powerpoint/2010/main" val="3314442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30CFB-1605-BF8E-8C70-56EC953707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8E574A-8D26-02A1-C883-4B01315A0BB1}"/>
              </a:ext>
            </a:extLst>
          </p:cNvPr>
          <p:cNvSpPr>
            <a:spLocks noGrp="1"/>
          </p:cNvSpPr>
          <p:nvPr>
            <p:ph type="title"/>
          </p:nvPr>
        </p:nvSpPr>
        <p:spPr>
          <a:xfrm>
            <a:off x="838200" y="365126"/>
            <a:ext cx="10515600" cy="749572"/>
          </a:xfrm>
        </p:spPr>
        <p:txBody>
          <a:bodyPr/>
          <a:lstStyle/>
          <a:p>
            <a:r>
              <a:rPr lang="en-US" sz="3600" dirty="0"/>
              <a:t>Drivers and Stubs for Unit Testing</a:t>
            </a:r>
          </a:p>
        </p:txBody>
      </p:sp>
      <p:sp>
        <p:nvSpPr>
          <p:cNvPr id="4" name="TextBox 3">
            <a:extLst>
              <a:ext uri="{FF2B5EF4-FFF2-40B4-BE49-F238E27FC236}">
                <a16:creationId xmlns:a16="http://schemas.microsoft.com/office/drawing/2014/main" id="{833D99BF-C61D-3751-272E-1D61F2315D42}"/>
              </a:ext>
            </a:extLst>
          </p:cNvPr>
          <p:cNvSpPr txBox="1"/>
          <p:nvPr/>
        </p:nvSpPr>
        <p:spPr>
          <a:xfrm>
            <a:off x="1615189" y="1114698"/>
            <a:ext cx="9738611" cy="4893647"/>
          </a:xfrm>
          <a:prstGeom prst="rect">
            <a:avLst/>
          </a:prstGeom>
          <a:noFill/>
        </p:spPr>
        <p:txBody>
          <a:bodyPr wrap="square">
            <a:spAutoFit/>
          </a:bodyPr>
          <a:lstStyle/>
          <a:p>
            <a:r>
              <a:rPr lang="en-US" sz="2400" b="1" dirty="0">
                <a:latin typeface="Ubuntu" panose="020B0504030602030204" pitchFamily="34" charset="0"/>
              </a:rPr>
              <a:t>Driver</a:t>
            </a:r>
          </a:p>
          <a:p>
            <a:pPr lvl="1"/>
            <a:r>
              <a:rPr lang="en-US" sz="2400" dirty="0">
                <a:latin typeface="Ubuntu" panose="020B0504030602030204" pitchFamily="34" charset="0"/>
              </a:rPr>
              <a:t>A simple main program that accepts test case data, passes such data to the component being tested, and prints the returned results</a:t>
            </a:r>
          </a:p>
          <a:p>
            <a:r>
              <a:rPr lang="en-US" sz="2400" b="1" dirty="0">
                <a:latin typeface="Ubuntu" panose="020B0504030602030204" pitchFamily="34" charset="0"/>
              </a:rPr>
              <a:t>Stubs</a:t>
            </a:r>
          </a:p>
          <a:p>
            <a:pPr lvl="1"/>
            <a:r>
              <a:rPr lang="en-US" sz="2400" dirty="0">
                <a:latin typeface="Ubuntu" panose="020B0504030602030204" pitchFamily="34" charset="0"/>
              </a:rPr>
              <a:t>Serve to replace modules that are subordinate to (called by) the component to be tested</a:t>
            </a:r>
          </a:p>
          <a:p>
            <a:pPr lvl="1"/>
            <a:r>
              <a:rPr lang="en-US" sz="2400" dirty="0">
                <a:latin typeface="Ubuntu" panose="020B0504030602030204" pitchFamily="34" charset="0"/>
              </a:rPr>
              <a:t>It uses the module’s exact interface, may do minimal data manipulation, provides verification of entry, and returns control to the module undergoing testing</a:t>
            </a:r>
          </a:p>
          <a:p>
            <a:r>
              <a:rPr lang="en-US" sz="2400" b="1" dirty="0">
                <a:latin typeface="Ubuntu" panose="020B0504030602030204" pitchFamily="34" charset="0"/>
              </a:rPr>
              <a:t>Drivers and stubs both represent overhead</a:t>
            </a:r>
          </a:p>
          <a:p>
            <a:pPr lvl="1"/>
            <a:r>
              <a:rPr lang="en-US" sz="2400" dirty="0">
                <a:latin typeface="Ubuntu" panose="020B0504030602030204" pitchFamily="34" charset="0"/>
              </a:rPr>
              <a:t>Both must be written but don’t constitute part of the installed software product</a:t>
            </a:r>
          </a:p>
        </p:txBody>
      </p:sp>
    </p:spTree>
    <p:extLst>
      <p:ext uri="{BB962C8B-B14F-4D97-AF65-F5344CB8AC3E}">
        <p14:creationId xmlns:p14="http://schemas.microsoft.com/office/powerpoint/2010/main" val="3707048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4776-7708-A184-48A8-FDA250ABA0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284FFF-D5A6-7CA8-245F-E2F1A1ABB286}"/>
              </a:ext>
            </a:extLst>
          </p:cNvPr>
          <p:cNvSpPr>
            <a:spLocks noGrp="1"/>
          </p:cNvSpPr>
          <p:nvPr>
            <p:ph type="title"/>
          </p:nvPr>
        </p:nvSpPr>
        <p:spPr>
          <a:xfrm>
            <a:off x="838200" y="365126"/>
            <a:ext cx="10515600" cy="749572"/>
          </a:xfrm>
        </p:spPr>
        <p:txBody>
          <a:bodyPr/>
          <a:lstStyle/>
          <a:p>
            <a:r>
              <a:rPr lang="en-US" sz="3600" dirty="0"/>
              <a:t>Integration Testing</a:t>
            </a:r>
          </a:p>
        </p:txBody>
      </p:sp>
      <p:sp>
        <p:nvSpPr>
          <p:cNvPr id="4" name="TextBox 3">
            <a:extLst>
              <a:ext uri="{FF2B5EF4-FFF2-40B4-BE49-F238E27FC236}">
                <a16:creationId xmlns:a16="http://schemas.microsoft.com/office/drawing/2014/main" id="{3F6C0A27-5323-D488-436A-3390D1C59399}"/>
              </a:ext>
            </a:extLst>
          </p:cNvPr>
          <p:cNvSpPr txBox="1"/>
          <p:nvPr/>
        </p:nvSpPr>
        <p:spPr>
          <a:xfrm>
            <a:off x="1615189" y="1114698"/>
            <a:ext cx="9738611" cy="4154984"/>
          </a:xfrm>
          <a:prstGeom prst="rect">
            <a:avLst/>
          </a:prstGeom>
          <a:noFill/>
        </p:spPr>
        <p:txBody>
          <a:bodyPr wrap="square">
            <a:spAutoFit/>
          </a:bodyPr>
          <a:lstStyle/>
          <a:p>
            <a:r>
              <a:rPr lang="en-US" sz="2400" dirty="0">
                <a:latin typeface="Ubuntu" panose="020B0504030602030204" pitchFamily="34" charset="0"/>
              </a:rPr>
              <a:t>Defined as a systematic technique for constructing the software architecture</a:t>
            </a:r>
          </a:p>
          <a:p>
            <a:pPr lvl="1"/>
            <a:r>
              <a:rPr lang="en-US" sz="2400" dirty="0">
                <a:latin typeface="Ubuntu" panose="020B0504030602030204" pitchFamily="34" charset="0"/>
              </a:rPr>
              <a:t>• At the same time integration is occurring, conduct tests to uncover errors associated with interfaces</a:t>
            </a:r>
          </a:p>
          <a:p>
            <a:pPr lvl="1"/>
            <a:endParaRPr lang="en-US" sz="2400" dirty="0">
              <a:latin typeface="Ubuntu" panose="020B0504030602030204" pitchFamily="34" charset="0"/>
            </a:endParaRPr>
          </a:p>
          <a:p>
            <a:r>
              <a:rPr lang="en-US" sz="2400" dirty="0">
                <a:latin typeface="Ubuntu" panose="020B0504030602030204" pitchFamily="34" charset="0"/>
              </a:rPr>
              <a:t>Objective is to take unit tested modules and build a program structure based on the prescribed design</a:t>
            </a:r>
          </a:p>
          <a:p>
            <a:endParaRPr lang="en-US" sz="2400" dirty="0">
              <a:latin typeface="Ubuntu" panose="020B0504030602030204" pitchFamily="34" charset="0"/>
            </a:endParaRPr>
          </a:p>
          <a:p>
            <a:r>
              <a:rPr lang="en-US" sz="2400" dirty="0">
                <a:latin typeface="Ubuntu" panose="020B0504030602030204" pitchFamily="34" charset="0"/>
              </a:rPr>
              <a:t>Two Approaches</a:t>
            </a:r>
          </a:p>
          <a:p>
            <a:pPr lvl="1"/>
            <a:r>
              <a:rPr lang="en-US" sz="2400" dirty="0">
                <a:latin typeface="Ubuntu" panose="020B0504030602030204" pitchFamily="34" charset="0"/>
              </a:rPr>
              <a:t>• Non-incremental Integration Testing</a:t>
            </a:r>
          </a:p>
          <a:p>
            <a:pPr lvl="1"/>
            <a:r>
              <a:rPr lang="en-US" sz="2400" dirty="0">
                <a:latin typeface="Ubuntu" panose="020B0504030602030204" pitchFamily="34" charset="0"/>
              </a:rPr>
              <a:t>• Incremental Integration Testing</a:t>
            </a:r>
          </a:p>
        </p:txBody>
      </p:sp>
    </p:spTree>
    <p:extLst>
      <p:ext uri="{BB962C8B-B14F-4D97-AF65-F5344CB8AC3E}">
        <p14:creationId xmlns:p14="http://schemas.microsoft.com/office/powerpoint/2010/main" val="309949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EE1F-3917-5805-4099-AF27DB15E6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0CAF39-EBC0-F1E1-3F86-8AF9566EAC1E}"/>
              </a:ext>
            </a:extLst>
          </p:cNvPr>
          <p:cNvSpPr>
            <a:spLocks noGrp="1"/>
          </p:cNvSpPr>
          <p:nvPr>
            <p:ph type="title"/>
          </p:nvPr>
        </p:nvSpPr>
        <p:spPr>
          <a:xfrm>
            <a:off x="838200" y="365126"/>
            <a:ext cx="10515600" cy="749572"/>
          </a:xfrm>
        </p:spPr>
        <p:txBody>
          <a:bodyPr/>
          <a:lstStyle/>
          <a:p>
            <a:r>
              <a:rPr lang="en-US" sz="3600" dirty="0"/>
              <a:t>Integration Testing Strategies</a:t>
            </a:r>
          </a:p>
        </p:txBody>
      </p:sp>
      <p:sp>
        <p:nvSpPr>
          <p:cNvPr id="5" name="TextBox 4">
            <a:extLst>
              <a:ext uri="{FF2B5EF4-FFF2-40B4-BE49-F238E27FC236}">
                <a16:creationId xmlns:a16="http://schemas.microsoft.com/office/drawing/2014/main" id="{BCF1FF8F-90B4-9255-FF2B-F54DC8474F84}"/>
              </a:ext>
            </a:extLst>
          </p:cNvPr>
          <p:cNvSpPr txBox="1"/>
          <p:nvPr/>
        </p:nvSpPr>
        <p:spPr>
          <a:xfrm>
            <a:off x="3369039" y="1114698"/>
            <a:ext cx="6858000" cy="1200329"/>
          </a:xfrm>
          <a:prstGeom prst="rect">
            <a:avLst/>
          </a:prstGeom>
          <a:noFill/>
        </p:spPr>
        <p:txBody>
          <a:bodyPr wrap="square">
            <a:spAutoFit/>
          </a:bodyPr>
          <a:lstStyle/>
          <a:p>
            <a:r>
              <a:rPr lang="en-US" sz="2400" dirty="0">
                <a:latin typeface="Ubuntu" panose="020B0504030602030204" pitchFamily="34" charset="0"/>
              </a:rPr>
              <a:t>Options:</a:t>
            </a:r>
          </a:p>
          <a:p>
            <a:r>
              <a:rPr lang="en-US" sz="2400" dirty="0">
                <a:latin typeface="Ubuntu" panose="020B0504030602030204" pitchFamily="34" charset="0"/>
              </a:rPr>
              <a:t>•     the “big bang” approach</a:t>
            </a:r>
          </a:p>
          <a:p>
            <a:r>
              <a:rPr lang="en-US" sz="2400" dirty="0">
                <a:latin typeface="Ubuntu" panose="020B0504030602030204" pitchFamily="34" charset="0"/>
              </a:rPr>
              <a:t>•     an incremental construction strategy</a:t>
            </a:r>
          </a:p>
        </p:txBody>
      </p:sp>
      <p:pic>
        <p:nvPicPr>
          <p:cNvPr id="7" name="Picture 6">
            <a:extLst>
              <a:ext uri="{FF2B5EF4-FFF2-40B4-BE49-F238E27FC236}">
                <a16:creationId xmlns:a16="http://schemas.microsoft.com/office/drawing/2014/main" id="{9CE9A2FA-181F-0326-41AE-20FB56A2FD20}"/>
              </a:ext>
            </a:extLst>
          </p:cNvPr>
          <p:cNvPicPr>
            <a:picLocks noChangeAspect="1"/>
          </p:cNvPicPr>
          <p:nvPr/>
        </p:nvPicPr>
        <p:blipFill>
          <a:blip r:embed="rId3"/>
          <a:stretch>
            <a:fillRect/>
          </a:stretch>
        </p:blipFill>
        <p:spPr>
          <a:xfrm>
            <a:off x="3641429" y="2640261"/>
            <a:ext cx="5351621" cy="3103041"/>
          </a:xfrm>
          <a:prstGeom prst="rect">
            <a:avLst/>
          </a:prstGeom>
        </p:spPr>
      </p:pic>
    </p:spTree>
    <p:extLst>
      <p:ext uri="{BB962C8B-B14F-4D97-AF65-F5344CB8AC3E}">
        <p14:creationId xmlns:p14="http://schemas.microsoft.com/office/powerpoint/2010/main" val="297413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4A15-CA37-81A9-8431-66FE396F1B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054785-8BB5-6A83-C94E-EDD3E479A911}"/>
              </a:ext>
            </a:extLst>
          </p:cNvPr>
          <p:cNvSpPr>
            <a:spLocks noGrp="1"/>
          </p:cNvSpPr>
          <p:nvPr>
            <p:ph type="title"/>
          </p:nvPr>
        </p:nvSpPr>
        <p:spPr>
          <a:xfrm>
            <a:off x="838200" y="365126"/>
            <a:ext cx="10515600" cy="749572"/>
          </a:xfrm>
        </p:spPr>
        <p:txBody>
          <a:bodyPr/>
          <a:lstStyle/>
          <a:p>
            <a:r>
              <a:rPr lang="en-US" sz="3600" dirty="0"/>
              <a:t>Incremental Integration Testing</a:t>
            </a:r>
          </a:p>
        </p:txBody>
      </p:sp>
      <p:sp>
        <p:nvSpPr>
          <p:cNvPr id="5" name="TextBox 4">
            <a:extLst>
              <a:ext uri="{FF2B5EF4-FFF2-40B4-BE49-F238E27FC236}">
                <a16:creationId xmlns:a16="http://schemas.microsoft.com/office/drawing/2014/main" id="{C8903D5E-7DD6-E591-C045-83F33B264175}"/>
              </a:ext>
            </a:extLst>
          </p:cNvPr>
          <p:cNvSpPr txBox="1"/>
          <p:nvPr/>
        </p:nvSpPr>
        <p:spPr>
          <a:xfrm>
            <a:off x="1900003" y="1204961"/>
            <a:ext cx="8817963" cy="4448077"/>
          </a:xfrm>
          <a:prstGeom prst="rect">
            <a:avLst/>
          </a:prstGeom>
          <a:noFill/>
        </p:spPr>
        <p:txBody>
          <a:bodyPr wrap="square">
            <a:spAutoFit/>
          </a:bodyPr>
          <a:lstStyle/>
          <a:p>
            <a:pPr>
              <a:lnSpc>
                <a:spcPct val="150000"/>
              </a:lnSpc>
            </a:pPr>
            <a:r>
              <a:rPr lang="en-US" sz="2400" b="1" dirty="0">
                <a:latin typeface="Ubuntu" panose="020B0504030602030204" pitchFamily="34" charset="0"/>
              </a:rPr>
              <a:t> Three kinds</a:t>
            </a:r>
          </a:p>
          <a:p>
            <a:pPr lvl="1">
              <a:lnSpc>
                <a:spcPct val="150000"/>
              </a:lnSpc>
            </a:pPr>
            <a:r>
              <a:rPr lang="en-US" sz="2400" b="1" dirty="0">
                <a:latin typeface="Ubuntu" panose="020B0504030602030204" pitchFamily="34" charset="0"/>
              </a:rPr>
              <a:t>• Top-down integration</a:t>
            </a:r>
          </a:p>
          <a:p>
            <a:pPr lvl="1">
              <a:lnSpc>
                <a:spcPct val="150000"/>
              </a:lnSpc>
            </a:pPr>
            <a:r>
              <a:rPr lang="en-US" sz="2400" b="1" dirty="0">
                <a:latin typeface="Ubuntu" panose="020B0504030602030204" pitchFamily="34" charset="0"/>
              </a:rPr>
              <a:t>• Bottom-up integration</a:t>
            </a:r>
          </a:p>
          <a:p>
            <a:pPr lvl="1">
              <a:lnSpc>
                <a:spcPct val="150000"/>
              </a:lnSpc>
            </a:pPr>
            <a:r>
              <a:rPr lang="en-US" sz="2400" b="1" dirty="0">
                <a:latin typeface="Ubuntu" panose="020B0504030602030204" pitchFamily="34" charset="0"/>
              </a:rPr>
              <a:t>• Sandwich integration</a:t>
            </a:r>
          </a:p>
          <a:p>
            <a:pPr>
              <a:lnSpc>
                <a:spcPct val="150000"/>
              </a:lnSpc>
            </a:pPr>
            <a:r>
              <a:rPr lang="en-US" sz="2400" dirty="0">
                <a:latin typeface="Ubuntu" panose="020B0504030602030204" pitchFamily="34" charset="0"/>
              </a:rPr>
              <a:t>• The program is constructed and tested in small increments</a:t>
            </a:r>
          </a:p>
          <a:p>
            <a:pPr>
              <a:lnSpc>
                <a:spcPct val="150000"/>
              </a:lnSpc>
            </a:pPr>
            <a:r>
              <a:rPr lang="en-US" sz="2400" dirty="0">
                <a:latin typeface="Ubuntu" panose="020B0504030602030204" pitchFamily="34" charset="0"/>
              </a:rPr>
              <a:t>• Errors are easier to isolate and correct</a:t>
            </a:r>
          </a:p>
          <a:p>
            <a:pPr>
              <a:lnSpc>
                <a:spcPct val="150000"/>
              </a:lnSpc>
            </a:pPr>
            <a:r>
              <a:rPr lang="en-US" sz="2400" dirty="0">
                <a:latin typeface="Ubuntu" panose="020B0504030602030204" pitchFamily="34" charset="0"/>
              </a:rPr>
              <a:t>• Interfaces are more likely to be tested completely</a:t>
            </a:r>
          </a:p>
          <a:p>
            <a:pPr>
              <a:lnSpc>
                <a:spcPct val="150000"/>
              </a:lnSpc>
            </a:pPr>
            <a:r>
              <a:rPr lang="en-US" sz="2400" dirty="0">
                <a:latin typeface="Ubuntu" panose="020B0504030602030204" pitchFamily="34" charset="0"/>
              </a:rPr>
              <a:t>• A systematic test approach is applied</a:t>
            </a:r>
          </a:p>
        </p:txBody>
      </p:sp>
    </p:spTree>
    <p:extLst>
      <p:ext uri="{BB962C8B-B14F-4D97-AF65-F5344CB8AC3E}">
        <p14:creationId xmlns:p14="http://schemas.microsoft.com/office/powerpoint/2010/main" val="158732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74B5B-835C-A73E-C134-23A95011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FEBE57A-C40A-1D9C-1C4C-E1269781A2B9}"/>
              </a:ext>
            </a:extLst>
          </p:cNvPr>
          <p:cNvSpPr>
            <a:spLocks noGrp="1"/>
          </p:cNvSpPr>
          <p:nvPr>
            <p:ph type="title"/>
          </p:nvPr>
        </p:nvSpPr>
        <p:spPr>
          <a:xfrm>
            <a:off x="838200" y="365126"/>
            <a:ext cx="10515600" cy="749572"/>
          </a:xfrm>
        </p:spPr>
        <p:txBody>
          <a:bodyPr/>
          <a:lstStyle/>
          <a:p>
            <a:r>
              <a:rPr lang="en-US" sz="3600" dirty="0"/>
              <a:t>Top-down Integration</a:t>
            </a:r>
          </a:p>
        </p:txBody>
      </p:sp>
      <p:sp>
        <p:nvSpPr>
          <p:cNvPr id="4" name="TextBox 3">
            <a:extLst>
              <a:ext uri="{FF2B5EF4-FFF2-40B4-BE49-F238E27FC236}">
                <a16:creationId xmlns:a16="http://schemas.microsoft.com/office/drawing/2014/main" id="{8357F819-52A3-0FD8-2661-6BC4E291E281}"/>
              </a:ext>
            </a:extLst>
          </p:cNvPr>
          <p:cNvSpPr txBox="1"/>
          <p:nvPr/>
        </p:nvSpPr>
        <p:spPr>
          <a:xfrm>
            <a:off x="1291652" y="979786"/>
            <a:ext cx="10175823" cy="5324535"/>
          </a:xfrm>
          <a:prstGeom prst="rect">
            <a:avLst/>
          </a:prstGeom>
          <a:noFill/>
        </p:spPr>
        <p:txBody>
          <a:bodyPr wrap="square">
            <a:spAutoFit/>
          </a:bodyPr>
          <a:lstStyle/>
          <a:p>
            <a:pPr>
              <a:buNone/>
            </a:pPr>
            <a:r>
              <a:rPr lang="en-US" sz="2000" b="1" dirty="0">
                <a:latin typeface="Ubuntu" panose="020B0504030602030204" pitchFamily="34" charset="0"/>
              </a:rPr>
              <a:t>Top-Down Integration</a:t>
            </a:r>
          </a:p>
          <a:p>
            <a:r>
              <a:rPr lang="en-US" sz="2000" dirty="0">
                <a:latin typeface="Ubuntu" panose="020B0504030602030204" pitchFamily="34" charset="0"/>
              </a:rPr>
              <a:t>Modules are integrated by moving downward through the control hierarchy, beginning with the main module. </a:t>
            </a:r>
          </a:p>
          <a:p>
            <a:endParaRPr lang="en-US" sz="2000" dirty="0">
              <a:latin typeface="Ubuntu" panose="020B0504030602030204" pitchFamily="34" charset="0"/>
            </a:endParaRPr>
          </a:p>
          <a:p>
            <a:r>
              <a:rPr lang="en-US" sz="2000" dirty="0">
                <a:latin typeface="Ubuntu" panose="020B0504030602030204" pitchFamily="34" charset="0"/>
              </a:rPr>
              <a:t>Subordinate modules are incorporated in either a depth-first or breadth-first fashion: </a:t>
            </a:r>
          </a:p>
          <a:p>
            <a:pPr marL="742950" lvl="1" indent="-285750">
              <a:buFont typeface="Arial" panose="020B0604020202020204" pitchFamily="34" charset="0"/>
              <a:buChar char="•"/>
            </a:pPr>
            <a:r>
              <a:rPr lang="en-US" sz="2000" b="1" dirty="0">
                <a:latin typeface="Ubuntu" panose="020B0504030602030204" pitchFamily="34" charset="0"/>
              </a:rPr>
              <a:t>DF (Depth-First):</a:t>
            </a:r>
            <a:r>
              <a:rPr lang="en-US" sz="2000" dirty="0">
                <a:latin typeface="Ubuntu" panose="020B0504030602030204" pitchFamily="34" charset="0"/>
              </a:rPr>
              <a:t> All modules on a major control path are integrated. </a:t>
            </a:r>
          </a:p>
          <a:p>
            <a:pPr marL="742950" lvl="1" indent="-285750">
              <a:buFont typeface="Arial" panose="020B0604020202020204" pitchFamily="34" charset="0"/>
              <a:buChar char="•"/>
            </a:pPr>
            <a:r>
              <a:rPr lang="en-US" sz="2000" b="1" dirty="0">
                <a:latin typeface="Ubuntu" panose="020B0504030602030204" pitchFamily="34" charset="0"/>
              </a:rPr>
              <a:t>BF (Breadth-First):</a:t>
            </a:r>
            <a:r>
              <a:rPr lang="en-US" sz="2000" dirty="0">
                <a:latin typeface="Ubuntu" panose="020B0504030602030204" pitchFamily="34" charset="0"/>
              </a:rPr>
              <a:t> All modules directly subordinate at each level are integrated. </a:t>
            </a:r>
          </a:p>
          <a:p>
            <a:pPr>
              <a:buNone/>
            </a:pPr>
            <a:endParaRPr lang="en-US" sz="2000" dirty="0">
              <a:latin typeface="Ubuntu" panose="020B0504030602030204" pitchFamily="34" charset="0"/>
            </a:endParaRPr>
          </a:p>
          <a:p>
            <a:pPr>
              <a:buNone/>
            </a:pPr>
            <a:r>
              <a:rPr lang="en-US" sz="2000" b="1" dirty="0">
                <a:latin typeface="Ubuntu" panose="020B0504030602030204" pitchFamily="34" charset="0"/>
              </a:rPr>
              <a:t>Advantages</a:t>
            </a:r>
          </a:p>
          <a:p>
            <a:pPr marL="342900" indent="-342900">
              <a:buFont typeface="Wingdings" panose="05000000000000000000" pitchFamily="2" charset="2"/>
              <a:buChar char="q"/>
            </a:pPr>
            <a:r>
              <a:rPr lang="en-US" sz="2000" dirty="0">
                <a:latin typeface="Ubuntu" panose="020B0504030602030204" pitchFamily="34" charset="0"/>
              </a:rPr>
              <a:t>This approach verifies major control or decision points early in the test process. </a:t>
            </a:r>
          </a:p>
          <a:p>
            <a:pPr>
              <a:buNone/>
            </a:pPr>
            <a:endParaRPr lang="en-US" sz="2000" dirty="0">
              <a:latin typeface="Ubuntu" panose="020B0504030602030204" pitchFamily="34" charset="0"/>
            </a:endParaRPr>
          </a:p>
          <a:p>
            <a:pPr>
              <a:buNone/>
            </a:pPr>
            <a:r>
              <a:rPr lang="en-US" sz="2000" b="1" dirty="0">
                <a:latin typeface="Ubuntu" panose="020B0504030602030204" pitchFamily="34" charset="0"/>
              </a:rPr>
              <a:t>Disadvantages</a:t>
            </a:r>
          </a:p>
          <a:p>
            <a:pPr marL="342900" indent="-342900">
              <a:buFont typeface="Wingdings" panose="05000000000000000000" pitchFamily="2" charset="2"/>
              <a:buChar char="q"/>
            </a:pPr>
            <a:r>
              <a:rPr lang="en-US" sz="2000" dirty="0">
                <a:latin typeface="Ubuntu" panose="020B0504030602030204" pitchFamily="34" charset="0"/>
              </a:rPr>
              <a:t>Stubs need to be created to substitute for modules that have not been built or tested yet; this code is later discarded. </a:t>
            </a:r>
          </a:p>
          <a:p>
            <a:pPr marL="342900" indent="-342900">
              <a:buFont typeface="Wingdings" panose="05000000000000000000" pitchFamily="2" charset="2"/>
              <a:buChar char="q"/>
            </a:pPr>
            <a:r>
              <a:rPr lang="en-US" sz="2000" dirty="0">
                <a:latin typeface="Ubuntu" panose="020B0504030602030204" pitchFamily="34" charset="0"/>
              </a:rPr>
              <a:t>Because stubs are used to replace lower-level modules, no significant data flow can occur until much later in the integration/testing process.</a:t>
            </a:r>
          </a:p>
        </p:txBody>
      </p:sp>
    </p:spTree>
    <p:extLst>
      <p:ext uri="{BB962C8B-B14F-4D97-AF65-F5344CB8AC3E}">
        <p14:creationId xmlns:p14="http://schemas.microsoft.com/office/powerpoint/2010/main" val="35295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6907F-2FCF-6ADD-C7F5-3824E2485A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D7FDCB-7428-CA30-A1E6-0F5C141E1B09}"/>
              </a:ext>
            </a:extLst>
          </p:cNvPr>
          <p:cNvSpPr>
            <a:spLocks noGrp="1"/>
          </p:cNvSpPr>
          <p:nvPr>
            <p:ph type="title"/>
          </p:nvPr>
        </p:nvSpPr>
        <p:spPr>
          <a:xfrm>
            <a:off x="838200" y="365126"/>
            <a:ext cx="10515600" cy="749572"/>
          </a:xfrm>
        </p:spPr>
        <p:txBody>
          <a:bodyPr/>
          <a:lstStyle/>
          <a:p>
            <a:r>
              <a:rPr lang="en-US" sz="3600" dirty="0"/>
              <a:t>Top-down Integration</a:t>
            </a:r>
          </a:p>
        </p:txBody>
      </p:sp>
      <p:pic>
        <p:nvPicPr>
          <p:cNvPr id="5" name="Picture 4">
            <a:extLst>
              <a:ext uri="{FF2B5EF4-FFF2-40B4-BE49-F238E27FC236}">
                <a16:creationId xmlns:a16="http://schemas.microsoft.com/office/drawing/2014/main" id="{59244801-06B3-1130-D4F5-8E8A0E9713CC}"/>
              </a:ext>
            </a:extLst>
          </p:cNvPr>
          <p:cNvPicPr>
            <a:picLocks noChangeAspect="1"/>
          </p:cNvPicPr>
          <p:nvPr/>
        </p:nvPicPr>
        <p:blipFill>
          <a:blip r:embed="rId2"/>
          <a:stretch>
            <a:fillRect/>
          </a:stretch>
        </p:blipFill>
        <p:spPr>
          <a:xfrm>
            <a:off x="2746294" y="1262809"/>
            <a:ext cx="6699412" cy="4332382"/>
          </a:xfrm>
          <a:prstGeom prst="rect">
            <a:avLst/>
          </a:prstGeom>
        </p:spPr>
      </p:pic>
    </p:spTree>
    <p:extLst>
      <p:ext uri="{BB962C8B-B14F-4D97-AF65-F5344CB8AC3E}">
        <p14:creationId xmlns:p14="http://schemas.microsoft.com/office/powerpoint/2010/main" val="26247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705C0-D69B-6833-3BB7-82B9FDD969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34BEAE-264D-9DC7-C100-8369E17249A3}"/>
              </a:ext>
            </a:extLst>
          </p:cNvPr>
          <p:cNvSpPr>
            <a:spLocks noGrp="1"/>
          </p:cNvSpPr>
          <p:nvPr>
            <p:ph type="title"/>
          </p:nvPr>
        </p:nvSpPr>
        <p:spPr>
          <a:xfrm>
            <a:off x="838200" y="365126"/>
            <a:ext cx="10515600" cy="749572"/>
          </a:xfrm>
        </p:spPr>
        <p:txBody>
          <a:bodyPr/>
          <a:lstStyle/>
          <a:p>
            <a:r>
              <a:rPr lang="en-US" sz="3600" dirty="0"/>
              <a:t>Bottom-up Integration</a:t>
            </a:r>
          </a:p>
        </p:txBody>
      </p:sp>
      <p:sp>
        <p:nvSpPr>
          <p:cNvPr id="4" name="TextBox 3">
            <a:extLst>
              <a:ext uri="{FF2B5EF4-FFF2-40B4-BE49-F238E27FC236}">
                <a16:creationId xmlns:a16="http://schemas.microsoft.com/office/drawing/2014/main" id="{1E0C42E1-011F-A1CF-1D53-FA43753214A5}"/>
              </a:ext>
            </a:extLst>
          </p:cNvPr>
          <p:cNvSpPr txBox="1"/>
          <p:nvPr/>
        </p:nvSpPr>
        <p:spPr>
          <a:xfrm>
            <a:off x="1411573" y="1382286"/>
            <a:ext cx="10175823" cy="4093428"/>
          </a:xfrm>
          <a:prstGeom prst="rect">
            <a:avLst/>
          </a:prstGeom>
          <a:noFill/>
        </p:spPr>
        <p:txBody>
          <a:bodyPr wrap="square">
            <a:spAutoFit/>
          </a:bodyPr>
          <a:lstStyle/>
          <a:p>
            <a:r>
              <a:rPr lang="en-US" sz="2000" dirty="0">
                <a:latin typeface="Ubuntu" panose="020B0504030602030204" pitchFamily="34" charset="0"/>
              </a:rPr>
              <a:t>Integration and testing start with the most atomic (lowest-level) modules in the control hierarchy. </a:t>
            </a:r>
          </a:p>
          <a:p>
            <a:endParaRPr lang="en-US" sz="2000" dirty="0">
              <a:latin typeface="Ubuntu" panose="020B0504030602030204" pitchFamily="34" charset="0"/>
            </a:endParaRPr>
          </a:p>
          <a:p>
            <a:r>
              <a:rPr lang="en-US" sz="2000" b="1" dirty="0">
                <a:latin typeface="Ubuntu" panose="020B0504030602030204" pitchFamily="34" charset="0"/>
              </a:rPr>
              <a:t>Advantages</a:t>
            </a:r>
          </a:p>
          <a:p>
            <a:pPr marL="342900" indent="-342900">
              <a:buFont typeface="Wingdings" panose="05000000000000000000" pitchFamily="2" charset="2"/>
              <a:buChar char="q"/>
            </a:pPr>
            <a:r>
              <a:rPr lang="en-US" sz="2000" dirty="0">
                <a:latin typeface="Ubuntu" panose="020B0504030602030204" pitchFamily="34" charset="0"/>
              </a:rPr>
              <a:t>This approach verifies low-level data processing early in the testing process. </a:t>
            </a:r>
          </a:p>
          <a:p>
            <a:pPr marL="342900" indent="-342900">
              <a:buFont typeface="Wingdings" panose="05000000000000000000" pitchFamily="2" charset="2"/>
              <a:buChar char="q"/>
            </a:pPr>
            <a:r>
              <a:rPr lang="en-US" sz="2000" dirty="0">
                <a:latin typeface="Ubuntu" panose="020B0504030602030204" pitchFamily="34" charset="0"/>
              </a:rPr>
              <a:t>The need for stubs is eliminated. </a:t>
            </a:r>
          </a:p>
          <a:p>
            <a:endParaRPr lang="en-US" sz="2000" dirty="0">
              <a:latin typeface="Ubuntu" panose="020B0504030602030204" pitchFamily="34" charset="0"/>
            </a:endParaRPr>
          </a:p>
          <a:p>
            <a:r>
              <a:rPr lang="en-US" sz="2000" b="1" dirty="0">
                <a:latin typeface="Ubuntu" panose="020B0504030602030204" pitchFamily="34" charset="0"/>
              </a:rPr>
              <a:t>Disadvantages</a:t>
            </a:r>
          </a:p>
          <a:p>
            <a:pPr marL="342900" indent="-342900">
              <a:buFont typeface="Wingdings" panose="05000000000000000000" pitchFamily="2" charset="2"/>
              <a:buChar char="q"/>
            </a:pPr>
            <a:r>
              <a:rPr lang="en-US" sz="2000" dirty="0">
                <a:latin typeface="Ubuntu" panose="020B0504030602030204" pitchFamily="34" charset="0"/>
              </a:rPr>
              <a:t>Driver modules need to be built to test the lower-level modules; this code is later discarded or expanded into a full-featured version. </a:t>
            </a:r>
          </a:p>
          <a:p>
            <a:pPr marL="342900" indent="-342900">
              <a:buFont typeface="Wingdings" panose="05000000000000000000" pitchFamily="2" charset="2"/>
              <a:buChar char="q"/>
            </a:pPr>
            <a:r>
              <a:rPr lang="en-US" sz="2000" dirty="0">
                <a:latin typeface="Ubuntu" panose="020B0504030602030204" pitchFamily="34" charset="0"/>
              </a:rPr>
              <a:t>Drivers do not contain the complete algorithms that will eventually use the services of the lower-level modules; therefore, testing may be incomplete or additional testing may be required later when upper-level modules become available.</a:t>
            </a:r>
          </a:p>
        </p:txBody>
      </p:sp>
    </p:spTree>
    <p:extLst>
      <p:ext uri="{BB962C8B-B14F-4D97-AF65-F5344CB8AC3E}">
        <p14:creationId xmlns:p14="http://schemas.microsoft.com/office/powerpoint/2010/main" val="3112130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E04C-741E-361A-553D-6597151C30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F6B2CC-99BF-8602-2061-6CD18BBC93CC}"/>
              </a:ext>
            </a:extLst>
          </p:cNvPr>
          <p:cNvSpPr>
            <a:spLocks noGrp="1"/>
          </p:cNvSpPr>
          <p:nvPr>
            <p:ph type="title"/>
          </p:nvPr>
        </p:nvSpPr>
        <p:spPr>
          <a:xfrm>
            <a:off x="838200" y="365126"/>
            <a:ext cx="10515600" cy="749572"/>
          </a:xfrm>
        </p:spPr>
        <p:txBody>
          <a:bodyPr/>
          <a:lstStyle/>
          <a:p>
            <a:r>
              <a:rPr lang="en-US" sz="3600" dirty="0"/>
              <a:t>Bottom-up Integration</a:t>
            </a:r>
          </a:p>
        </p:txBody>
      </p:sp>
      <p:pic>
        <p:nvPicPr>
          <p:cNvPr id="5" name="Picture 4">
            <a:extLst>
              <a:ext uri="{FF2B5EF4-FFF2-40B4-BE49-F238E27FC236}">
                <a16:creationId xmlns:a16="http://schemas.microsoft.com/office/drawing/2014/main" id="{49433515-D49C-F82A-683D-D39EC6EF1FC7}"/>
              </a:ext>
            </a:extLst>
          </p:cNvPr>
          <p:cNvPicPr>
            <a:picLocks noChangeAspect="1"/>
          </p:cNvPicPr>
          <p:nvPr/>
        </p:nvPicPr>
        <p:blipFill>
          <a:blip r:embed="rId2"/>
          <a:stretch>
            <a:fillRect/>
          </a:stretch>
        </p:blipFill>
        <p:spPr>
          <a:xfrm>
            <a:off x="3329908" y="1489064"/>
            <a:ext cx="5532183" cy="3879872"/>
          </a:xfrm>
          <a:prstGeom prst="rect">
            <a:avLst/>
          </a:prstGeom>
        </p:spPr>
      </p:pic>
    </p:spTree>
    <p:extLst>
      <p:ext uri="{BB962C8B-B14F-4D97-AF65-F5344CB8AC3E}">
        <p14:creationId xmlns:p14="http://schemas.microsoft.com/office/powerpoint/2010/main" val="3601490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1355-4175-3EAE-2529-FA391B6A70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2D3BF1-77CB-9A47-85FE-506F785A8DFD}"/>
              </a:ext>
            </a:extLst>
          </p:cNvPr>
          <p:cNvSpPr>
            <a:spLocks noGrp="1"/>
          </p:cNvSpPr>
          <p:nvPr>
            <p:ph type="title"/>
          </p:nvPr>
        </p:nvSpPr>
        <p:spPr>
          <a:xfrm>
            <a:off x="838200" y="365126"/>
            <a:ext cx="10515600" cy="749572"/>
          </a:xfrm>
        </p:spPr>
        <p:txBody>
          <a:bodyPr/>
          <a:lstStyle/>
          <a:p>
            <a:r>
              <a:rPr lang="en-US" sz="3600" dirty="0"/>
              <a:t>Sandwich Integration</a:t>
            </a:r>
          </a:p>
        </p:txBody>
      </p:sp>
      <p:sp>
        <p:nvSpPr>
          <p:cNvPr id="6" name="TextBox 5">
            <a:extLst>
              <a:ext uri="{FF2B5EF4-FFF2-40B4-BE49-F238E27FC236}">
                <a16:creationId xmlns:a16="http://schemas.microsoft.com/office/drawing/2014/main" id="{1F194BAF-4039-0DDA-FEA1-A6AEBEE3E417}"/>
              </a:ext>
            </a:extLst>
          </p:cNvPr>
          <p:cNvSpPr txBox="1"/>
          <p:nvPr/>
        </p:nvSpPr>
        <p:spPr>
          <a:xfrm>
            <a:off x="1615189" y="924105"/>
            <a:ext cx="9738611" cy="5568769"/>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q"/>
            </a:pPr>
            <a:r>
              <a:rPr lang="en-US" altLang="en-US" sz="2000" dirty="0">
                <a:latin typeface="Arial" panose="020B0604020202020204" pitchFamily="34" charset="0"/>
              </a:rPr>
              <a:t>Combines both </a:t>
            </a:r>
            <a:r>
              <a:rPr lang="en-US" altLang="en-US" sz="2000" b="1" dirty="0">
                <a:latin typeface="Arial" panose="020B0604020202020204" pitchFamily="34" charset="0"/>
              </a:rPr>
              <a:t>top-down</a:t>
            </a:r>
            <a:r>
              <a:rPr lang="en-US" altLang="en-US" sz="2000" dirty="0">
                <a:latin typeface="Arial" panose="020B0604020202020204" pitchFamily="34" charset="0"/>
              </a:rPr>
              <a:t> and </a:t>
            </a:r>
            <a:r>
              <a:rPr lang="en-US" altLang="en-US" sz="2000" b="1" dirty="0">
                <a:latin typeface="Arial" panose="020B0604020202020204" pitchFamily="34" charset="0"/>
              </a:rPr>
              <a:t>bottom-up</a:t>
            </a:r>
            <a:r>
              <a:rPr lang="en-US" altLang="en-US" sz="2000" dirty="0">
                <a:latin typeface="Arial" panose="020B060402020202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integration approaches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Applied to </a:t>
            </a:r>
            <a:r>
              <a:rPr kumimoji="0" lang="en-US" altLang="en-US" sz="2000" b="1" i="0" u="none" strike="noStrike" cap="none" normalizeH="0" baseline="0" dirty="0">
                <a:ln>
                  <a:noFill/>
                </a:ln>
                <a:solidFill>
                  <a:schemeClr val="tx1"/>
                </a:solidFill>
                <a:effectLst/>
                <a:latin typeface="Ubuntu" panose="020B0504030602030204" pitchFamily="34" charset="0"/>
              </a:rPr>
              <a:t>both high-level and low-level modules</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Uses </a:t>
            </a:r>
            <a:r>
              <a:rPr kumimoji="0" lang="en-US" altLang="en-US" sz="2000" b="1" i="0" u="none" strike="noStrike" cap="none" normalizeH="0" baseline="0" dirty="0">
                <a:ln>
                  <a:noFill/>
                </a:ln>
                <a:solidFill>
                  <a:schemeClr val="tx1"/>
                </a:solidFill>
                <a:effectLst/>
                <a:latin typeface="Ubuntu" panose="020B0504030602030204" pitchFamily="34" charset="0"/>
              </a:rPr>
              <a:t>functional groups of modules</a:t>
            </a:r>
            <a:r>
              <a:rPr kumimoji="0" lang="en-US" altLang="en-US" sz="2000" b="0" i="0" u="none" strike="noStrike" cap="none" normalizeH="0" baseline="0" dirty="0">
                <a:ln>
                  <a:noFill/>
                </a:ln>
                <a:solidFill>
                  <a:schemeClr val="tx1"/>
                </a:solidFill>
                <a:effectLst/>
                <a:latin typeface="Ubuntu" panose="020B0504030602030204" pitchFamily="34" charset="0"/>
              </a:rPr>
              <a:t>, completing one group before moving to the next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Groups are based on </a:t>
            </a:r>
            <a:r>
              <a:rPr kumimoji="0" lang="en-US" altLang="en-US" sz="2000" b="1" i="0" u="none" strike="noStrike" cap="none" normalizeH="0" baseline="0" dirty="0">
                <a:ln>
                  <a:noFill/>
                </a:ln>
                <a:solidFill>
                  <a:schemeClr val="tx1"/>
                </a:solidFill>
                <a:effectLst/>
                <a:latin typeface="Ubuntu" panose="020B0504030602030204" pitchFamily="34" charset="0"/>
              </a:rPr>
              <a:t>control and data processing</a:t>
            </a:r>
            <a:r>
              <a:rPr kumimoji="0" lang="en-US" altLang="en-US" sz="2000" b="0" i="0" u="none" strike="noStrike" cap="none" normalizeH="0" baseline="0" dirty="0">
                <a:ln>
                  <a:noFill/>
                </a:ln>
                <a:solidFill>
                  <a:schemeClr val="tx1"/>
                </a:solidFill>
                <a:effectLst/>
                <a:latin typeface="Ubuntu" panose="020B0504030602030204" pitchFamily="34" charset="0"/>
              </a:rPr>
              <a:t> for specific program features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Integration within a group alternates between </a:t>
            </a:r>
            <a:r>
              <a:rPr kumimoji="0" lang="en-US" altLang="en-US" sz="2000" b="1" i="0" u="none" strike="noStrike" cap="none" normalizeH="0" baseline="0" dirty="0">
                <a:ln>
                  <a:noFill/>
                </a:ln>
                <a:solidFill>
                  <a:schemeClr val="tx1"/>
                </a:solidFill>
                <a:effectLst/>
                <a:latin typeface="Ubuntu" panose="020B0504030602030204" pitchFamily="34" charset="0"/>
              </a:rPr>
              <a:t>high-level and low-level modules</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Once a functional group is complete, testing moves to the </a:t>
            </a:r>
            <a:r>
              <a:rPr kumimoji="0" lang="en-US" altLang="en-US" sz="2000" b="1" i="0" u="none" strike="noStrike" cap="none" normalizeH="0" baseline="0" dirty="0">
                <a:ln>
                  <a:noFill/>
                </a:ln>
                <a:solidFill>
                  <a:schemeClr val="tx1"/>
                </a:solidFill>
                <a:effectLst/>
                <a:latin typeface="Ubuntu" panose="020B0504030602030204" pitchFamily="34" charset="0"/>
              </a:rPr>
              <a:t>next group</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Gains advantages of both top-down and bottom-up while </a:t>
            </a:r>
            <a:r>
              <a:rPr kumimoji="0" lang="en-US" altLang="en-US" sz="2000" b="1" i="0" u="none" strike="noStrike" cap="none" normalizeH="0" baseline="0" dirty="0">
                <a:ln>
                  <a:noFill/>
                </a:ln>
                <a:solidFill>
                  <a:schemeClr val="tx1"/>
                </a:solidFill>
                <a:effectLst/>
                <a:latin typeface="Ubuntu" panose="020B0504030602030204" pitchFamily="34" charset="0"/>
              </a:rPr>
              <a:t>minimizing drivers and stubs</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Requires a </a:t>
            </a:r>
            <a:r>
              <a:rPr kumimoji="0" lang="en-US" altLang="en-US" sz="2000" b="1" i="0" u="none" strike="noStrike" cap="none" normalizeH="0" baseline="0" dirty="0">
                <a:ln>
                  <a:noFill/>
                </a:ln>
                <a:solidFill>
                  <a:schemeClr val="tx1"/>
                </a:solidFill>
                <a:effectLst/>
                <a:latin typeface="Ubuntu" panose="020B0504030602030204" pitchFamily="34" charset="0"/>
              </a:rPr>
              <a:t>disciplined approach</a:t>
            </a:r>
            <a:r>
              <a:rPr kumimoji="0" lang="en-US" altLang="en-US" sz="2000" b="0" i="0" u="none" strike="noStrike" cap="none" normalizeH="0" baseline="0" dirty="0">
                <a:ln>
                  <a:noFill/>
                </a:ln>
                <a:solidFill>
                  <a:schemeClr val="tx1"/>
                </a:solidFill>
                <a:effectLst/>
                <a:latin typeface="Ubuntu" panose="020B0504030602030204" pitchFamily="34" charset="0"/>
              </a:rPr>
              <a:t> to avoid a “big bang” scenario </a:t>
            </a:r>
          </a:p>
        </p:txBody>
      </p:sp>
    </p:spTree>
    <p:extLst>
      <p:ext uri="{BB962C8B-B14F-4D97-AF65-F5344CB8AC3E}">
        <p14:creationId xmlns:p14="http://schemas.microsoft.com/office/powerpoint/2010/main" val="1346173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55DA3-2315-440E-695E-AA06B19381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F4C167-E385-072D-9476-31D947E7A5EA}"/>
              </a:ext>
            </a:extLst>
          </p:cNvPr>
          <p:cNvSpPr>
            <a:spLocks noGrp="1"/>
          </p:cNvSpPr>
          <p:nvPr>
            <p:ph type="title"/>
          </p:nvPr>
        </p:nvSpPr>
        <p:spPr>
          <a:xfrm>
            <a:off x="838200" y="365126"/>
            <a:ext cx="10515600" cy="749572"/>
          </a:xfrm>
        </p:spPr>
        <p:txBody>
          <a:bodyPr/>
          <a:lstStyle/>
          <a:p>
            <a:r>
              <a:rPr lang="en-US" sz="3600" dirty="0"/>
              <a:t>Sandwich Testing</a:t>
            </a:r>
          </a:p>
        </p:txBody>
      </p:sp>
      <p:pic>
        <p:nvPicPr>
          <p:cNvPr id="4" name="Picture 3">
            <a:extLst>
              <a:ext uri="{FF2B5EF4-FFF2-40B4-BE49-F238E27FC236}">
                <a16:creationId xmlns:a16="http://schemas.microsoft.com/office/drawing/2014/main" id="{3C015061-9200-3C2D-C0AE-676175C1E640}"/>
              </a:ext>
            </a:extLst>
          </p:cNvPr>
          <p:cNvPicPr>
            <a:picLocks noChangeAspect="1"/>
          </p:cNvPicPr>
          <p:nvPr/>
        </p:nvPicPr>
        <p:blipFill>
          <a:blip r:embed="rId2"/>
          <a:stretch>
            <a:fillRect/>
          </a:stretch>
        </p:blipFill>
        <p:spPr>
          <a:xfrm>
            <a:off x="3047738" y="1296584"/>
            <a:ext cx="6096523" cy="4264831"/>
          </a:xfrm>
          <a:prstGeom prst="rect">
            <a:avLst/>
          </a:prstGeom>
        </p:spPr>
      </p:pic>
    </p:spTree>
    <p:extLst>
      <p:ext uri="{BB962C8B-B14F-4D97-AF65-F5344CB8AC3E}">
        <p14:creationId xmlns:p14="http://schemas.microsoft.com/office/powerpoint/2010/main" val="2283139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FBC6-65A2-D995-7ED7-6B2137AEB4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37CACC-EC94-C0B2-7131-E155A1A78B00}"/>
              </a:ext>
            </a:extLst>
          </p:cNvPr>
          <p:cNvSpPr>
            <a:spLocks noGrp="1"/>
          </p:cNvSpPr>
          <p:nvPr>
            <p:ph type="title"/>
          </p:nvPr>
        </p:nvSpPr>
        <p:spPr>
          <a:xfrm>
            <a:off x="838200" y="365126"/>
            <a:ext cx="10515600" cy="749572"/>
          </a:xfrm>
        </p:spPr>
        <p:txBody>
          <a:bodyPr/>
          <a:lstStyle/>
          <a:p>
            <a:r>
              <a:rPr lang="en-US" sz="3600" dirty="0"/>
              <a:t>Regression Testing</a:t>
            </a:r>
          </a:p>
        </p:txBody>
      </p:sp>
      <p:sp>
        <p:nvSpPr>
          <p:cNvPr id="5" name="TextBox 4">
            <a:extLst>
              <a:ext uri="{FF2B5EF4-FFF2-40B4-BE49-F238E27FC236}">
                <a16:creationId xmlns:a16="http://schemas.microsoft.com/office/drawing/2014/main" id="{5C20C0A5-44EB-4927-D544-D87695DBD551}"/>
              </a:ext>
            </a:extLst>
          </p:cNvPr>
          <p:cNvSpPr txBox="1"/>
          <p:nvPr/>
        </p:nvSpPr>
        <p:spPr>
          <a:xfrm>
            <a:off x="1585210" y="1472705"/>
            <a:ext cx="9327629" cy="3260444"/>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sz="2000" b="1" dirty="0">
                <a:latin typeface="Ubuntu" panose="020B0504030602030204" pitchFamily="34" charset="0"/>
              </a:rPr>
              <a:t>Definition:</a:t>
            </a:r>
            <a:r>
              <a:rPr lang="en-US" sz="2000" dirty="0">
                <a:latin typeface="Ubuntu" panose="020B0504030602030204" pitchFamily="34" charset="0"/>
              </a:rPr>
              <a:t> Re-execution of selected tests to ensure changes do not introduce unintended side effects </a:t>
            </a:r>
          </a:p>
          <a:p>
            <a:pPr marL="342900" indent="-342900">
              <a:lnSpc>
                <a:spcPct val="150000"/>
              </a:lnSpc>
              <a:buFont typeface="Wingdings" panose="05000000000000000000" pitchFamily="2" charset="2"/>
              <a:buChar char="q"/>
            </a:pPr>
            <a:r>
              <a:rPr lang="en-US" sz="2000" b="1" dirty="0">
                <a:latin typeface="Ubuntu" panose="020B0504030602030204" pitchFamily="34" charset="0"/>
              </a:rPr>
              <a:t>Purpose:</a:t>
            </a:r>
            <a:r>
              <a:rPr lang="en-US" sz="2000" dirty="0">
                <a:latin typeface="Ubuntu" panose="020B0504030602030204" pitchFamily="34" charset="0"/>
              </a:rPr>
              <a:t> Ensures that corrections or changes in software, documentation, or supporting data do not create new errors </a:t>
            </a:r>
          </a:p>
          <a:p>
            <a:pPr marL="342900" indent="-342900">
              <a:lnSpc>
                <a:spcPct val="150000"/>
              </a:lnSpc>
              <a:buFont typeface="Wingdings" panose="05000000000000000000" pitchFamily="2" charset="2"/>
              <a:buChar char="q"/>
            </a:pPr>
            <a:r>
              <a:rPr lang="en-US" sz="2000" b="1" dirty="0">
                <a:latin typeface="Ubuntu" panose="020B0504030602030204" pitchFamily="34" charset="0"/>
              </a:rPr>
              <a:t>Execution:</a:t>
            </a:r>
            <a:r>
              <a:rPr lang="en-US" sz="2000" dirty="0">
                <a:latin typeface="Ubuntu" panose="020B0504030602030204" pitchFamily="34" charset="0"/>
              </a:rPr>
              <a:t> </a:t>
            </a:r>
          </a:p>
          <a:p>
            <a:pPr marL="800100" lvl="1" indent="-342900">
              <a:lnSpc>
                <a:spcPct val="150000"/>
              </a:lnSpc>
              <a:buFont typeface="Wingdings" panose="05000000000000000000" pitchFamily="2" charset="2"/>
              <a:buChar char="q"/>
            </a:pPr>
            <a:r>
              <a:rPr lang="en-US" sz="2000" dirty="0">
                <a:latin typeface="Ubuntu" panose="020B0504030602030204" pitchFamily="34" charset="0"/>
              </a:rPr>
              <a:t>Can be conducted </a:t>
            </a:r>
            <a:r>
              <a:rPr lang="en-US" sz="2000" b="1" dirty="0">
                <a:latin typeface="Ubuntu" panose="020B0504030602030204" pitchFamily="34" charset="0"/>
              </a:rPr>
              <a:t>manually</a:t>
            </a:r>
            <a:r>
              <a:rPr lang="en-US" sz="2000" dirty="0">
                <a:latin typeface="Ubuntu" panose="020B0504030602030204" pitchFamily="34" charset="0"/>
              </a:rPr>
              <a:t> by re-running a subset of test cases </a:t>
            </a:r>
          </a:p>
          <a:p>
            <a:pPr marL="800100" lvl="1" indent="-342900">
              <a:lnSpc>
                <a:spcPct val="150000"/>
              </a:lnSpc>
              <a:buFont typeface="Wingdings" panose="05000000000000000000" pitchFamily="2" charset="2"/>
              <a:buChar char="q"/>
            </a:pPr>
            <a:r>
              <a:rPr lang="en-US" sz="2000" dirty="0">
                <a:latin typeface="Ubuntu" panose="020B0504030602030204" pitchFamily="34" charset="0"/>
              </a:rPr>
              <a:t>Can use </a:t>
            </a:r>
            <a:r>
              <a:rPr lang="en-US" sz="2000" b="1" dirty="0">
                <a:latin typeface="Ubuntu" panose="020B0504030602030204" pitchFamily="34" charset="0"/>
              </a:rPr>
              <a:t>automated capture/playback tools</a:t>
            </a:r>
            <a:r>
              <a:rPr lang="en-US" sz="2000" dirty="0">
                <a:latin typeface="Ubuntu" panose="020B0504030602030204" pitchFamily="34" charset="0"/>
              </a:rPr>
              <a:t> for efficiency </a:t>
            </a:r>
          </a:p>
        </p:txBody>
      </p:sp>
    </p:spTree>
    <p:extLst>
      <p:ext uri="{BB962C8B-B14F-4D97-AF65-F5344CB8AC3E}">
        <p14:creationId xmlns:p14="http://schemas.microsoft.com/office/powerpoint/2010/main" val="3951502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7CB0-1819-2694-6A79-03989ADB19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412641-8126-E95A-1DAF-07C199DA3C18}"/>
              </a:ext>
            </a:extLst>
          </p:cNvPr>
          <p:cNvSpPr>
            <a:spLocks noGrp="1"/>
          </p:cNvSpPr>
          <p:nvPr>
            <p:ph type="title"/>
          </p:nvPr>
        </p:nvSpPr>
        <p:spPr>
          <a:xfrm>
            <a:off x="838200" y="365126"/>
            <a:ext cx="10515600" cy="749572"/>
          </a:xfrm>
        </p:spPr>
        <p:txBody>
          <a:bodyPr/>
          <a:lstStyle/>
          <a:p>
            <a:r>
              <a:rPr lang="en-US" sz="3600" dirty="0"/>
              <a:t>Smoke Testing</a:t>
            </a:r>
          </a:p>
        </p:txBody>
      </p:sp>
      <p:sp>
        <p:nvSpPr>
          <p:cNvPr id="7" name="TextBox 6">
            <a:extLst>
              <a:ext uri="{FF2B5EF4-FFF2-40B4-BE49-F238E27FC236}">
                <a16:creationId xmlns:a16="http://schemas.microsoft.com/office/drawing/2014/main" id="{84B0DB6B-A3FD-CBA1-9829-1CC993652545}"/>
              </a:ext>
            </a:extLst>
          </p:cNvPr>
          <p:cNvSpPr txBox="1"/>
          <p:nvPr/>
        </p:nvSpPr>
        <p:spPr>
          <a:xfrm>
            <a:off x="1477155" y="1114698"/>
            <a:ext cx="9237689" cy="5107104"/>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Daily Builds:</a:t>
            </a:r>
            <a:r>
              <a:rPr kumimoji="0" lang="en-US" altLang="en-US" sz="2000" b="0" i="0" u="none" strike="noStrike" cap="none" normalizeH="0" baseline="0" dirty="0">
                <a:ln>
                  <a:noFill/>
                </a:ln>
                <a:solidFill>
                  <a:schemeClr val="tx1"/>
                </a:solidFill>
                <a:effectLst/>
                <a:latin typeface="Ubuntu" panose="020B0504030602030204" pitchFamily="34" charset="0"/>
              </a:rPr>
              <a:t> A common approach to assemble product software regularly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Smoke Testing Steps:</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Integrate translated software components into a </a:t>
            </a:r>
            <a:r>
              <a:rPr kumimoji="0" lang="en-US" altLang="en-US" sz="2000" b="1" i="0" u="none" strike="noStrike" cap="none" normalizeH="0" baseline="0" dirty="0">
                <a:ln>
                  <a:noFill/>
                </a:ln>
                <a:solidFill>
                  <a:schemeClr val="tx1"/>
                </a:solidFill>
                <a:effectLst/>
                <a:latin typeface="Ubuntu" panose="020B0504030602030204" pitchFamily="34" charset="0"/>
              </a:rPr>
              <a:t>build</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Build includes all </a:t>
            </a:r>
            <a:r>
              <a:rPr kumimoji="0" lang="en-US" altLang="en-US" sz="2000" b="1" i="0" u="none" strike="noStrike" cap="none" normalizeH="0" baseline="0" dirty="0">
                <a:ln>
                  <a:noFill/>
                </a:ln>
                <a:solidFill>
                  <a:schemeClr val="tx1"/>
                </a:solidFill>
                <a:effectLst/>
                <a:latin typeface="Ubuntu" panose="020B0504030602030204" pitchFamily="34" charset="0"/>
              </a:rPr>
              <a:t>data files, libraries, reusable modules, and engineered components</a:t>
            </a:r>
            <a:r>
              <a:rPr kumimoji="0" lang="en-US" altLang="en-US" sz="2000" b="0" i="0" u="none" strike="noStrike" cap="none" normalizeH="0" baseline="0" dirty="0">
                <a:ln>
                  <a:noFill/>
                </a:ln>
                <a:solidFill>
                  <a:schemeClr val="tx1"/>
                </a:solidFill>
                <a:effectLst/>
                <a:latin typeface="Ubuntu" panose="020B0504030602030204" pitchFamily="34" charset="0"/>
              </a:rPr>
              <a:t> needed for product functions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Conduct tests designed to </a:t>
            </a:r>
            <a:r>
              <a:rPr kumimoji="0" lang="en-US" altLang="en-US" sz="2000" b="1" i="0" u="none" strike="noStrike" cap="none" normalizeH="0" baseline="0" dirty="0">
                <a:ln>
                  <a:noFill/>
                </a:ln>
                <a:solidFill>
                  <a:schemeClr val="tx1"/>
                </a:solidFill>
                <a:effectLst/>
                <a:latin typeface="Ubuntu" panose="020B0504030602030204" pitchFamily="34" charset="0"/>
              </a:rPr>
              <a:t>expose errors</a:t>
            </a:r>
            <a:r>
              <a:rPr kumimoji="0" lang="en-US" altLang="en-US" sz="2000" b="0" i="0" u="none" strike="noStrike" cap="none" normalizeH="0" baseline="0" dirty="0">
                <a:ln>
                  <a:noFill/>
                </a:ln>
                <a:solidFill>
                  <a:schemeClr val="tx1"/>
                </a:solidFill>
                <a:effectLst/>
                <a:latin typeface="Ubuntu" panose="020B0504030602030204" pitchFamily="34" charset="0"/>
              </a:rPr>
              <a:t> that prevent the build from functioning correctly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Focus on uncovering </a:t>
            </a:r>
            <a:r>
              <a:rPr kumimoji="0" lang="en-US" altLang="en-US" sz="2000" b="1" i="0" u="none" strike="noStrike" cap="none" normalizeH="0" baseline="0" dirty="0">
                <a:ln>
                  <a:noFill/>
                </a:ln>
                <a:solidFill>
                  <a:schemeClr val="tx1"/>
                </a:solidFill>
                <a:effectLst/>
                <a:latin typeface="Ubuntu" panose="020B0504030602030204" pitchFamily="34" charset="0"/>
              </a:rPr>
              <a:t>“show stopper” errors</a:t>
            </a:r>
            <a:r>
              <a:rPr kumimoji="0" lang="en-US" altLang="en-US" sz="2000" b="0" i="0" u="none" strike="noStrike" cap="none" normalizeH="0" baseline="0" dirty="0">
                <a:ln>
                  <a:noFill/>
                </a:ln>
                <a:solidFill>
                  <a:schemeClr val="tx1"/>
                </a:solidFill>
                <a:effectLst/>
                <a:latin typeface="Ubuntu" panose="020B0504030602030204" pitchFamily="34" charset="0"/>
              </a:rPr>
              <a:t> that could delay the project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Integrated builds are </a:t>
            </a:r>
            <a:r>
              <a:rPr kumimoji="0" lang="en-US" altLang="en-US" sz="2000" b="1" i="0" u="none" strike="noStrike" cap="none" normalizeH="0" baseline="0" dirty="0">
                <a:ln>
                  <a:noFill/>
                </a:ln>
                <a:solidFill>
                  <a:schemeClr val="tx1"/>
                </a:solidFill>
                <a:effectLst/>
                <a:latin typeface="Ubuntu" panose="020B0504030602030204" pitchFamily="34" charset="0"/>
              </a:rPr>
              <a:t>smoke tested daily</a:t>
            </a:r>
            <a:r>
              <a:rPr kumimoji="0" lang="en-US" altLang="en-US" sz="2000" b="0" i="0" u="none" strike="noStrike" cap="none" normalizeH="0" baseline="0" dirty="0">
                <a:ln>
                  <a:noFill/>
                </a:ln>
                <a:solidFill>
                  <a:schemeClr val="tx1"/>
                </a:solidFill>
                <a:effectLst/>
                <a:latin typeface="Ubuntu" panose="020B0504030602030204" pitchFamily="34" charset="0"/>
              </a:rPr>
              <a:t> as part of the full product </a:t>
            </a:r>
          </a:p>
          <a:p>
            <a:pPr marL="800100" lvl="1" indent="-342900" eaLnBrk="0" fontAlgn="base" hangingPunct="0">
              <a:lnSpc>
                <a:spcPct val="150000"/>
              </a:lnSpc>
              <a:spcBef>
                <a:spcPct val="0"/>
              </a:spcBef>
              <a:spcAft>
                <a:spcPct val="0"/>
              </a:spcAft>
              <a:buFont typeface="Wingdings" panose="05000000000000000000" pitchFamily="2" charset="2"/>
              <a:buChar char="q"/>
            </a:pPr>
            <a:r>
              <a:rPr kumimoji="0" lang="en-US" altLang="en-US" sz="2000" b="0" i="0" u="none" strike="noStrike" cap="none" normalizeH="0" baseline="0" dirty="0">
                <a:ln>
                  <a:noFill/>
                </a:ln>
                <a:solidFill>
                  <a:schemeClr val="tx1"/>
                </a:solidFill>
                <a:effectLst/>
                <a:latin typeface="Ubuntu" panose="020B0504030602030204" pitchFamily="34" charset="0"/>
              </a:rPr>
              <a:t>Integration can follow </a:t>
            </a:r>
            <a:r>
              <a:rPr kumimoji="0" lang="en-US" altLang="en-US" sz="2000" b="1" i="0" u="none" strike="noStrike" cap="none" normalizeH="0" baseline="0" dirty="0">
                <a:ln>
                  <a:noFill/>
                </a:ln>
                <a:solidFill>
                  <a:schemeClr val="tx1"/>
                </a:solidFill>
                <a:effectLst/>
                <a:latin typeface="Ubuntu" panose="020B0504030602030204" pitchFamily="34" charset="0"/>
              </a:rPr>
              <a:t>top-down or bottom-up</a:t>
            </a:r>
            <a:r>
              <a:rPr kumimoji="0" lang="en-US" altLang="en-US" sz="2000" b="0" i="0" u="none" strike="noStrike" cap="none" normalizeH="0" baseline="0" dirty="0">
                <a:ln>
                  <a:noFill/>
                </a:ln>
                <a:solidFill>
                  <a:schemeClr val="tx1"/>
                </a:solidFill>
                <a:effectLst/>
                <a:latin typeface="Ubuntu" panose="020B0504030602030204" pitchFamily="34" charset="0"/>
              </a:rPr>
              <a:t> approach</a:t>
            </a:r>
          </a:p>
        </p:txBody>
      </p:sp>
    </p:spTree>
    <p:extLst>
      <p:ext uri="{BB962C8B-B14F-4D97-AF65-F5344CB8AC3E}">
        <p14:creationId xmlns:p14="http://schemas.microsoft.com/office/powerpoint/2010/main" val="1372761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CE12-4287-6B35-5059-9331A4E2BA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D960B4-D067-C480-898B-DC4FE033B392}"/>
              </a:ext>
            </a:extLst>
          </p:cNvPr>
          <p:cNvSpPr>
            <a:spLocks noGrp="1"/>
          </p:cNvSpPr>
          <p:nvPr>
            <p:ph type="title"/>
          </p:nvPr>
        </p:nvSpPr>
        <p:spPr>
          <a:xfrm>
            <a:off x="838200" y="365126"/>
            <a:ext cx="10515600" cy="749572"/>
          </a:xfrm>
        </p:spPr>
        <p:txBody>
          <a:bodyPr/>
          <a:lstStyle/>
          <a:p>
            <a:r>
              <a:rPr lang="en-US" sz="3600" dirty="0"/>
              <a:t>Smoke Testing</a:t>
            </a:r>
          </a:p>
        </p:txBody>
      </p:sp>
      <p:pic>
        <p:nvPicPr>
          <p:cNvPr id="4" name="Picture 3">
            <a:extLst>
              <a:ext uri="{FF2B5EF4-FFF2-40B4-BE49-F238E27FC236}">
                <a16:creationId xmlns:a16="http://schemas.microsoft.com/office/drawing/2014/main" id="{6A8224D6-01C8-53DC-5CAA-CC4A4DBB2CD5}"/>
              </a:ext>
            </a:extLst>
          </p:cNvPr>
          <p:cNvPicPr>
            <a:picLocks noChangeAspect="1"/>
          </p:cNvPicPr>
          <p:nvPr/>
        </p:nvPicPr>
        <p:blipFill>
          <a:blip r:embed="rId3"/>
          <a:stretch>
            <a:fillRect/>
          </a:stretch>
        </p:blipFill>
        <p:spPr>
          <a:xfrm>
            <a:off x="2022531" y="1464893"/>
            <a:ext cx="8146938" cy="3928213"/>
          </a:xfrm>
          <a:prstGeom prst="rect">
            <a:avLst/>
          </a:prstGeom>
        </p:spPr>
      </p:pic>
    </p:spTree>
    <p:extLst>
      <p:ext uri="{BB962C8B-B14F-4D97-AF65-F5344CB8AC3E}">
        <p14:creationId xmlns:p14="http://schemas.microsoft.com/office/powerpoint/2010/main" val="1701277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6A5FE-9F6A-7A20-C0DD-9960E0E39F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57D3F9-ABCF-6A83-5375-93910D0EC872}"/>
              </a:ext>
            </a:extLst>
          </p:cNvPr>
          <p:cNvSpPr>
            <a:spLocks noGrp="1"/>
          </p:cNvSpPr>
          <p:nvPr>
            <p:ph type="title"/>
          </p:nvPr>
        </p:nvSpPr>
        <p:spPr>
          <a:xfrm>
            <a:off x="838200" y="365126"/>
            <a:ext cx="10515600" cy="749572"/>
          </a:xfrm>
        </p:spPr>
        <p:txBody>
          <a:bodyPr/>
          <a:lstStyle/>
          <a:p>
            <a:r>
              <a:rPr lang="en-US" sz="3600" dirty="0"/>
              <a:t>Benefits of Smoke Testing</a:t>
            </a:r>
          </a:p>
        </p:txBody>
      </p:sp>
      <p:sp>
        <p:nvSpPr>
          <p:cNvPr id="6" name="TextBox 5">
            <a:extLst>
              <a:ext uri="{FF2B5EF4-FFF2-40B4-BE49-F238E27FC236}">
                <a16:creationId xmlns:a16="http://schemas.microsoft.com/office/drawing/2014/main" id="{482481FC-732C-41FA-3973-E73C90150D70}"/>
              </a:ext>
            </a:extLst>
          </p:cNvPr>
          <p:cNvSpPr txBox="1"/>
          <p:nvPr/>
        </p:nvSpPr>
        <p:spPr>
          <a:xfrm>
            <a:off x="1226820" y="1337113"/>
            <a:ext cx="9738360" cy="4183774"/>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Minimizes integration risk</a:t>
            </a:r>
            <a:r>
              <a:rPr kumimoji="0" lang="en-US" altLang="en-US" sz="2000" b="0" i="0" u="none" strike="noStrike" cap="none" normalizeH="0" baseline="0" dirty="0">
                <a:ln>
                  <a:noFill/>
                </a:ln>
                <a:solidFill>
                  <a:schemeClr val="tx1"/>
                </a:solidFill>
                <a:effectLst/>
                <a:latin typeface="Ubuntu" panose="020B0504030602030204" pitchFamily="34" charset="0"/>
              </a:rPr>
              <a:t> by catching issues early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Early detection</a:t>
            </a:r>
            <a:r>
              <a:rPr kumimoji="0" lang="en-US" altLang="en-US" sz="2000" b="0" i="0" u="none" strike="noStrike" cap="none" normalizeH="0" baseline="0" dirty="0">
                <a:ln>
                  <a:noFill/>
                </a:ln>
                <a:solidFill>
                  <a:schemeClr val="tx1"/>
                </a:solidFill>
                <a:effectLst/>
                <a:latin typeface="Ubuntu" panose="020B0504030602030204" pitchFamily="34" charset="0"/>
              </a:rPr>
              <a:t> of incompatibilities and show-stopper errors reduces schedule impact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Improves overall product quality</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Uncovers errors</a:t>
            </a:r>
            <a:r>
              <a:rPr kumimoji="0" lang="en-US" altLang="en-US" sz="2000" b="0" i="0" u="none" strike="noStrike" cap="none" normalizeH="0" baseline="0" dirty="0">
                <a:ln>
                  <a:noFill/>
                </a:ln>
                <a:solidFill>
                  <a:schemeClr val="tx1"/>
                </a:solidFill>
                <a:effectLst/>
                <a:latin typeface="Ubuntu" panose="020B0504030602030204" pitchFamily="34" charset="0"/>
              </a:rPr>
              <a:t> at functional, architectural, and component levels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Simplifies error diagnosis and correction</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Ubuntu" panose="020B0504030602030204" pitchFamily="34" charset="0"/>
              </a:rPr>
              <a:t>Likely to reveal errors in the </a:t>
            </a:r>
            <a:r>
              <a:rPr kumimoji="0" lang="en-US" altLang="en-US" sz="2000" b="1" i="0" u="none" strike="noStrike" cap="none" normalizeH="0" baseline="0" dirty="0">
                <a:ln>
                  <a:noFill/>
                </a:ln>
                <a:solidFill>
                  <a:schemeClr val="tx1"/>
                </a:solidFill>
                <a:effectLst/>
                <a:latin typeface="Ubuntu" panose="020B0504030602030204" pitchFamily="34" charset="0"/>
              </a:rPr>
              <a:t>newest integrated components</a:t>
            </a:r>
            <a:r>
              <a:rPr kumimoji="0" lang="en-US" altLang="en-US" sz="2000" b="0" i="0" u="none" strike="noStrike" cap="none" normalizeH="0" baseline="0" dirty="0">
                <a:ln>
                  <a:noFill/>
                </a:ln>
                <a:solidFill>
                  <a:schemeClr val="tx1"/>
                </a:solidFill>
                <a:effectLst/>
                <a:latin typeface="Ubuntu" panose="020B0504030602030204" pitchFamily="34" charset="0"/>
              </a:rPr>
              <a:t>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Easier progress assessment</a:t>
            </a:r>
            <a:r>
              <a:rPr kumimoji="0" lang="en-US" altLang="en-US" sz="2000" b="0" i="0" u="none" strike="noStrike" cap="none" normalizeH="0" baseline="0" dirty="0">
                <a:ln>
                  <a:noFill/>
                </a:ln>
                <a:solidFill>
                  <a:schemeClr val="tx1"/>
                </a:solidFill>
                <a:effectLst/>
                <a:latin typeface="Ubuntu" panose="020B0504030602030204" pitchFamily="34" charset="0"/>
              </a:rPr>
              <a:t> as more software is integrated and verified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Ubuntu" panose="020B0504030602030204" pitchFamily="34" charset="0"/>
              </a:rPr>
              <a:t>Managers gain visibility</a:t>
            </a:r>
            <a:r>
              <a:rPr kumimoji="0" lang="en-US" altLang="en-US" sz="2000" b="0" i="0" u="none" strike="noStrike" cap="none" normalizeH="0" baseline="0" dirty="0">
                <a:ln>
                  <a:noFill/>
                </a:ln>
                <a:solidFill>
                  <a:schemeClr val="tx1"/>
                </a:solidFill>
                <a:effectLst/>
                <a:latin typeface="Ubuntu" panose="020B0504030602030204" pitchFamily="34" charset="0"/>
              </a:rPr>
              <a:t> into project advancement </a:t>
            </a:r>
          </a:p>
        </p:txBody>
      </p:sp>
    </p:spTree>
    <p:extLst>
      <p:ext uri="{BB962C8B-B14F-4D97-AF65-F5344CB8AC3E}">
        <p14:creationId xmlns:p14="http://schemas.microsoft.com/office/powerpoint/2010/main" val="2270516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95C7-FCA7-6596-832E-BB5EED70D2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51AF80-8C2E-A6A4-B987-866C4F3A425C}"/>
              </a:ext>
            </a:extLst>
          </p:cNvPr>
          <p:cNvSpPr>
            <a:spLocks noGrp="1"/>
          </p:cNvSpPr>
          <p:nvPr>
            <p:ph type="title"/>
          </p:nvPr>
        </p:nvSpPr>
        <p:spPr>
          <a:xfrm>
            <a:off x="838200" y="365126"/>
            <a:ext cx="10515600" cy="749572"/>
          </a:xfrm>
        </p:spPr>
        <p:txBody>
          <a:bodyPr/>
          <a:lstStyle/>
          <a:p>
            <a:r>
              <a:rPr lang="en-US" sz="3600" dirty="0"/>
              <a:t>Test Strategies for Object-Oriented Software</a:t>
            </a:r>
          </a:p>
        </p:txBody>
      </p:sp>
      <p:sp>
        <p:nvSpPr>
          <p:cNvPr id="6" name="TextBox 5">
            <a:extLst>
              <a:ext uri="{FF2B5EF4-FFF2-40B4-BE49-F238E27FC236}">
                <a16:creationId xmlns:a16="http://schemas.microsoft.com/office/drawing/2014/main" id="{A31B5E88-04CC-A2E4-0844-EC2C70AF57E8}"/>
              </a:ext>
            </a:extLst>
          </p:cNvPr>
          <p:cNvSpPr txBox="1"/>
          <p:nvPr/>
        </p:nvSpPr>
        <p:spPr>
          <a:xfrm>
            <a:off x="1226820" y="1337113"/>
            <a:ext cx="9738360" cy="3260444"/>
          </a:xfrm>
          <a:prstGeom prst="rect">
            <a:avLst/>
          </a:prstGeom>
          <a:noFill/>
        </p:spPr>
        <p:txBody>
          <a:bodyPr wrap="square">
            <a:spAutoFit/>
          </a:bodyPr>
          <a:lstStyle/>
          <a:p>
            <a:pPr marL="342900" lvl="0" indent="-342900" eaLnBrk="0" fontAlgn="base" hangingPunct="0">
              <a:lnSpc>
                <a:spcPct val="150000"/>
              </a:lnSpc>
              <a:spcBef>
                <a:spcPct val="0"/>
              </a:spcBef>
              <a:spcAft>
                <a:spcPct val="0"/>
              </a:spcAft>
              <a:buFont typeface="Wingdings" panose="05000000000000000000" pitchFamily="2" charset="2"/>
              <a:buChar char="q"/>
            </a:pPr>
            <a:r>
              <a:rPr lang="en-US" altLang="en-US" sz="2000" dirty="0">
                <a:latin typeface="Ubuntu" panose="020B0504030602030204" pitchFamily="34" charset="0"/>
              </a:rPr>
              <a:t>With object-oriented software, you can no longer test a single operation in isolation (conventional thinking)</a:t>
            </a:r>
          </a:p>
          <a:p>
            <a:pPr marL="342900" lvl="0" indent="-342900" eaLnBrk="0" fontAlgn="base" hangingPunct="0">
              <a:lnSpc>
                <a:spcPct val="150000"/>
              </a:lnSpc>
              <a:spcBef>
                <a:spcPct val="0"/>
              </a:spcBef>
              <a:spcAft>
                <a:spcPct val="0"/>
              </a:spcAft>
              <a:buFont typeface="Wingdings" panose="05000000000000000000" pitchFamily="2" charset="2"/>
              <a:buChar char="q"/>
            </a:pPr>
            <a:r>
              <a:rPr lang="en-US" altLang="en-US" sz="2000" dirty="0">
                <a:latin typeface="Ubuntu" panose="020B0504030602030204" pitchFamily="34" charset="0"/>
              </a:rPr>
              <a:t>Traditional top-down or bottom-up integration testing has little meaning</a:t>
            </a:r>
          </a:p>
          <a:p>
            <a:pPr marL="342900" lvl="0" indent="-342900" eaLnBrk="0" fontAlgn="base" hangingPunct="0">
              <a:lnSpc>
                <a:spcPct val="150000"/>
              </a:lnSpc>
              <a:spcBef>
                <a:spcPct val="0"/>
              </a:spcBef>
              <a:spcAft>
                <a:spcPct val="0"/>
              </a:spcAft>
              <a:buFont typeface="Wingdings" panose="05000000000000000000" pitchFamily="2" charset="2"/>
              <a:buChar char="q"/>
            </a:pPr>
            <a:r>
              <a:rPr lang="en-US" altLang="en-US" sz="2000" dirty="0">
                <a:latin typeface="Ubuntu" panose="020B0504030602030204" pitchFamily="34" charset="0"/>
              </a:rPr>
              <a:t>Class testing for object-oriented software is the equivalent of unit testing for conventional software</a:t>
            </a:r>
          </a:p>
          <a:p>
            <a:pPr marL="342900" lvl="0" indent="-342900" eaLnBrk="0" fontAlgn="base" hangingPunct="0">
              <a:lnSpc>
                <a:spcPct val="150000"/>
              </a:lnSpc>
              <a:spcBef>
                <a:spcPct val="0"/>
              </a:spcBef>
              <a:spcAft>
                <a:spcPct val="0"/>
              </a:spcAft>
              <a:buFont typeface="Wingdings" panose="05000000000000000000" pitchFamily="2" charset="2"/>
              <a:buChar char="q"/>
            </a:pPr>
            <a:r>
              <a:rPr lang="en-US" altLang="en-US" sz="2000" dirty="0">
                <a:latin typeface="Ubuntu" panose="020B0504030602030204" pitchFamily="34" charset="0"/>
              </a:rPr>
              <a:t>Focuses on operations encapsulated by the class and the state behavior of the class</a:t>
            </a:r>
            <a:endParaRPr kumimoji="0" lang="en-US" altLang="en-US" sz="2000" i="0" u="none" strike="noStrike" cap="none" normalizeH="0" baseline="0" dirty="0">
              <a:ln>
                <a:noFill/>
              </a:ln>
              <a:solidFill>
                <a:schemeClr val="tx1"/>
              </a:solidFill>
              <a:effectLst/>
              <a:latin typeface="Ubuntu" panose="020B0504030602030204" pitchFamily="34" charset="0"/>
            </a:endParaRPr>
          </a:p>
        </p:txBody>
      </p:sp>
    </p:spTree>
    <p:extLst>
      <p:ext uri="{BB962C8B-B14F-4D97-AF65-F5344CB8AC3E}">
        <p14:creationId xmlns:p14="http://schemas.microsoft.com/office/powerpoint/2010/main" val="7637699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A7276-5941-25FE-F929-13CF6B41F3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044909-8E17-178E-BE0C-D8B08A57C28C}"/>
              </a:ext>
            </a:extLst>
          </p:cNvPr>
          <p:cNvSpPr>
            <a:spLocks noGrp="1"/>
          </p:cNvSpPr>
          <p:nvPr>
            <p:ph type="title"/>
          </p:nvPr>
        </p:nvSpPr>
        <p:spPr>
          <a:xfrm>
            <a:off x="838200" y="365126"/>
            <a:ext cx="10515600" cy="749572"/>
          </a:xfrm>
        </p:spPr>
        <p:txBody>
          <a:bodyPr/>
          <a:lstStyle/>
          <a:p>
            <a:r>
              <a:rPr lang="en-US" sz="3600" dirty="0"/>
              <a:t>Test Strategies for Object-Oriented Software</a:t>
            </a:r>
          </a:p>
        </p:txBody>
      </p:sp>
      <p:sp>
        <p:nvSpPr>
          <p:cNvPr id="6" name="TextBox 5">
            <a:extLst>
              <a:ext uri="{FF2B5EF4-FFF2-40B4-BE49-F238E27FC236}">
                <a16:creationId xmlns:a16="http://schemas.microsoft.com/office/drawing/2014/main" id="{F222E105-4582-1492-A1D3-77A1B1DFDCE0}"/>
              </a:ext>
            </a:extLst>
          </p:cNvPr>
          <p:cNvSpPr txBox="1"/>
          <p:nvPr/>
        </p:nvSpPr>
        <p:spPr>
          <a:xfrm>
            <a:off x="1226820" y="1337113"/>
            <a:ext cx="9738360" cy="3785652"/>
          </a:xfrm>
          <a:prstGeom prst="rect">
            <a:avLst/>
          </a:prstGeom>
          <a:noFill/>
        </p:spPr>
        <p:txBody>
          <a:bodyPr wrap="square">
            <a:spAutoFit/>
          </a:bodyPr>
          <a:lstStyle/>
          <a:p>
            <a:r>
              <a:rPr lang="en-US" sz="2400" b="1" dirty="0">
                <a:latin typeface="Ubuntu" panose="020B0504030602030204" pitchFamily="34" charset="0"/>
              </a:rPr>
              <a:t>Drivers</a:t>
            </a:r>
            <a:r>
              <a:rPr lang="en-US" sz="2400" dirty="0">
                <a:latin typeface="Ubuntu" panose="020B0504030602030204" pitchFamily="34" charset="0"/>
              </a:rPr>
              <a:t> can be used</a:t>
            </a:r>
            <a:br>
              <a:rPr lang="en-US" sz="2400" dirty="0">
                <a:latin typeface="Ubuntu" panose="020B0504030602030204" pitchFamily="34" charset="0"/>
              </a:rPr>
            </a:br>
            <a:r>
              <a:rPr lang="en-US" sz="2400" dirty="0">
                <a:latin typeface="Ubuntu" panose="020B0504030602030204" pitchFamily="34" charset="0"/>
              </a:rPr>
              <a:t>• To test operations at the lowest level and for testing whole groups of classes</a:t>
            </a:r>
            <a:br>
              <a:rPr lang="en-US" sz="2400" dirty="0">
                <a:latin typeface="Ubuntu" panose="020B0504030602030204" pitchFamily="34" charset="0"/>
              </a:rPr>
            </a:br>
            <a:r>
              <a:rPr lang="en-US" sz="2400" dirty="0">
                <a:latin typeface="Ubuntu" panose="020B0504030602030204" pitchFamily="34" charset="0"/>
              </a:rPr>
              <a:t>• To replace the user interface so that tests of system functionality can be conducted prior to implementation of the actual interface</a:t>
            </a:r>
          </a:p>
          <a:p>
            <a:endParaRPr lang="en-US" sz="2400" dirty="0">
              <a:latin typeface="Ubuntu" panose="020B0504030602030204" pitchFamily="34" charset="0"/>
            </a:endParaRPr>
          </a:p>
          <a:p>
            <a:r>
              <a:rPr lang="en-US" sz="2400" b="1" dirty="0">
                <a:latin typeface="Ubuntu" panose="020B0504030602030204" pitchFamily="34" charset="0"/>
              </a:rPr>
              <a:t>Stubs</a:t>
            </a:r>
            <a:r>
              <a:rPr lang="en-US" sz="2400" dirty="0">
                <a:latin typeface="Ubuntu" panose="020B0504030602030204" pitchFamily="34" charset="0"/>
              </a:rPr>
              <a:t> can be used</a:t>
            </a:r>
            <a:br>
              <a:rPr lang="en-US" sz="2400" dirty="0">
                <a:latin typeface="Ubuntu" panose="020B0504030602030204" pitchFamily="34" charset="0"/>
              </a:rPr>
            </a:br>
            <a:r>
              <a:rPr lang="en-US" sz="2400" dirty="0">
                <a:latin typeface="Ubuntu" panose="020B0504030602030204" pitchFamily="34" charset="0"/>
              </a:rPr>
              <a:t>• In situations in which collaboration between classes is required but one or more of the collaborating classes has not yet been fully implemented</a:t>
            </a:r>
          </a:p>
        </p:txBody>
      </p:sp>
    </p:spTree>
    <p:extLst>
      <p:ext uri="{BB962C8B-B14F-4D97-AF65-F5344CB8AC3E}">
        <p14:creationId xmlns:p14="http://schemas.microsoft.com/office/powerpoint/2010/main" val="19424862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466F6-1439-55A0-3229-CF3AA54A69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218116-10EE-11BB-0F84-97CE41A8A43F}"/>
              </a:ext>
            </a:extLst>
          </p:cNvPr>
          <p:cNvSpPr>
            <a:spLocks noGrp="1"/>
          </p:cNvSpPr>
          <p:nvPr>
            <p:ph type="title"/>
          </p:nvPr>
        </p:nvSpPr>
        <p:spPr>
          <a:xfrm>
            <a:off x="838200" y="365126"/>
            <a:ext cx="10515600" cy="749572"/>
          </a:xfrm>
        </p:spPr>
        <p:txBody>
          <a:bodyPr/>
          <a:lstStyle/>
          <a:p>
            <a:r>
              <a:rPr lang="en-US" sz="3600" dirty="0"/>
              <a:t>Test Strategies for Object-Oriented Software</a:t>
            </a:r>
          </a:p>
        </p:txBody>
      </p:sp>
      <p:sp>
        <p:nvSpPr>
          <p:cNvPr id="7" name="TextBox 6">
            <a:extLst>
              <a:ext uri="{FF2B5EF4-FFF2-40B4-BE49-F238E27FC236}">
                <a16:creationId xmlns:a16="http://schemas.microsoft.com/office/drawing/2014/main" id="{A887689A-0F23-9368-D337-42DFB64D7581}"/>
              </a:ext>
            </a:extLst>
          </p:cNvPr>
          <p:cNvSpPr txBox="1"/>
          <p:nvPr/>
        </p:nvSpPr>
        <p:spPr>
          <a:xfrm>
            <a:off x="1590367" y="924105"/>
            <a:ext cx="9333271" cy="5568769"/>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Ubuntu" panose="020B0504030602030204" pitchFamily="34" charset="0"/>
              </a:rPr>
              <a:t>Two different object-oriented testing strategies</a:t>
            </a:r>
            <a:endParaRPr kumimoji="0" lang="en-US" altLang="en-US" sz="2000" b="0" i="0" u="none" strike="noStrike" cap="none" normalizeH="0" baseline="0" dirty="0">
              <a:ln>
                <a:noFill/>
              </a:ln>
              <a:solidFill>
                <a:schemeClr val="tx1"/>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Ubuntu" panose="020B0504030602030204" pitchFamily="34" charset="0"/>
              </a:rPr>
              <a:t>Thread-based testing</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Integrates the set of classes required to respond to one input or event for the system</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Each thread is integrated and tested individually</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Regression testing is applied to ensure that no side effects occur</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Ubuntu" panose="020B050403060203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Ubuntu" panose="020B0504030602030204" pitchFamily="34" charset="0"/>
              </a:rPr>
              <a:t>Use-based testing</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First tests the independent classes that use very few, if any, server classes</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Then the next layer of classes, called dependent classes, are integrated</a:t>
            </a:r>
            <a:br>
              <a:rPr kumimoji="0" lang="en-US" altLang="en-US" sz="2000" b="0" i="0" u="none" strike="noStrike" cap="none" normalizeH="0" baseline="0" dirty="0">
                <a:ln>
                  <a:noFill/>
                </a:ln>
                <a:solidFill>
                  <a:schemeClr val="tx1"/>
                </a:solidFill>
                <a:effectLst/>
                <a:latin typeface="Ubuntu" panose="020B0504030602030204" pitchFamily="34" charset="0"/>
              </a:rPr>
            </a:br>
            <a:r>
              <a:rPr kumimoji="0" lang="en-US" altLang="en-US" sz="2000" b="0" i="0" u="none" strike="noStrike" cap="none" normalizeH="0" baseline="0" dirty="0">
                <a:ln>
                  <a:noFill/>
                </a:ln>
                <a:solidFill>
                  <a:schemeClr val="tx1"/>
                </a:solidFill>
                <a:effectLst/>
                <a:latin typeface="Ubuntu" panose="020B0504030602030204" pitchFamily="34" charset="0"/>
              </a:rPr>
              <a:t>• This sequence of testing layer of dependent classes continues until the entire system is constructed</a:t>
            </a:r>
          </a:p>
        </p:txBody>
      </p:sp>
    </p:spTree>
    <p:extLst>
      <p:ext uri="{BB962C8B-B14F-4D97-AF65-F5344CB8AC3E}">
        <p14:creationId xmlns:p14="http://schemas.microsoft.com/office/powerpoint/2010/main" val="2569777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4E35-9F84-E857-576A-EFAAA1B33E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FAD7FC-813F-9660-8BEE-4CC2B2E89B66}"/>
              </a:ext>
            </a:extLst>
          </p:cNvPr>
          <p:cNvSpPr>
            <a:spLocks noGrp="1"/>
          </p:cNvSpPr>
          <p:nvPr>
            <p:ph type="title"/>
          </p:nvPr>
        </p:nvSpPr>
        <p:spPr>
          <a:xfrm>
            <a:off x="838200" y="365126"/>
            <a:ext cx="10515600" cy="749572"/>
          </a:xfrm>
        </p:spPr>
        <p:txBody>
          <a:bodyPr/>
          <a:lstStyle/>
          <a:p>
            <a:r>
              <a:rPr lang="en-US" sz="3600" dirty="0"/>
              <a:t>Alpha and Beta Testing</a:t>
            </a:r>
          </a:p>
        </p:txBody>
      </p:sp>
      <p:sp>
        <p:nvSpPr>
          <p:cNvPr id="4" name="TextBox 3">
            <a:extLst>
              <a:ext uri="{FF2B5EF4-FFF2-40B4-BE49-F238E27FC236}">
                <a16:creationId xmlns:a16="http://schemas.microsoft.com/office/drawing/2014/main" id="{1D437B8C-5C6F-C731-4195-1EFF6D08848E}"/>
              </a:ext>
            </a:extLst>
          </p:cNvPr>
          <p:cNvSpPr txBox="1"/>
          <p:nvPr/>
        </p:nvSpPr>
        <p:spPr>
          <a:xfrm>
            <a:off x="1479754" y="914273"/>
            <a:ext cx="9620865" cy="2337115"/>
          </a:xfrm>
          <a:prstGeom prst="rect">
            <a:avLst/>
          </a:prstGeom>
          <a:noFill/>
        </p:spPr>
        <p:txBody>
          <a:bodyPr wrap="square">
            <a:spAutoFit/>
          </a:bodyPr>
          <a:lstStyle/>
          <a:p>
            <a:pPr>
              <a:lnSpc>
                <a:spcPct val="150000"/>
              </a:lnSpc>
            </a:pPr>
            <a:r>
              <a:rPr lang="en-US" sz="2000" b="1" dirty="0">
                <a:latin typeface="Ubuntu" panose="020B0504030602030204" pitchFamily="34" charset="0"/>
              </a:rPr>
              <a:t>Alpha testing</a:t>
            </a:r>
            <a:br>
              <a:rPr lang="en-US" sz="2000" dirty="0">
                <a:latin typeface="Ubuntu" panose="020B0504030602030204" pitchFamily="34" charset="0"/>
              </a:rPr>
            </a:br>
            <a:r>
              <a:rPr lang="en-US" sz="2000" dirty="0">
                <a:latin typeface="Ubuntu" panose="020B0504030602030204" pitchFamily="34" charset="0"/>
              </a:rPr>
              <a:t>• Conducted at the developer’s site by end users</a:t>
            </a:r>
            <a:br>
              <a:rPr lang="en-US" sz="2000" dirty="0">
                <a:latin typeface="Ubuntu" panose="020B0504030602030204" pitchFamily="34" charset="0"/>
              </a:rPr>
            </a:br>
            <a:r>
              <a:rPr lang="en-US" sz="2000" dirty="0">
                <a:latin typeface="Ubuntu" panose="020B0504030602030204" pitchFamily="34" charset="0"/>
              </a:rPr>
              <a:t>• Software is used in a natural setting with developers watching intently</a:t>
            </a:r>
            <a:br>
              <a:rPr lang="en-US" sz="2000" dirty="0">
                <a:latin typeface="Ubuntu" panose="020B0504030602030204" pitchFamily="34" charset="0"/>
              </a:rPr>
            </a:br>
            <a:r>
              <a:rPr lang="en-US" sz="2000" dirty="0">
                <a:latin typeface="Ubuntu" panose="020B0504030602030204" pitchFamily="34" charset="0"/>
              </a:rPr>
              <a:t>• Testing is conducted in a controlled environment</a:t>
            </a:r>
          </a:p>
          <a:p>
            <a:pPr>
              <a:lnSpc>
                <a:spcPct val="150000"/>
              </a:lnSpc>
            </a:pPr>
            <a:endParaRPr lang="en-US" sz="2000" dirty="0">
              <a:latin typeface="Ubuntu" panose="020B0504030602030204" pitchFamily="34" charset="0"/>
            </a:endParaRPr>
          </a:p>
        </p:txBody>
      </p:sp>
      <p:sp>
        <p:nvSpPr>
          <p:cNvPr id="5" name="TextBox 4">
            <a:extLst>
              <a:ext uri="{FF2B5EF4-FFF2-40B4-BE49-F238E27FC236}">
                <a16:creationId xmlns:a16="http://schemas.microsoft.com/office/drawing/2014/main" id="{3F4E2E19-D923-62E9-C7D0-FEFBC4608142}"/>
              </a:ext>
            </a:extLst>
          </p:cNvPr>
          <p:cNvSpPr txBox="1"/>
          <p:nvPr/>
        </p:nvSpPr>
        <p:spPr>
          <a:xfrm>
            <a:off x="838200" y="3116196"/>
            <a:ext cx="10515600" cy="1015663"/>
          </a:xfrm>
          <a:prstGeom prst="rect">
            <a:avLst/>
          </a:prstGeom>
          <a:noFill/>
        </p:spPr>
        <p:txBody>
          <a:bodyPr wrap="square">
            <a:spAutoFit/>
          </a:bodyPr>
          <a:lstStyle/>
          <a:p>
            <a:r>
              <a:rPr lang="en-US" sz="2000" dirty="0">
                <a:latin typeface="Ubuntu" panose="020B0504030602030204" pitchFamily="34" charset="0"/>
              </a:rPr>
              <a:t>The software is almost ready, but it has not yet been released to the public.</a:t>
            </a:r>
          </a:p>
          <a:p>
            <a:r>
              <a:rPr lang="en-US" sz="2000" dirty="0">
                <a:latin typeface="Ubuntu" panose="020B0504030602030204" pitchFamily="34" charset="0"/>
              </a:rPr>
              <a:t>The company invites selected end users to use the app at the developer’s site or in a controlled test environment.</a:t>
            </a:r>
          </a:p>
        </p:txBody>
      </p:sp>
      <p:sp>
        <p:nvSpPr>
          <p:cNvPr id="7" name="TextBox 6">
            <a:extLst>
              <a:ext uri="{FF2B5EF4-FFF2-40B4-BE49-F238E27FC236}">
                <a16:creationId xmlns:a16="http://schemas.microsoft.com/office/drawing/2014/main" id="{3BC6E861-0538-8B9C-DC03-0C1F37B1184E}"/>
              </a:ext>
            </a:extLst>
          </p:cNvPr>
          <p:cNvSpPr txBox="1"/>
          <p:nvPr/>
        </p:nvSpPr>
        <p:spPr>
          <a:xfrm>
            <a:off x="6096000" y="3806336"/>
            <a:ext cx="5406707" cy="2893100"/>
          </a:xfrm>
          <a:prstGeom prst="rect">
            <a:avLst/>
          </a:prstGeom>
          <a:noFill/>
        </p:spPr>
        <p:txBody>
          <a:bodyPr wrap="square">
            <a:spAutoFit/>
          </a:bodyPr>
          <a:lstStyle/>
          <a:p>
            <a:pPr>
              <a:buNone/>
            </a:pPr>
            <a:r>
              <a:rPr lang="en-US" dirty="0">
                <a:latin typeface="Ubuntu" panose="020B0504030602030204" pitchFamily="34" charset="0"/>
              </a:rPr>
              <a:t>Users perform real tasks such as:</a:t>
            </a:r>
          </a:p>
          <a:p>
            <a:pPr marL="342900" lvl="0" indent="-342900">
              <a:buFont typeface="Arial" panose="020B0604020202020204" pitchFamily="34" charset="0"/>
              <a:buChar char="•"/>
            </a:pPr>
            <a:r>
              <a:rPr lang="en-US" dirty="0">
                <a:latin typeface="Ubuntu" panose="020B0504030602030204" pitchFamily="34" charset="0"/>
              </a:rPr>
              <a:t>Login</a:t>
            </a:r>
          </a:p>
          <a:p>
            <a:pPr marL="342900" lvl="0" indent="-342900">
              <a:buFont typeface="Arial" panose="020B0604020202020204" pitchFamily="34" charset="0"/>
              <a:buChar char="•"/>
            </a:pPr>
            <a:r>
              <a:rPr lang="en-US" dirty="0">
                <a:latin typeface="Ubuntu" panose="020B0504030602030204" pitchFamily="34" charset="0"/>
              </a:rPr>
              <a:t>Balance checking</a:t>
            </a:r>
          </a:p>
          <a:p>
            <a:pPr marL="342900" lvl="0" indent="-342900">
              <a:buFont typeface="Arial" panose="020B0604020202020204" pitchFamily="34" charset="0"/>
              <a:buChar char="•"/>
            </a:pPr>
            <a:r>
              <a:rPr lang="en-US" dirty="0">
                <a:latin typeface="Ubuntu" panose="020B0504030602030204" pitchFamily="34" charset="0"/>
              </a:rPr>
              <a:t>Money transfer</a:t>
            </a:r>
          </a:p>
          <a:p>
            <a:pPr marL="342900" lvl="0" indent="-342900">
              <a:buFont typeface="Arial" panose="020B0604020202020204" pitchFamily="34" charset="0"/>
              <a:buChar char="•"/>
            </a:pPr>
            <a:r>
              <a:rPr lang="en-US" dirty="0">
                <a:latin typeface="Ubuntu" panose="020B0504030602030204" pitchFamily="34" charset="0"/>
              </a:rPr>
              <a:t>Bill payment</a:t>
            </a:r>
          </a:p>
          <a:p>
            <a:pPr>
              <a:buNone/>
            </a:pPr>
            <a:r>
              <a:rPr lang="en-US" dirty="0">
                <a:latin typeface="Ubuntu" panose="020B0504030602030204" pitchFamily="34" charset="0"/>
              </a:rPr>
              <a:t>The developers observe:</a:t>
            </a:r>
          </a:p>
          <a:p>
            <a:pPr marL="342900" lvl="0" indent="-342900">
              <a:buFont typeface="Arial" panose="020B0604020202020204" pitchFamily="34" charset="0"/>
              <a:buChar char="•"/>
            </a:pPr>
            <a:r>
              <a:rPr lang="en-US" dirty="0">
                <a:latin typeface="Ubuntu" panose="020B0504030602030204" pitchFamily="34" charset="0"/>
              </a:rPr>
              <a:t>where users become confused</a:t>
            </a:r>
          </a:p>
          <a:p>
            <a:pPr marL="342900" lvl="0" indent="-342900">
              <a:buFont typeface="Arial" panose="020B0604020202020204" pitchFamily="34" charset="0"/>
              <a:buChar char="•"/>
            </a:pPr>
            <a:r>
              <a:rPr lang="en-US" dirty="0">
                <a:latin typeface="Ubuntu" panose="020B0504030602030204" pitchFamily="34" charset="0"/>
              </a:rPr>
              <a:t>where errors occur</a:t>
            </a:r>
          </a:p>
          <a:p>
            <a:pPr marL="342900" lvl="0" indent="-342900">
              <a:buFont typeface="Arial" panose="020B0604020202020204" pitchFamily="34" charset="0"/>
              <a:buChar char="•"/>
            </a:pPr>
            <a:r>
              <a:rPr lang="en-US" dirty="0">
                <a:latin typeface="Ubuntu" panose="020B0504030602030204" pitchFamily="34" charset="0"/>
              </a:rPr>
              <a:t>which buttons do not </a:t>
            </a:r>
            <a:r>
              <a:rPr lang="en-US" sz="2000" dirty="0">
                <a:latin typeface="Ubuntu" panose="020B0504030602030204" pitchFamily="34" charset="0"/>
              </a:rPr>
              <a:t>work</a:t>
            </a:r>
          </a:p>
          <a:p>
            <a:pPr marL="342900" lvl="0" indent="-342900">
              <a:buFont typeface="Arial" panose="020B0604020202020204" pitchFamily="34" charset="0"/>
              <a:buChar char="•"/>
            </a:pPr>
            <a:r>
              <a:rPr lang="en-US" dirty="0">
                <a:latin typeface="Ubuntu" panose="020B0504030602030204" pitchFamily="34" charset="0"/>
              </a:rPr>
              <a:t>which parts of the workflow are difficult</a:t>
            </a:r>
          </a:p>
        </p:txBody>
      </p:sp>
    </p:spTree>
    <p:extLst>
      <p:ext uri="{BB962C8B-B14F-4D97-AF65-F5344CB8AC3E}">
        <p14:creationId xmlns:p14="http://schemas.microsoft.com/office/powerpoint/2010/main" val="1980516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F56E6-985F-C4E5-425D-5F056D601B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100B2E2-1ABE-EDAE-3CCD-79E3040AAA10}"/>
              </a:ext>
            </a:extLst>
          </p:cNvPr>
          <p:cNvSpPr>
            <a:spLocks noGrp="1"/>
          </p:cNvSpPr>
          <p:nvPr>
            <p:ph type="title"/>
          </p:nvPr>
        </p:nvSpPr>
        <p:spPr>
          <a:xfrm>
            <a:off x="838200" y="365126"/>
            <a:ext cx="10515600" cy="749572"/>
          </a:xfrm>
        </p:spPr>
        <p:txBody>
          <a:bodyPr/>
          <a:lstStyle/>
          <a:p>
            <a:r>
              <a:rPr lang="en-US" sz="3600" dirty="0"/>
              <a:t>Alpha and Beta Testing</a:t>
            </a:r>
          </a:p>
        </p:txBody>
      </p:sp>
      <p:sp>
        <p:nvSpPr>
          <p:cNvPr id="4" name="TextBox 3">
            <a:extLst>
              <a:ext uri="{FF2B5EF4-FFF2-40B4-BE49-F238E27FC236}">
                <a16:creationId xmlns:a16="http://schemas.microsoft.com/office/drawing/2014/main" id="{68E069BB-9B96-832C-3C55-0F21EA159149}"/>
              </a:ext>
            </a:extLst>
          </p:cNvPr>
          <p:cNvSpPr txBox="1"/>
          <p:nvPr/>
        </p:nvSpPr>
        <p:spPr>
          <a:xfrm>
            <a:off x="1479754" y="914273"/>
            <a:ext cx="9620865" cy="2862322"/>
          </a:xfrm>
          <a:prstGeom prst="rect">
            <a:avLst/>
          </a:prstGeom>
          <a:noFill/>
        </p:spPr>
        <p:txBody>
          <a:bodyPr wrap="square">
            <a:spAutoFit/>
          </a:bodyPr>
          <a:lstStyle/>
          <a:p>
            <a:r>
              <a:rPr lang="en-US" sz="2000" b="1" dirty="0">
                <a:latin typeface="Ubuntu" panose="020B0504030602030204" pitchFamily="34" charset="0"/>
              </a:rPr>
              <a:t>Beta testing</a:t>
            </a:r>
            <a:br>
              <a:rPr lang="en-US" sz="2000" dirty="0">
                <a:latin typeface="Ubuntu" panose="020B0504030602030204" pitchFamily="34" charset="0"/>
              </a:rPr>
            </a:br>
            <a:r>
              <a:rPr lang="en-US" sz="2000" dirty="0">
                <a:latin typeface="Ubuntu" panose="020B0504030602030204" pitchFamily="34" charset="0"/>
              </a:rPr>
              <a:t>• Conducted at end-user sites</a:t>
            </a:r>
            <a:br>
              <a:rPr lang="en-US" sz="2000" dirty="0">
                <a:latin typeface="Ubuntu" panose="020B0504030602030204" pitchFamily="34" charset="0"/>
              </a:rPr>
            </a:br>
            <a:r>
              <a:rPr lang="en-US" sz="2000" dirty="0">
                <a:latin typeface="Ubuntu" panose="020B0504030602030204" pitchFamily="34" charset="0"/>
              </a:rPr>
              <a:t>• Developer is generally not present</a:t>
            </a:r>
            <a:br>
              <a:rPr lang="en-US" sz="2000" dirty="0">
                <a:latin typeface="Ubuntu" panose="020B0504030602030204" pitchFamily="34" charset="0"/>
              </a:rPr>
            </a:br>
            <a:r>
              <a:rPr lang="en-US" sz="2000" dirty="0">
                <a:latin typeface="Ubuntu" panose="020B0504030602030204" pitchFamily="34" charset="0"/>
              </a:rPr>
              <a:t>• It serves as a live application of the software in an environment that cannot be controlled by the developer</a:t>
            </a:r>
            <a:br>
              <a:rPr lang="en-US" sz="2000" dirty="0">
                <a:latin typeface="Ubuntu" panose="020B0504030602030204" pitchFamily="34" charset="0"/>
              </a:rPr>
            </a:br>
            <a:r>
              <a:rPr lang="en-US" sz="2000" dirty="0">
                <a:latin typeface="Ubuntu" panose="020B0504030602030204" pitchFamily="34" charset="0"/>
              </a:rPr>
              <a:t>• The end-user records all problems that are encountered and reports these to the developers at regular intervals</a:t>
            </a:r>
            <a:br>
              <a:rPr lang="en-US" sz="2000" dirty="0">
                <a:latin typeface="Ubuntu" panose="020B0504030602030204" pitchFamily="34" charset="0"/>
              </a:rPr>
            </a:br>
            <a:r>
              <a:rPr lang="en-US" sz="2000" dirty="0">
                <a:latin typeface="Ubuntu" panose="020B0504030602030204" pitchFamily="34" charset="0"/>
              </a:rPr>
              <a:t>• After beta testing is complete, software engineers make software modifications and prepare for release of the software product to the entire customer base</a:t>
            </a:r>
          </a:p>
        </p:txBody>
      </p:sp>
    </p:spTree>
    <p:extLst>
      <p:ext uri="{BB962C8B-B14F-4D97-AF65-F5344CB8AC3E}">
        <p14:creationId xmlns:p14="http://schemas.microsoft.com/office/powerpoint/2010/main" val="2772412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1978-4F9A-0B90-E93C-8C29BB7EEA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4397F5-CC07-B863-5218-93CE68250FFD}"/>
              </a:ext>
            </a:extLst>
          </p:cNvPr>
          <p:cNvSpPr txBox="1"/>
          <p:nvPr/>
        </p:nvSpPr>
        <p:spPr>
          <a:xfrm>
            <a:off x="1002114" y="456972"/>
            <a:ext cx="9620865" cy="6001643"/>
          </a:xfrm>
          <a:prstGeom prst="rect">
            <a:avLst/>
          </a:prstGeom>
          <a:noFill/>
        </p:spPr>
        <p:txBody>
          <a:bodyPr wrap="square">
            <a:spAutoFit/>
          </a:bodyPr>
          <a:lstStyle/>
          <a:p>
            <a:r>
              <a:rPr lang="en-US" sz="2400" b="1" dirty="0">
                <a:latin typeface="Ubuntu" panose="020B0504030602030204" pitchFamily="34" charset="0"/>
              </a:rPr>
              <a:t>Recovery testing</a:t>
            </a:r>
            <a:br>
              <a:rPr lang="en-US" sz="2400" dirty="0">
                <a:latin typeface="Ubuntu" panose="020B0504030602030204" pitchFamily="34" charset="0"/>
              </a:rPr>
            </a:br>
            <a:r>
              <a:rPr lang="en-US" sz="2400" dirty="0">
                <a:latin typeface="Ubuntu" panose="020B0504030602030204" pitchFamily="34" charset="0"/>
              </a:rPr>
              <a:t>• Tests for recovery from system faults</a:t>
            </a:r>
            <a:br>
              <a:rPr lang="en-US" sz="2400" dirty="0">
                <a:latin typeface="Ubuntu" panose="020B0504030602030204" pitchFamily="34" charset="0"/>
              </a:rPr>
            </a:br>
            <a:r>
              <a:rPr lang="en-US" sz="2400" dirty="0">
                <a:latin typeface="Ubuntu" panose="020B0504030602030204" pitchFamily="34" charset="0"/>
              </a:rPr>
              <a:t>• Forces the software to fail in a variety of ways and verifies that recovery is properly performed</a:t>
            </a:r>
            <a:br>
              <a:rPr lang="en-US" sz="2400" dirty="0">
                <a:latin typeface="Ubuntu" panose="020B0504030602030204" pitchFamily="34" charset="0"/>
              </a:rPr>
            </a:br>
            <a:r>
              <a:rPr lang="en-US" sz="2400" dirty="0">
                <a:latin typeface="Ubuntu" panose="020B0504030602030204" pitchFamily="34" charset="0"/>
              </a:rPr>
              <a:t>• Tests re-initialization, check pointing mechanisms, data recovery, and restart for correctness</a:t>
            </a:r>
          </a:p>
          <a:p>
            <a:endParaRPr lang="en-US" sz="2400" dirty="0">
              <a:latin typeface="Ubuntu" panose="020B0504030602030204" pitchFamily="34" charset="0"/>
            </a:endParaRPr>
          </a:p>
          <a:p>
            <a:r>
              <a:rPr lang="en-US" sz="2400" dirty="0">
                <a:latin typeface="Ubuntu" panose="020B0504030602030204" pitchFamily="34" charset="0"/>
              </a:rPr>
              <a:t>Example: </a:t>
            </a:r>
            <a:r>
              <a:rPr lang="en-US" sz="2400" dirty="0"/>
              <a:t>Force a banking server to crash during a transaction and check whether the system restarts correctly and restores the transaction data.</a:t>
            </a:r>
            <a:endParaRPr lang="en-US" sz="2400" dirty="0">
              <a:latin typeface="Ubuntu" panose="020B0504030602030204" pitchFamily="34" charset="0"/>
            </a:endParaRPr>
          </a:p>
          <a:p>
            <a:endParaRPr lang="en-US" sz="2400" dirty="0">
              <a:latin typeface="Ubuntu" panose="020B0504030602030204" pitchFamily="34" charset="0"/>
            </a:endParaRPr>
          </a:p>
          <a:p>
            <a:r>
              <a:rPr lang="en-US" sz="2400" b="1" dirty="0">
                <a:latin typeface="Ubuntu" panose="020B0504030602030204" pitchFamily="34" charset="0"/>
              </a:rPr>
              <a:t>Security testing</a:t>
            </a:r>
            <a:br>
              <a:rPr lang="en-US" sz="2400" dirty="0">
                <a:latin typeface="Ubuntu" panose="020B0504030602030204" pitchFamily="34" charset="0"/>
              </a:rPr>
            </a:br>
            <a:r>
              <a:rPr lang="en-US" sz="2400" dirty="0">
                <a:latin typeface="Ubuntu" panose="020B0504030602030204" pitchFamily="34" charset="0"/>
              </a:rPr>
              <a:t>• Verifies that protection mechanisms built into a system will, in fact, protect it from improper access.</a:t>
            </a:r>
          </a:p>
          <a:p>
            <a:endParaRPr lang="en-US" sz="2400" dirty="0">
              <a:latin typeface="Ubuntu" panose="020B0504030602030204" pitchFamily="34" charset="0"/>
            </a:endParaRPr>
          </a:p>
          <a:p>
            <a:r>
              <a:rPr lang="en-US" sz="2400" dirty="0">
                <a:latin typeface="Ubuntu" panose="020B0504030602030204" pitchFamily="34" charset="0"/>
              </a:rPr>
              <a:t>Example: </a:t>
            </a:r>
            <a:r>
              <a:rPr lang="en-US" sz="2400" dirty="0"/>
              <a:t>Try logging into an admin account with an unauthorized user and check whether the system blocks the access.</a:t>
            </a:r>
            <a:endParaRPr lang="en-US" sz="2400" dirty="0">
              <a:latin typeface="Ubuntu" panose="020B0504030602030204" pitchFamily="34" charset="0"/>
            </a:endParaRPr>
          </a:p>
        </p:txBody>
      </p:sp>
    </p:spTree>
    <p:extLst>
      <p:ext uri="{BB962C8B-B14F-4D97-AF65-F5344CB8AC3E}">
        <p14:creationId xmlns:p14="http://schemas.microsoft.com/office/powerpoint/2010/main" val="1370097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31B2-357D-3203-C3E7-E102EC16EC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A061E7-59BF-826E-3A0C-362423A2C4F1}"/>
              </a:ext>
            </a:extLst>
          </p:cNvPr>
          <p:cNvSpPr txBox="1"/>
          <p:nvPr/>
        </p:nvSpPr>
        <p:spPr>
          <a:xfrm>
            <a:off x="753980" y="514773"/>
            <a:ext cx="10318178" cy="5262979"/>
          </a:xfrm>
          <a:prstGeom prst="rect">
            <a:avLst/>
          </a:prstGeom>
          <a:noFill/>
        </p:spPr>
        <p:txBody>
          <a:bodyPr wrap="square">
            <a:spAutoFit/>
          </a:bodyPr>
          <a:lstStyle/>
          <a:p>
            <a:r>
              <a:rPr lang="en-US" sz="2400" b="1" dirty="0">
                <a:latin typeface="Ubuntu" panose="020B0504030602030204" pitchFamily="34" charset="0"/>
              </a:rPr>
              <a:t>Stress testing</a:t>
            </a:r>
            <a:br>
              <a:rPr lang="en-US" sz="2400" dirty="0">
                <a:latin typeface="Ubuntu" panose="020B0504030602030204" pitchFamily="34" charset="0"/>
              </a:rPr>
            </a:br>
            <a:r>
              <a:rPr lang="en-US" sz="2400" dirty="0">
                <a:latin typeface="Ubuntu" panose="020B0504030602030204" pitchFamily="34" charset="0"/>
              </a:rPr>
              <a:t>• Executes a system in a manner that demands resources in abnormal quantity, frequency, or volume.</a:t>
            </a:r>
          </a:p>
          <a:p>
            <a:endParaRPr lang="en-US" sz="2400" dirty="0">
              <a:latin typeface="Ubuntu" panose="020B0504030602030204" pitchFamily="34" charset="0"/>
            </a:endParaRPr>
          </a:p>
          <a:p>
            <a:r>
              <a:rPr lang="en-US" sz="2400" dirty="0">
                <a:latin typeface="Ubuntu" panose="020B0504030602030204" pitchFamily="34" charset="0"/>
              </a:rPr>
              <a:t>Example: </a:t>
            </a:r>
            <a:r>
              <a:rPr lang="en-US" sz="2400" dirty="0"/>
              <a:t>Send 100,000 users to an e-commerce website at the same time and check whether the system crashes or stays stable.</a:t>
            </a:r>
            <a:endParaRPr lang="en-US" sz="2400" dirty="0">
              <a:latin typeface="Ubuntu" panose="020B0504030602030204" pitchFamily="34" charset="0"/>
            </a:endParaRPr>
          </a:p>
          <a:p>
            <a:endParaRPr lang="en-US" sz="2400" dirty="0">
              <a:latin typeface="Ubuntu" panose="020B0504030602030204" pitchFamily="34" charset="0"/>
            </a:endParaRPr>
          </a:p>
          <a:p>
            <a:r>
              <a:rPr lang="en-US" sz="2400" b="1" dirty="0">
                <a:latin typeface="Ubuntu" panose="020B0504030602030204" pitchFamily="34" charset="0"/>
              </a:rPr>
              <a:t>Performance testing</a:t>
            </a:r>
            <a:br>
              <a:rPr lang="en-US" sz="2400" dirty="0">
                <a:latin typeface="Ubuntu" panose="020B0504030602030204" pitchFamily="34" charset="0"/>
              </a:rPr>
            </a:br>
            <a:r>
              <a:rPr lang="en-US" sz="2400" dirty="0">
                <a:latin typeface="Ubuntu" panose="020B0504030602030204" pitchFamily="34" charset="0"/>
              </a:rPr>
              <a:t>• Tests the run-time performance of software within the context of an integrated system</a:t>
            </a:r>
            <a:br>
              <a:rPr lang="en-US" sz="2400" dirty="0">
                <a:latin typeface="Ubuntu" panose="020B0504030602030204" pitchFamily="34" charset="0"/>
              </a:rPr>
            </a:br>
            <a:r>
              <a:rPr lang="en-US" sz="2400" dirty="0">
                <a:latin typeface="Ubuntu" panose="020B0504030602030204" pitchFamily="34" charset="0"/>
              </a:rPr>
              <a:t>• Often coupled with stress testing and usually requires both hardware and software instrumentation</a:t>
            </a:r>
            <a:br>
              <a:rPr lang="en-US" sz="2400" dirty="0">
                <a:latin typeface="Ubuntu" panose="020B0504030602030204" pitchFamily="34" charset="0"/>
              </a:rPr>
            </a:br>
            <a:r>
              <a:rPr lang="en-US" sz="2400" dirty="0">
                <a:latin typeface="Ubuntu" panose="020B0504030602030204" pitchFamily="34" charset="0"/>
              </a:rPr>
              <a:t>• Can uncover situations that lead to degradation and possible system failure</a:t>
            </a:r>
          </a:p>
        </p:txBody>
      </p:sp>
    </p:spTree>
    <p:extLst>
      <p:ext uri="{BB962C8B-B14F-4D97-AF65-F5344CB8AC3E}">
        <p14:creationId xmlns:p14="http://schemas.microsoft.com/office/powerpoint/2010/main" val="2144042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23905-22C7-96A9-6DA5-5980DF3E78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E8EA3E-887D-A4ED-094E-D65AD5ABB7EE}"/>
              </a:ext>
            </a:extLst>
          </p:cNvPr>
          <p:cNvSpPr>
            <a:spLocks noGrp="1"/>
          </p:cNvSpPr>
          <p:nvPr>
            <p:ph type="title"/>
          </p:nvPr>
        </p:nvSpPr>
        <p:spPr>
          <a:xfrm>
            <a:off x="838200" y="365126"/>
            <a:ext cx="10515600" cy="749572"/>
          </a:xfrm>
        </p:spPr>
        <p:txBody>
          <a:bodyPr/>
          <a:lstStyle/>
          <a:p>
            <a:r>
              <a:rPr lang="en-US" sz="3600" dirty="0"/>
              <a:t>Characteristics of Testable Software</a:t>
            </a:r>
          </a:p>
        </p:txBody>
      </p:sp>
      <p:sp>
        <p:nvSpPr>
          <p:cNvPr id="4" name="TextBox 3">
            <a:extLst>
              <a:ext uri="{FF2B5EF4-FFF2-40B4-BE49-F238E27FC236}">
                <a16:creationId xmlns:a16="http://schemas.microsoft.com/office/drawing/2014/main" id="{7EF00BB4-9EB0-F35D-2EFB-ADCC06CD660A}"/>
              </a:ext>
            </a:extLst>
          </p:cNvPr>
          <p:cNvSpPr txBox="1"/>
          <p:nvPr/>
        </p:nvSpPr>
        <p:spPr>
          <a:xfrm>
            <a:off x="1509250" y="1228905"/>
            <a:ext cx="9620865" cy="4154984"/>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Ubuntu" panose="020B0504030602030204" pitchFamily="34" charset="0"/>
              </a:rPr>
              <a:t>Operable</a:t>
            </a:r>
          </a:p>
          <a:p>
            <a:r>
              <a:rPr lang="en-US" sz="2400" b="1" dirty="0">
                <a:latin typeface="Ubuntu" panose="020B0504030602030204" pitchFamily="34" charset="0"/>
              </a:rPr>
              <a:t>–   </a:t>
            </a:r>
            <a:r>
              <a:rPr lang="en-US" sz="2400" dirty="0">
                <a:latin typeface="Ubuntu" panose="020B0504030602030204" pitchFamily="34" charset="0"/>
              </a:rPr>
              <a:t>The better it works (i.e., better quality), the easier it is to test</a:t>
            </a:r>
          </a:p>
          <a:p>
            <a:r>
              <a:rPr lang="en-US" sz="2400" b="1" dirty="0">
                <a:latin typeface="Ubuntu" panose="020B0504030602030204" pitchFamily="34" charset="0"/>
              </a:rPr>
              <a:t>•    Observable</a:t>
            </a:r>
          </a:p>
          <a:p>
            <a:r>
              <a:rPr lang="en-US" sz="2400" b="1" dirty="0">
                <a:latin typeface="Ubuntu" panose="020B0504030602030204" pitchFamily="34" charset="0"/>
              </a:rPr>
              <a:t>–   </a:t>
            </a:r>
            <a:r>
              <a:rPr lang="en-US" sz="2400" dirty="0">
                <a:latin typeface="Ubuntu" panose="020B0504030602030204" pitchFamily="34" charset="0"/>
              </a:rPr>
              <a:t>Incorrect output is easily identified; internal errors are automatically detected</a:t>
            </a:r>
          </a:p>
          <a:p>
            <a:r>
              <a:rPr lang="en-US" sz="2400" b="1" dirty="0">
                <a:latin typeface="Ubuntu" panose="020B0504030602030204" pitchFamily="34" charset="0"/>
              </a:rPr>
              <a:t>•    Controllable</a:t>
            </a:r>
          </a:p>
          <a:p>
            <a:r>
              <a:rPr lang="en-US" sz="2400" b="1" dirty="0">
                <a:latin typeface="Ubuntu" panose="020B0504030602030204" pitchFamily="34" charset="0"/>
              </a:rPr>
              <a:t>–   </a:t>
            </a:r>
            <a:r>
              <a:rPr lang="en-US" sz="2400" dirty="0">
                <a:latin typeface="Ubuntu" panose="020B0504030602030204" pitchFamily="34" charset="0"/>
              </a:rPr>
              <a:t>The states and variables of the software can be controlled directly by the tester</a:t>
            </a:r>
          </a:p>
          <a:p>
            <a:r>
              <a:rPr lang="en-US" sz="2400" b="1" dirty="0">
                <a:latin typeface="Ubuntu" panose="020B0504030602030204" pitchFamily="34" charset="0"/>
              </a:rPr>
              <a:t>•    Decomposable</a:t>
            </a:r>
          </a:p>
          <a:p>
            <a:r>
              <a:rPr lang="en-US" sz="2400" b="1" dirty="0">
                <a:latin typeface="Ubuntu" panose="020B0504030602030204" pitchFamily="34" charset="0"/>
              </a:rPr>
              <a:t>–   </a:t>
            </a:r>
            <a:r>
              <a:rPr lang="en-US" sz="2400" dirty="0">
                <a:latin typeface="Ubuntu" panose="020B0504030602030204" pitchFamily="34" charset="0"/>
              </a:rPr>
              <a:t>The software is built from independent modules that can be tested independently</a:t>
            </a:r>
          </a:p>
        </p:txBody>
      </p:sp>
    </p:spTree>
    <p:extLst>
      <p:ext uri="{BB962C8B-B14F-4D97-AF65-F5344CB8AC3E}">
        <p14:creationId xmlns:p14="http://schemas.microsoft.com/office/powerpoint/2010/main" val="6711368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5325-69FB-E8C6-F0BA-A3081BFEB8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DEE27D-C823-8978-4E42-847FE407C442}"/>
              </a:ext>
            </a:extLst>
          </p:cNvPr>
          <p:cNvSpPr>
            <a:spLocks noGrp="1"/>
          </p:cNvSpPr>
          <p:nvPr>
            <p:ph type="title"/>
          </p:nvPr>
        </p:nvSpPr>
        <p:spPr>
          <a:xfrm>
            <a:off x="838200" y="365126"/>
            <a:ext cx="10515600" cy="749572"/>
          </a:xfrm>
        </p:spPr>
        <p:txBody>
          <a:bodyPr/>
          <a:lstStyle/>
          <a:p>
            <a:r>
              <a:rPr lang="en-US" sz="3600" dirty="0"/>
              <a:t>Characteristics of Testable Software</a:t>
            </a:r>
          </a:p>
        </p:txBody>
      </p:sp>
      <p:sp>
        <p:nvSpPr>
          <p:cNvPr id="4" name="TextBox 3">
            <a:extLst>
              <a:ext uri="{FF2B5EF4-FFF2-40B4-BE49-F238E27FC236}">
                <a16:creationId xmlns:a16="http://schemas.microsoft.com/office/drawing/2014/main" id="{32A5797E-A882-A896-D805-345035AFB1C1}"/>
              </a:ext>
            </a:extLst>
          </p:cNvPr>
          <p:cNvSpPr txBox="1"/>
          <p:nvPr/>
        </p:nvSpPr>
        <p:spPr>
          <a:xfrm>
            <a:off x="1509250" y="1228905"/>
            <a:ext cx="9620865" cy="3416320"/>
          </a:xfrm>
          <a:prstGeom prst="rect">
            <a:avLst/>
          </a:prstGeom>
          <a:noFill/>
        </p:spPr>
        <p:txBody>
          <a:bodyPr wrap="square">
            <a:spAutoFit/>
          </a:bodyPr>
          <a:lstStyle/>
          <a:p>
            <a:pPr marL="342900" indent="-342900">
              <a:buFont typeface="Arial" panose="020B0604020202020204" pitchFamily="34" charset="0"/>
              <a:buChar char="•"/>
            </a:pPr>
            <a:r>
              <a:rPr lang="en-US" sz="2400" b="1" dirty="0">
                <a:latin typeface="Ubuntu" panose="020B0504030602030204" pitchFamily="34" charset="0"/>
              </a:rPr>
              <a:t>Simple</a:t>
            </a:r>
          </a:p>
          <a:p>
            <a:r>
              <a:rPr lang="en-US" sz="2400" b="1" dirty="0">
                <a:latin typeface="Ubuntu" panose="020B0504030602030204" pitchFamily="34" charset="0"/>
              </a:rPr>
              <a:t>–   </a:t>
            </a:r>
            <a:r>
              <a:rPr lang="en-US" sz="2400" dirty="0">
                <a:latin typeface="Ubuntu" panose="020B0504030602030204" pitchFamily="34" charset="0"/>
              </a:rPr>
              <a:t>The program should exhibit functional, structural, and code simplicity</a:t>
            </a:r>
          </a:p>
          <a:p>
            <a:r>
              <a:rPr lang="en-US" sz="2400" b="1" dirty="0">
                <a:latin typeface="Ubuntu" panose="020B0504030602030204" pitchFamily="34" charset="0"/>
              </a:rPr>
              <a:t>•    Stable</a:t>
            </a:r>
          </a:p>
          <a:p>
            <a:r>
              <a:rPr lang="en-US" sz="2400" dirty="0">
                <a:latin typeface="Ubuntu" panose="020B0504030602030204" pitchFamily="34" charset="0"/>
              </a:rPr>
              <a:t>–   Changes to the software during testing are infrequent and do not invalidate existing tests</a:t>
            </a:r>
          </a:p>
          <a:p>
            <a:r>
              <a:rPr lang="en-US" sz="2400" b="1" dirty="0">
                <a:latin typeface="Ubuntu" panose="020B0504030602030204" pitchFamily="34" charset="0"/>
              </a:rPr>
              <a:t>•    Understandable</a:t>
            </a:r>
          </a:p>
          <a:p>
            <a:r>
              <a:rPr lang="en-US" sz="2400" dirty="0">
                <a:latin typeface="Ubuntu" panose="020B0504030602030204" pitchFamily="34" charset="0"/>
              </a:rPr>
              <a:t>–   The architectural design is well understood; documentation is available and organized</a:t>
            </a:r>
          </a:p>
        </p:txBody>
      </p:sp>
    </p:spTree>
    <p:extLst>
      <p:ext uri="{BB962C8B-B14F-4D97-AF65-F5344CB8AC3E}">
        <p14:creationId xmlns:p14="http://schemas.microsoft.com/office/powerpoint/2010/main" val="2015521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FBDCE-C736-4854-694C-8DD753C5EF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8B0FE1-37F7-C0A7-D04A-5E0189379C3A}"/>
              </a:ext>
            </a:extLst>
          </p:cNvPr>
          <p:cNvSpPr>
            <a:spLocks noGrp="1"/>
          </p:cNvSpPr>
          <p:nvPr>
            <p:ph type="title"/>
          </p:nvPr>
        </p:nvSpPr>
        <p:spPr>
          <a:xfrm>
            <a:off x="838200" y="365126"/>
            <a:ext cx="10515600" cy="749572"/>
          </a:xfrm>
        </p:spPr>
        <p:txBody>
          <a:bodyPr/>
          <a:lstStyle/>
          <a:p>
            <a:r>
              <a:rPr lang="en-US" sz="3600" dirty="0"/>
              <a:t>Test Characteristics</a:t>
            </a:r>
          </a:p>
        </p:txBody>
      </p:sp>
      <p:sp>
        <p:nvSpPr>
          <p:cNvPr id="4" name="TextBox 3">
            <a:extLst>
              <a:ext uri="{FF2B5EF4-FFF2-40B4-BE49-F238E27FC236}">
                <a16:creationId xmlns:a16="http://schemas.microsoft.com/office/drawing/2014/main" id="{0AAD59FD-71CF-831F-1ABD-47FB8807DE1C}"/>
              </a:ext>
            </a:extLst>
          </p:cNvPr>
          <p:cNvSpPr txBox="1"/>
          <p:nvPr/>
        </p:nvSpPr>
        <p:spPr>
          <a:xfrm>
            <a:off x="1509250" y="1228905"/>
            <a:ext cx="9620865" cy="4154984"/>
          </a:xfrm>
          <a:prstGeom prst="rect">
            <a:avLst/>
          </a:prstGeom>
          <a:noFill/>
        </p:spPr>
        <p:txBody>
          <a:bodyPr wrap="square">
            <a:spAutoFit/>
          </a:bodyPr>
          <a:lstStyle/>
          <a:p>
            <a:r>
              <a:rPr lang="en-US" sz="2400" b="1" dirty="0">
                <a:latin typeface="Ubuntu" panose="020B0504030602030204" pitchFamily="34" charset="0"/>
              </a:rPr>
              <a:t>•    A good test has a high probability of finding an error</a:t>
            </a:r>
          </a:p>
          <a:p>
            <a:pPr lvl="1"/>
            <a:r>
              <a:rPr lang="en-US" sz="2400" dirty="0">
                <a:latin typeface="Ubuntu" panose="020B0504030602030204" pitchFamily="34" charset="0"/>
              </a:rPr>
              <a:t>–   The tester must understand the software and how it might fail</a:t>
            </a:r>
          </a:p>
          <a:p>
            <a:r>
              <a:rPr lang="en-US" sz="2400" b="1" dirty="0">
                <a:latin typeface="Ubuntu" panose="020B0504030602030204" pitchFamily="34" charset="0"/>
              </a:rPr>
              <a:t>•    A good test is not redundant</a:t>
            </a:r>
          </a:p>
          <a:p>
            <a:pPr lvl="1"/>
            <a:r>
              <a:rPr lang="en-US" sz="2400" dirty="0">
                <a:latin typeface="Ubuntu" panose="020B0504030602030204" pitchFamily="34" charset="0"/>
              </a:rPr>
              <a:t>–   Testing time is limited; one test should not serve the same purpose as another test</a:t>
            </a:r>
          </a:p>
          <a:p>
            <a:r>
              <a:rPr lang="en-US" sz="2400" b="1" dirty="0">
                <a:latin typeface="Ubuntu" panose="020B0504030602030204" pitchFamily="34" charset="0"/>
              </a:rPr>
              <a:t>•    A good test should be “best of breed”</a:t>
            </a:r>
          </a:p>
          <a:p>
            <a:pPr lvl="1"/>
            <a:r>
              <a:rPr lang="en-US" sz="2400" dirty="0">
                <a:latin typeface="Ubuntu" panose="020B0504030602030204" pitchFamily="34" charset="0"/>
              </a:rPr>
              <a:t>–   Tests that have the highest likelihood of uncovering a whole class of errors should be used</a:t>
            </a:r>
          </a:p>
          <a:p>
            <a:r>
              <a:rPr lang="en-US" sz="2400" b="1" dirty="0">
                <a:latin typeface="Ubuntu" panose="020B0504030602030204" pitchFamily="34" charset="0"/>
              </a:rPr>
              <a:t>•    A good test should be neither too simple nor too complex</a:t>
            </a:r>
          </a:p>
          <a:p>
            <a:pPr lvl="1"/>
            <a:r>
              <a:rPr lang="en-US" sz="2400" dirty="0">
                <a:latin typeface="Ubuntu" panose="020B0504030602030204" pitchFamily="34" charset="0"/>
              </a:rPr>
              <a:t>–   Each test should be executed separately; combining a series of tests could cause side effects and mask certain errors</a:t>
            </a:r>
          </a:p>
        </p:txBody>
      </p:sp>
    </p:spTree>
    <p:extLst>
      <p:ext uri="{BB962C8B-B14F-4D97-AF65-F5344CB8AC3E}">
        <p14:creationId xmlns:p14="http://schemas.microsoft.com/office/powerpoint/2010/main" val="2558498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CC58-683C-F0C9-E5F4-C9BBFE5A24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461837-ECC5-00CE-58DD-C4556C7C6DC6}"/>
              </a:ext>
            </a:extLst>
          </p:cNvPr>
          <p:cNvSpPr>
            <a:spLocks noGrp="1"/>
          </p:cNvSpPr>
          <p:nvPr>
            <p:ph type="title"/>
          </p:nvPr>
        </p:nvSpPr>
        <p:spPr>
          <a:xfrm>
            <a:off x="838200" y="365126"/>
            <a:ext cx="10515600" cy="749572"/>
          </a:xfrm>
        </p:spPr>
        <p:txBody>
          <a:bodyPr/>
          <a:lstStyle/>
          <a:p>
            <a:r>
              <a:rPr lang="en-US" sz="3600" dirty="0"/>
              <a:t>Test Case Design</a:t>
            </a:r>
          </a:p>
        </p:txBody>
      </p:sp>
      <p:sp>
        <p:nvSpPr>
          <p:cNvPr id="4" name="TextBox 3">
            <a:extLst>
              <a:ext uri="{FF2B5EF4-FFF2-40B4-BE49-F238E27FC236}">
                <a16:creationId xmlns:a16="http://schemas.microsoft.com/office/drawing/2014/main" id="{5DA89C31-D2C8-2BD6-DAE0-38B6C9DC01BD}"/>
              </a:ext>
            </a:extLst>
          </p:cNvPr>
          <p:cNvSpPr txBox="1"/>
          <p:nvPr/>
        </p:nvSpPr>
        <p:spPr>
          <a:xfrm>
            <a:off x="1509250" y="1228905"/>
            <a:ext cx="9620865" cy="830997"/>
          </a:xfrm>
          <a:prstGeom prst="rect">
            <a:avLst/>
          </a:prstGeom>
          <a:noFill/>
        </p:spPr>
        <p:txBody>
          <a:bodyPr wrap="square">
            <a:spAutoFit/>
          </a:bodyPr>
          <a:lstStyle/>
          <a:p>
            <a:r>
              <a:rPr lang="en-US" sz="2400" dirty="0">
                <a:latin typeface="Ubuntu" panose="020B0504030602030204" pitchFamily="34" charset="0"/>
              </a:rPr>
              <a:t>Bugs lurk in corners and congregate at boundaries.</a:t>
            </a:r>
          </a:p>
          <a:p>
            <a:r>
              <a:rPr lang="en-US" sz="2400" b="1" dirty="0">
                <a:latin typeface="Ubuntu" panose="020B0504030602030204" pitchFamily="34" charset="0"/>
              </a:rPr>
              <a:t>						- Boris Beizer</a:t>
            </a:r>
            <a:endParaRPr lang="en-US" sz="2400" dirty="0">
              <a:latin typeface="Ubuntu" panose="020B0504030602030204" pitchFamily="34" charset="0"/>
            </a:endParaRPr>
          </a:p>
        </p:txBody>
      </p:sp>
      <p:sp>
        <p:nvSpPr>
          <p:cNvPr id="7" name="TextBox 6">
            <a:extLst>
              <a:ext uri="{FF2B5EF4-FFF2-40B4-BE49-F238E27FC236}">
                <a16:creationId xmlns:a16="http://schemas.microsoft.com/office/drawing/2014/main" id="{3A0A5C5E-8FD8-4D70-9757-B4CA2E057528}"/>
              </a:ext>
            </a:extLst>
          </p:cNvPr>
          <p:cNvSpPr txBox="1"/>
          <p:nvPr/>
        </p:nvSpPr>
        <p:spPr>
          <a:xfrm>
            <a:off x="1509250" y="2489775"/>
            <a:ext cx="6858000" cy="2308324"/>
          </a:xfrm>
          <a:prstGeom prst="rect">
            <a:avLst/>
          </a:prstGeom>
          <a:noFill/>
        </p:spPr>
        <p:txBody>
          <a:bodyPr wrap="square">
            <a:spAutoFit/>
          </a:bodyPr>
          <a:lstStyle/>
          <a:p>
            <a:r>
              <a:rPr lang="en-US" sz="2400" b="1" dirty="0">
                <a:latin typeface="Ubuntu" panose="020B0504030602030204" pitchFamily="34" charset="0"/>
              </a:rPr>
              <a:t>OBJECTIVE</a:t>
            </a:r>
          </a:p>
          <a:p>
            <a:pPr lvl="1"/>
            <a:r>
              <a:rPr lang="en-US" sz="2400" dirty="0">
                <a:latin typeface="Ubuntu" panose="020B0504030602030204" pitchFamily="34" charset="0"/>
              </a:rPr>
              <a:t>to uncover errors</a:t>
            </a:r>
          </a:p>
          <a:p>
            <a:r>
              <a:rPr lang="en-US" sz="2400" b="1" dirty="0">
                <a:latin typeface="Ubuntu" panose="020B0504030602030204" pitchFamily="34" charset="0"/>
              </a:rPr>
              <a:t>CRITERIA</a:t>
            </a:r>
          </a:p>
          <a:p>
            <a:pPr lvl="1"/>
            <a:r>
              <a:rPr lang="en-US" sz="2400" dirty="0">
                <a:latin typeface="Ubuntu" panose="020B0504030602030204" pitchFamily="34" charset="0"/>
              </a:rPr>
              <a:t>in a complete manner</a:t>
            </a:r>
          </a:p>
          <a:p>
            <a:r>
              <a:rPr lang="en-US" sz="2400" b="1" dirty="0">
                <a:latin typeface="Ubuntu" panose="020B0504030602030204" pitchFamily="34" charset="0"/>
              </a:rPr>
              <a:t>CONSTRAINT</a:t>
            </a:r>
          </a:p>
          <a:p>
            <a:pPr lvl="1"/>
            <a:r>
              <a:rPr lang="en-US" sz="2400" dirty="0">
                <a:latin typeface="Ubuntu" panose="020B0504030602030204" pitchFamily="34" charset="0"/>
              </a:rPr>
              <a:t>with a minimum of effort and time</a:t>
            </a:r>
          </a:p>
        </p:txBody>
      </p:sp>
    </p:spTree>
    <p:extLst>
      <p:ext uri="{BB962C8B-B14F-4D97-AF65-F5344CB8AC3E}">
        <p14:creationId xmlns:p14="http://schemas.microsoft.com/office/powerpoint/2010/main" val="2478862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38010B-8E5F-0FBD-F628-2D4F23443E6B}"/>
              </a:ext>
            </a:extLst>
          </p:cNvPr>
          <p:cNvSpPr>
            <a:spLocks noGrp="1"/>
          </p:cNvSpPr>
          <p:nvPr>
            <p:ph type="title"/>
          </p:nvPr>
        </p:nvSpPr>
        <p:spPr>
          <a:xfrm>
            <a:off x="3561588" y="2766218"/>
            <a:ext cx="5068824" cy="1325563"/>
          </a:xfrm>
        </p:spPr>
        <p:txBody>
          <a:bodyPr/>
          <a:lstStyle/>
          <a:p>
            <a:r>
              <a:rPr lang="en-US" sz="7200" dirty="0"/>
              <a:t>Thank You</a:t>
            </a:r>
            <a:r>
              <a:rPr lang="en-US" sz="7200" dirty="0">
                <a:solidFill>
                  <a:schemeClr val="accent1"/>
                </a:solidFill>
              </a:rPr>
              <a:t>.</a:t>
            </a:r>
          </a:p>
        </p:txBody>
      </p:sp>
    </p:spTree>
    <p:extLst>
      <p:ext uri="{BB962C8B-B14F-4D97-AF65-F5344CB8AC3E}">
        <p14:creationId xmlns:p14="http://schemas.microsoft.com/office/powerpoint/2010/main" val="4049286891"/>
      </p:ext>
    </p:extLst>
  </p:cSld>
  <p:clrMapOvr>
    <a:masterClrMapping/>
  </p:clrMapOvr>
</p:sld>
</file>

<file path=ppt/theme/theme1.xml><?xml version="1.0" encoding="utf-8"?>
<a:theme xmlns:a="http://schemas.openxmlformats.org/drawingml/2006/main" name="Theme1-Updated">
  <a:themeElements>
    <a:clrScheme name="BizPlus">
      <a:dk1>
        <a:srgbClr val="000000"/>
      </a:dk1>
      <a:lt1>
        <a:srgbClr val="FFFFFF"/>
      </a:lt1>
      <a:dk2>
        <a:srgbClr val="2D3847"/>
      </a:dk2>
      <a:lt2>
        <a:srgbClr val="E7E6E6"/>
      </a:lt2>
      <a:accent1>
        <a:srgbClr val="7662CC"/>
      </a:accent1>
      <a:accent2>
        <a:srgbClr val="6650C4"/>
      </a:accent2>
      <a:accent3>
        <a:srgbClr val="FD91EE"/>
      </a:accent3>
      <a:accent4>
        <a:srgbClr val="F643C7"/>
      </a:accent4>
      <a:accent5>
        <a:srgbClr val="FEAF35"/>
      </a:accent5>
      <a:accent6>
        <a:srgbClr val="FE831F"/>
      </a:accent6>
      <a:hlink>
        <a:srgbClr val="0563C1"/>
      </a:hlink>
      <a:folHlink>
        <a:srgbClr val="954F72"/>
      </a:folHlink>
    </a:clrScheme>
    <a:fontScheme name="BizPlus.">
      <a:majorFont>
        <a:latin typeface="Ubuntu Medium"/>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Updated" id="{3BDBB22F-BE78-4146-B03C-602E262EDBC0}" vid="{B7E71798-8581-CA44-A2FA-411C43FEB2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67344F7CB21B42ADB20EDB9F6C8AC1" ma:contentTypeVersion="10" ma:contentTypeDescription="Create a new document." ma:contentTypeScope="" ma:versionID="b167741434965b6315d93d922a63feb9">
  <xsd:schema xmlns:xsd="http://www.w3.org/2001/XMLSchema" xmlns:xs="http://www.w3.org/2001/XMLSchema" xmlns:p="http://schemas.microsoft.com/office/2006/metadata/properties" xmlns:ns3="559bb786-4909-493b-8b10-8e2d04c5bb57" targetNamespace="http://schemas.microsoft.com/office/2006/metadata/properties" ma:root="true" ma:fieldsID="a8d3caccf0fa49af049f7f9a0ca8552a" ns3:_="">
    <xsd:import namespace="559bb786-4909-493b-8b10-8e2d04c5bb5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9bb786-4909-493b-8b10-8e2d04c5bb5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59bb786-4909-493b-8b10-8e2d04c5bb57" xsi:nil="true"/>
  </documentManagement>
</p:properties>
</file>

<file path=customXml/itemProps1.xml><?xml version="1.0" encoding="utf-8"?>
<ds:datastoreItem xmlns:ds="http://schemas.openxmlformats.org/officeDocument/2006/customXml" ds:itemID="{3FBE5867-4B08-4623-B1BD-4867CF020E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9bb786-4909-493b-8b10-8e2d04c5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2FB3CD-9140-4F79-8372-48D6A369FD95}">
  <ds:schemaRefs>
    <ds:schemaRef ds:uri="http://schemas.microsoft.com/sharepoint/v3/contenttype/forms"/>
  </ds:schemaRefs>
</ds:datastoreItem>
</file>

<file path=customXml/itemProps3.xml><?xml version="1.0" encoding="utf-8"?>
<ds:datastoreItem xmlns:ds="http://schemas.openxmlformats.org/officeDocument/2006/customXml" ds:itemID="{77F14930-81D2-4228-8099-261802AA0F36}">
  <ds:schemaRefs>
    <ds:schemaRef ds:uri="http://schemas.microsoft.com/office/2006/documentManagement/types"/>
    <ds:schemaRef ds:uri="http://purl.org/dc/terms/"/>
    <ds:schemaRef ds:uri="559bb786-4909-493b-8b10-8e2d04c5bb57"/>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Theme1-Updated</Template>
  <TotalTime>1593</TotalTime>
  <Words>6487</Words>
  <Application>Microsoft Office PowerPoint</Application>
  <PresentationFormat>Widescreen</PresentationFormat>
  <Paragraphs>748</Paragraphs>
  <Slides>47</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Aptos</vt:lpstr>
      <vt:lpstr>Aptos Display</vt:lpstr>
      <vt:lpstr>Arial</vt:lpstr>
      <vt:lpstr>Calibri</vt:lpstr>
      <vt:lpstr>Consolas</vt:lpstr>
      <vt:lpstr>Heebo</vt:lpstr>
      <vt:lpstr>Roboto Light</vt:lpstr>
      <vt:lpstr>Ubuntu</vt:lpstr>
      <vt:lpstr>Ubuntu Light</vt:lpstr>
      <vt:lpstr>Ubuntu Medium</vt:lpstr>
      <vt:lpstr>Wingdings</vt:lpstr>
      <vt:lpstr>Theme1-Updated</vt:lpstr>
      <vt:lpstr>Software Integration &amp; Maintenance</vt:lpstr>
      <vt:lpstr>Test Strategies for Conventional Software</vt:lpstr>
      <vt:lpstr>Unit Testing</vt:lpstr>
      <vt:lpstr>Unit Testing</vt:lpstr>
      <vt:lpstr>Targets for Unit Test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Unit Test Environment</vt:lpstr>
      <vt:lpstr>Drivers and Stubs for Unit Testing</vt:lpstr>
      <vt:lpstr>Integration Testing</vt:lpstr>
      <vt:lpstr>Integration Testing Strategies</vt:lpstr>
      <vt:lpstr>Incremental Integration Testing</vt:lpstr>
      <vt:lpstr>Top-down Integration</vt:lpstr>
      <vt:lpstr>Top-down Integration</vt:lpstr>
      <vt:lpstr>Bottom-up Integration</vt:lpstr>
      <vt:lpstr>Bottom-up Integration</vt:lpstr>
      <vt:lpstr>Sandwich Integration</vt:lpstr>
      <vt:lpstr>Sandwich Testing</vt:lpstr>
      <vt:lpstr>Regression Testing</vt:lpstr>
      <vt:lpstr>Smoke Testing</vt:lpstr>
      <vt:lpstr>Smoke Testing</vt:lpstr>
      <vt:lpstr>Benefits of Smoke Testing</vt:lpstr>
      <vt:lpstr>Test Strategies for Object-Oriented Software</vt:lpstr>
      <vt:lpstr>Test Strategies for Object-Oriented Software</vt:lpstr>
      <vt:lpstr>Test Strategies for Object-Oriented Software</vt:lpstr>
      <vt:lpstr>Alpha and Beta Testing</vt:lpstr>
      <vt:lpstr>Alpha and Beta Testing</vt:lpstr>
      <vt:lpstr>PowerPoint Presentation</vt:lpstr>
      <vt:lpstr>PowerPoint Presentation</vt:lpstr>
      <vt:lpstr>Characteristics of Testable Software</vt:lpstr>
      <vt:lpstr>Characteristics of Testable Software</vt:lpstr>
      <vt:lpstr>Test Characteristics</vt:lpstr>
      <vt:lpstr>Test Case Design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Abak Fahim</dc:creator>
  <cp:lastModifiedBy>Md Manirujjaman</cp:lastModifiedBy>
  <cp:revision>38</cp:revision>
  <dcterms:created xsi:type="dcterms:W3CDTF">2025-12-13T16:14:03Z</dcterms:created>
  <dcterms:modified xsi:type="dcterms:W3CDTF">2026-10-07T16:29:47Z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0x0101004367344F7CB21B42ADB20EDB9F6C8AC1</vt:lpwstr>
  </property>
</Properties>
</file>